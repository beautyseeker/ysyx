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68" r:id="rId4"/>
    <p:sldId id="269" r:id="rId5"/>
    <p:sldId id="273" r:id="rId6"/>
    <p:sldId id="270" r:id="rId7"/>
    <p:sldId id="267" r:id="rId8"/>
    <p:sldId id="266" r:id="rId9"/>
    <p:sldId id="265" r:id="rId10"/>
    <p:sldId id="271" r:id="rId11"/>
    <p:sldId id="272" r:id="rId12"/>
    <p:sldId id="278" r:id="rId13"/>
    <p:sldId id="259" r:id="rId14"/>
    <p:sldId id="274" r:id="rId15"/>
    <p:sldId id="275" r:id="rId16"/>
    <p:sldId id="276" r:id="rId17"/>
    <p:sldId id="277" r:id="rId18"/>
    <p:sldId id="279" r:id="rId19"/>
    <p:sldId id="281" r:id="rId20"/>
    <p:sldId id="280" r:id="rId21"/>
    <p:sldId id="260" r:id="rId22"/>
  </p:sldIdLst>
  <p:sldSz cx="12192000" cy="6858000"/>
  <p:notesSz cx="6858000" cy="9144000"/>
  <p:custDataLst>
    <p:tags r:id="rId24"/>
  </p:custDataLst>
  <p:defaultTex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295" autoAdjust="0"/>
  </p:normalViewPr>
  <p:slideViewPr>
    <p:cSldViewPr snapToGrid="0">
      <p:cViewPr varScale="1">
        <p:scale>
          <a:sx n="93" d="100"/>
          <a:sy n="93" d="100"/>
        </p:scale>
        <p:origin x="1028" y="60"/>
      </p:cViewPr>
      <p:guideLst>
        <p:guide pos="3840"/>
        <p:guide orient="horz" pos="216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579492046" name="页眉占位符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atin typeface="微软雅黑"/>
                <a:ea typeface="微软雅黑"/>
              </a:defRPr>
            </a:lvl1pPr>
          </a:lstStyle>
          <a:p>
            <a:pPr>
              <a:defRPr/>
            </a:pPr>
            <a:endParaRPr lang="zh-CN"/>
          </a:p>
        </p:txBody>
      </p:sp>
      <p:sp>
        <p:nvSpPr>
          <p:cNvPr id="1097142764" name="日期占位符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atin typeface="微软雅黑"/>
                <a:ea typeface="微软雅黑"/>
              </a:defRPr>
            </a:lvl1pPr>
          </a:lstStyle>
          <a:p>
            <a:pPr>
              <a:defRPr/>
            </a:pPr>
            <a:fld id="{7B469C68-B96B-4B00-A936-4ED691395EEA}" type="datetimeFigureOut">
              <a:rPr lang="en-US" altLang="zh-CN"/>
              <a:t>6/12/2026</a:t>
            </a:fld>
            <a:endParaRPr lang="zh-CN"/>
          </a:p>
        </p:txBody>
      </p:sp>
      <p:sp>
        <p:nvSpPr>
          <p:cNvPr id="1851202082" name="幻灯片图像占位符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zh-CN"/>
          </a:p>
        </p:txBody>
      </p:sp>
      <p:sp>
        <p:nvSpPr>
          <p:cNvPr id="448793577" name="备注占位符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zh-CN"/>
              <a:t>单击此处编辑母版文本样式</a:t>
            </a:r>
          </a:p>
          <a:p>
            <a:pPr lvl="1">
              <a:defRPr/>
            </a:pPr>
            <a:r>
              <a:rPr lang="zh-CN"/>
              <a:t>二级</a:t>
            </a:r>
          </a:p>
          <a:p>
            <a:pPr lvl="2">
              <a:defRPr/>
            </a:pPr>
            <a:r>
              <a:rPr lang="zh-CN"/>
              <a:t>三级</a:t>
            </a:r>
          </a:p>
          <a:p>
            <a:pPr lvl="3">
              <a:defRPr/>
            </a:pPr>
            <a:r>
              <a:rPr lang="zh-CN"/>
              <a:t>四级</a:t>
            </a:r>
          </a:p>
          <a:p>
            <a:pPr lvl="4">
              <a:defRPr/>
            </a:pPr>
            <a:r>
              <a:rPr lang="zh-CN"/>
              <a:t>五级</a:t>
            </a:r>
          </a:p>
        </p:txBody>
      </p:sp>
      <p:sp>
        <p:nvSpPr>
          <p:cNvPr id="2089488668" name="页脚占位符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atin typeface="微软雅黑"/>
                <a:ea typeface="微软雅黑"/>
              </a:defRPr>
            </a:lvl1pPr>
          </a:lstStyle>
          <a:p>
            <a:pPr>
              <a:defRPr/>
            </a:pPr>
            <a:endParaRPr lang="zh-CN"/>
          </a:p>
        </p:txBody>
      </p:sp>
      <p:sp>
        <p:nvSpPr>
          <p:cNvPr id="2014914970" name="灯片编号占位符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atin typeface="微软雅黑"/>
                <a:ea typeface="微软雅黑"/>
              </a:defRPr>
            </a:lvl1pPr>
          </a:lstStyle>
          <a:p>
            <a:pPr>
              <a:defRPr/>
            </a:pPr>
            <a:fld id="{78957953-4CC8-4E4A-AD2D-7A5A0B36E814}" type="slidenum">
              <a:rPr lang="en-US" altLang="zh-CN"/>
              <a:t>‹#›</a:t>
            </a:fld>
            <a:endParaRPr lang="zh-CN"/>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微软雅黑"/>
        <a:ea typeface="微软雅黑"/>
        <a:cs typeface="+mn-cs"/>
      </a:defRPr>
    </a:lvl1pPr>
    <a:lvl2pPr marL="457200" algn="l" defTabSz="914400" rtl="0">
      <a:defRPr sz="1200">
        <a:solidFill>
          <a:schemeClr val="tx1"/>
        </a:solidFill>
        <a:latin typeface="微软雅黑"/>
        <a:ea typeface="微软雅黑"/>
        <a:cs typeface="+mn-cs"/>
      </a:defRPr>
    </a:lvl2pPr>
    <a:lvl3pPr marL="914400" algn="l" defTabSz="914400" rtl="0">
      <a:defRPr sz="1200">
        <a:solidFill>
          <a:schemeClr val="tx1"/>
        </a:solidFill>
        <a:latin typeface="微软雅黑"/>
        <a:ea typeface="微软雅黑"/>
        <a:cs typeface="+mn-cs"/>
      </a:defRPr>
    </a:lvl3pPr>
    <a:lvl4pPr marL="1371600" algn="l" defTabSz="914400" rtl="0">
      <a:defRPr sz="1200">
        <a:solidFill>
          <a:schemeClr val="tx1"/>
        </a:solidFill>
        <a:latin typeface="微软雅黑"/>
        <a:ea typeface="微软雅黑"/>
        <a:cs typeface="+mn-cs"/>
      </a:defRPr>
    </a:lvl4pPr>
    <a:lvl5pPr marL="1828800" algn="l" defTabSz="914400" rtl="0">
      <a:defRPr sz="1200">
        <a:solidFill>
          <a:schemeClr val="tx1"/>
        </a:solidFill>
        <a:latin typeface="微软雅黑"/>
        <a:ea typeface="微软雅黑"/>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47115650" name="幻灯片图像占位符 1"/>
          <p:cNvSpPr>
            <a:spLocks noGrp="1" noRot="1" noChangeAspect="1"/>
          </p:cNvSpPr>
          <p:nvPr>
            <p:ph type="sldImg"/>
          </p:nvPr>
        </p:nvSpPr>
        <p:spPr bwMode="auto"/>
      </p:sp>
      <p:sp>
        <p:nvSpPr>
          <p:cNvPr id="315358404" name="备注占位符 2"/>
          <p:cNvSpPr>
            <a:spLocks noGrp="1"/>
          </p:cNvSpPr>
          <p:nvPr>
            <p:ph type="body" idx="1"/>
          </p:nvPr>
        </p:nvSpPr>
        <p:spPr bwMode="auto"/>
        <p:txBody>
          <a:bodyPr/>
          <a:lstStyle/>
          <a:p>
            <a:pPr>
              <a:defRPr/>
            </a:pPr>
            <a:endParaRPr lang="en-US" dirty="0"/>
          </a:p>
        </p:txBody>
      </p:sp>
      <p:sp>
        <p:nvSpPr>
          <p:cNvPr id="156866110" name="灯片编号占位符 3"/>
          <p:cNvSpPr>
            <a:spLocks noGrp="1"/>
          </p:cNvSpPr>
          <p:nvPr>
            <p:ph type="sldNum" sz="quarter" idx="5"/>
          </p:nvPr>
        </p:nvSpPr>
        <p:spPr bwMode="auto"/>
        <p:txBody>
          <a:bodyPr/>
          <a:lstStyle/>
          <a:p>
            <a:pPr>
              <a:defRPr/>
            </a:pPr>
            <a:fld id="{78957953-4CC8-4E4A-AD2D-7A5A0B36E814}" type="slidenum">
              <a:rPr lang="en-US" altLang="zh-CN"/>
              <a:t>1</a:t>
            </a:fld>
            <a:endParaRPr 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19553586" name="幻灯片图像占位符 1"/>
          <p:cNvSpPr>
            <a:spLocks noGrp="1" noRot="1" noChangeAspect="1"/>
          </p:cNvSpPr>
          <p:nvPr>
            <p:ph type="sldImg" idx="2"/>
          </p:nvPr>
        </p:nvSpPr>
        <p:spPr bwMode="auto"/>
      </p:sp>
      <p:sp>
        <p:nvSpPr>
          <p:cNvPr id="71517803" name="文本占位符 2"/>
          <p:cNvSpPr>
            <a:spLocks noGrp="1"/>
          </p:cNvSpPr>
          <p:nvPr>
            <p:ph type="body" idx="3"/>
          </p:nvPr>
        </p:nvSpPr>
        <p:spPr bwMode="auto"/>
        <p:txBody>
          <a:bodyPr/>
          <a:lstStyle/>
          <a:p>
            <a:pPr>
              <a:defRPr/>
            </a:pPr>
            <a:r>
              <a:rPr lang="zh-CN" altLang="en-US" dirty="0"/>
              <a:t>除了完成</a:t>
            </a:r>
            <a:r>
              <a:rPr lang="en-US" altLang="zh-CN" dirty="0"/>
              <a:t>C</a:t>
            </a:r>
            <a:r>
              <a:rPr lang="zh-CN" altLang="en-US" dirty="0"/>
              <a:t>阶段要求的</a:t>
            </a:r>
            <a:r>
              <a:rPr lang="en-US" altLang="zh-CN" dirty="0"/>
              <a:t>NEMU/NPC</a:t>
            </a:r>
            <a:r>
              <a:rPr lang="zh-CN" altLang="en-US" dirty="0"/>
              <a:t>跑通</a:t>
            </a:r>
            <a:r>
              <a:rPr lang="en-US" altLang="zh-CN" dirty="0"/>
              <a:t>RT-thread</a:t>
            </a:r>
            <a:r>
              <a:rPr lang="zh-CN" altLang="en-US" dirty="0"/>
              <a:t>之外，还额外完成了</a:t>
            </a:r>
            <a:r>
              <a:rPr lang="en-US" altLang="zh-CN" dirty="0"/>
              <a:t>PA3</a:t>
            </a:r>
            <a:r>
              <a:rPr lang="zh-CN" altLang="en-US" dirty="0"/>
              <a:t>和</a:t>
            </a:r>
            <a:r>
              <a:rPr lang="en-US" altLang="zh-CN" dirty="0"/>
              <a:t>PA4</a:t>
            </a:r>
            <a:r>
              <a:rPr lang="zh-CN" altLang="en-US" dirty="0"/>
              <a:t>的内容，主要工作是</a:t>
            </a:r>
            <a:r>
              <a:rPr lang="en-US" altLang="zh-CN" dirty="0"/>
              <a:t>Nanos</a:t>
            </a:r>
            <a:r>
              <a:rPr lang="zh-CN" altLang="en-US" dirty="0"/>
              <a:t>系统内核和</a:t>
            </a:r>
            <a:r>
              <a:rPr lang="en-US" altLang="zh-CN" dirty="0"/>
              <a:t>Navy</a:t>
            </a:r>
            <a:r>
              <a:rPr lang="zh-CN" altLang="en-US" dirty="0"/>
              <a:t>系统框架的实现，</a:t>
            </a:r>
            <a:r>
              <a:rPr lang="en-US" altLang="zh-CN" dirty="0"/>
              <a:t>PA4</a:t>
            </a:r>
            <a:r>
              <a:rPr lang="zh-CN" altLang="en-US" dirty="0"/>
              <a:t>分时多任务的虚拟内存实现部分因为没调通回退了，</a:t>
            </a:r>
            <a:endParaRPr lang="en-US" altLang="zh-CN" dirty="0"/>
          </a:p>
          <a:p>
            <a:pPr>
              <a:defRPr/>
            </a:pPr>
            <a:r>
              <a:rPr lang="zh-CN" altLang="en-US" dirty="0"/>
              <a:t>这张图算是我自学一生一芯以来的系统梳理总结</a:t>
            </a:r>
            <a:endParaRPr 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52E84-68E0-E77C-B28E-B212A77E0297}"/>
            </a:ext>
          </a:extLst>
        </p:cNvPr>
        <p:cNvGrpSpPr/>
        <p:nvPr/>
      </p:nvGrpSpPr>
      <p:grpSpPr bwMode="auto">
        <a:xfrm>
          <a:off x="0" y="0"/>
          <a:ext cx="0" cy="0"/>
          <a:chOff x="0" y="0"/>
          <a:chExt cx="0" cy="0"/>
        </a:xfrm>
      </p:grpSpPr>
      <p:sp>
        <p:nvSpPr>
          <p:cNvPr id="1978282713" name="幻灯片图像占位符 1">
            <a:extLst>
              <a:ext uri="{FF2B5EF4-FFF2-40B4-BE49-F238E27FC236}">
                <a16:creationId xmlns:a16="http://schemas.microsoft.com/office/drawing/2014/main" id="{6DF1CFE4-350D-43A3-0DD7-0A7343B47903}"/>
              </a:ext>
            </a:extLst>
          </p:cNvPr>
          <p:cNvSpPr>
            <a:spLocks noGrp="1" noRot="1" noChangeAspect="1"/>
          </p:cNvSpPr>
          <p:nvPr>
            <p:ph type="sldImg" idx="2"/>
          </p:nvPr>
        </p:nvSpPr>
        <p:spPr bwMode="auto"/>
      </p:sp>
      <p:sp>
        <p:nvSpPr>
          <p:cNvPr id="1685365130" name="文本占位符 2">
            <a:extLst>
              <a:ext uri="{FF2B5EF4-FFF2-40B4-BE49-F238E27FC236}">
                <a16:creationId xmlns:a16="http://schemas.microsoft.com/office/drawing/2014/main" id="{77CD2760-2BFB-E1B9-CF4F-CF7BBED354EF}"/>
              </a:ext>
            </a:extLst>
          </p:cNvPr>
          <p:cNvSpPr>
            <a:spLocks noGrp="1"/>
          </p:cNvSpPr>
          <p:nvPr>
            <p:ph type="body" idx="3"/>
          </p:nvPr>
        </p:nvSpPr>
        <p:spPr bwMode="auto"/>
        <p:txBody>
          <a:bodyPr/>
          <a:lstStyle/>
          <a:p>
            <a:pPr>
              <a:defRPr/>
            </a:pPr>
            <a:r>
              <a:rPr lang="zh-CN" altLang="en-US" dirty="0"/>
              <a:t>从中间最核心的</a:t>
            </a:r>
            <a:r>
              <a:rPr lang="en-US" altLang="zh-CN" dirty="0"/>
              <a:t>AM</a:t>
            </a:r>
            <a:r>
              <a:rPr lang="zh-CN" altLang="en-US" dirty="0"/>
              <a:t>层开始，它上承软件调用，下启硬件实现。</a:t>
            </a:r>
            <a:endParaRPr lang="en-US" altLang="zh-CN" dirty="0"/>
          </a:p>
          <a:p>
            <a:pPr>
              <a:defRPr/>
            </a:pPr>
            <a:r>
              <a:rPr lang="en-US" altLang="zh-CN" dirty="0"/>
              <a:t>AM</a:t>
            </a:r>
            <a:r>
              <a:rPr lang="zh-CN" altLang="en-US" dirty="0"/>
              <a:t>是</a:t>
            </a:r>
            <a:r>
              <a:rPr lang="en-US" altLang="zh-CN" dirty="0"/>
              <a:t>PA</a:t>
            </a:r>
            <a:r>
              <a:rPr lang="zh-CN" altLang="en-US" dirty="0"/>
              <a:t>课程的核心，概括起来有三大组成部分</a:t>
            </a:r>
            <a:endParaRPr lang="en-US" altLang="zh-CN" dirty="0"/>
          </a:p>
          <a:p>
            <a:pPr marL="228600" indent="-228600">
              <a:buAutoNum type="arabicPeriod"/>
              <a:defRPr/>
            </a:pPr>
            <a:r>
              <a:rPr lang="zh-CN" altLang="en-US" dirty="0"/>
              <a:t>硬件抽象</a:t>
            </a:r>
            <a:r>
              <a:rPr lang="en-US" altLang="zh-CN" dirty="0"/>
              <a:t>(</a:t>
            </a:r>
            <a:r>
              <a:rPr lang="en-US" altLang="zh-CN" dirty="0" err="1"/>
              <a:t>trm.c</a:t>
            </a:r>
            <a:r>
              <a:rPr lang="en-US" altLang="zh-CN" dirty="0"/>
              <a:t>, </a:t>
            </a:r>
            <a:r>
              <a:rPr lang="en-US" altLang="zh-CN" dirty="0" err="1"/>
              <a:t>ioe</a:t>
            </a:r>
            <a:r>
              <a:rPr lang="en-US" altLang="zh-CN" dirty="0"/>
              <a:t>, </a:t>
            </a:r>
            <a:r>
              <a:rPr lang="en-US" altLang="zh-CN" dirty="0" err="1"/>
              <a:t>cte</a:t>
            </a:r>
            <a:r>
              <a:rPr lang="en-US" altLang="zh-CN" dirty="0"/>
              <a:t>, </a:t>
            </a:r>
            <a:r>
              <a:rPr lang="en-US" altLang="zh-CN" dirty="0" err="1"/>
              <a:t>vme</a:t>
            </a:r>
            <a:r>
              <a:rPr lang="en-US" altLang="zh-CN" dirty="0"/>
              <a:t>)</a:t>
            </a:r>
          </a:p>
          <a:p>
            <a:pPr marL="228600" indent="-228600">
              <a:buAutoNum type="arabicPeriod"/>
              <a:defRPr/>
            </a:pPr>
            <a:r>
              <a:rPr lang="en-US" altLang="zh-CN" dirty="0"/>
              <a:t>C</a:t>
            </a:r>
            <a:r>
              <a:rPr lang="zh-CN" altLang="en-US" dirty="0"/>
              <a:t>程序跨平台编译链接</a:t>
            </a:r>
            <a:r>
              <a:rPr lang="en-US" altLang="zh-CN" dirty="0"/>
              <a:t>(</a:t>
            </a:r>
            <a:r>
              <a:rPr lang="en-US" altLang="zh-CN" dirty="0" err="1"/>
              <a:t>klib</a:t>
            </a:r>
            <a:r>
              <a:rPr lang="en-US" altLang="zh-CN" dirty="0"/>
              <a:t>, </a:t>
            </a:r>
            <a:r>
              <a:rPr lang="en-US" altLang="zh-CN" dirty="0" err="1"/>
              <a:t>am.h</a:t>
            </a:r>
            <a:r>
              <a:rPr lang="en-US" altLang="zh-CN" dirty="0"/>
              <a:t>,</a:t>
            </a:r>
            <a:r>
              <a:rPr lang="zh-CN" altLang="en-US" dirty="0"/>
              <a:t> </a:t>
            </a:r>
            <a:r>
              <a:rPr lang="en-US" altLang="zh-CN" dirty="0"/>
              <a:t>scripts)</a:t>
            </a:r>
          </a:p>
          <a:p>
            <a:pPr marL="228600" indent="-228600">
              <a:buAutoNum type="arabicPeriod"/>
              <a:defRPr/>
            </a:pPr>
            <a:r>
              <a:rPr lang="zh-CN" altLang="en-US" dirty="0"/>
              <a:t>最小运行环境支持</a:t>
            </a:r>
            <a:r>
              <a:rPr lang="en-US" altLang="zh-CN" dirty="0"/>
              <a:t>(</a:t>
            </a:r>
            <a:r>
              <a:rPr lang="en-US" altLang="zh-CN" dirty="0" err="1"/>
              <a:t>start.S,trap.S</a:t>
            </a:r>
            <a:r>
              <a:rPr lang="en-US" altLang="zh-CN" dirty="0"/>
              <a:t>)</a:t>
            </a:r>
            <a:endParaRPr lang="zh-CN" dirty="0"/>
          </a:p>
        </p:txBody>
      </p:sp>
    </p:spTree>
    <p:extLst>
      <p:ext uri="{BB962C8B-B14F-4D97-AF65-F5344CB8AC3E}">
        <p14:creationId xmlns:p14="http://schemas.microsoft.com/office/powerpoint/2010/main" val="722765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59B46-5BF6-F015-5DF7-4A125593EBC6}"/>
            </a:ext>
          </a:extLst>
        </p:cNvPr>
        <p:cNvGrpSpPr/>
        <p:nvPr/>
      </p:nvGrpSpPr>
      <p:grpSpPr bwMode="auto">
        <a:xfrm>
          <a:off x="0" y="0"/>
          <a:ext cx="0" cy="0"/>
          <a:chOff x="0" y="0"/>
          <a:chExt cx="0" cy="0"/>
        </a:xfrm>
      </p:grpSpPr>
      <p:sp>
        <p:nvSpPr>
          <p:cNvPr id="1978282713" name="幻灯片图像占位符 1">
            <a:extLst>
              <a:ext uri="{FF2B5EF4-FFF2-40B4-BE49-F238E27FC236}">
                <a16:creationId xmlns:a16="http://schemas.microsoft.com/office/drawing/2014/main" id="{920F2E3D-A110-83EA-096E-38D63A9F8705}"/>
              </a:ext>
            </a:extLst>
          </p:cNvPr>
          <p:cNvSpPr>
            <a:spLocks noGrp="1" noRot="1" noChangeAspect="1"/>
          </p:cNvSpPr>
          <p:nvPr>
            <p:ph type="sldImg" idx="2"/>
          </p:nvPr>
        </p:nvSpPr>
        <p:spPr bwMode="auto"/>
      </p:sp>
      <p:sp>
        <p:nvSpPr>
          <p:cNvPr id="1685365130" name="文本占位符 2">
            <a:extLst>
              <a:ext uri="{FF2B5EF4-FFF2-40B4-BE49-F238E27FC236}">
                <a16:creationId xmlns:a16="http://schemas.microsoft.com/office/drawing/2014/main" id="{3505B3C0-68C1-033F-FC1F-3F7DA4108657}"/>
              </a:ext>
            </a:extLst>
          </p:cNvPr>
          <p:cNvSpPr>
            <a:spLocks noGrp="1"/>
          </p:cNvSpPr>
          <p:nvPr>
            <p:ph type="body" idx="3"/>
          </p:nvPr>
        </p:nvSpPr>
        <p:spPr bwMode="auto"/>
        <p:txBody>
          <a:bodyPr/>
          <a:lstStyle/>
          <a:p>
            <a:pPr>
              <a:defRPr/>
            </a:pPr>
            <a:r>
              <a:rPr lang="en-US" altLang="zh-CN" dirty="0"/>
              <a:t>NEMU</a:t>
            </a:r>
            <a:r>
              <a:rPr lang="zh-CN" altLang="en-US" dirty="0"/>
              <a:t>本质就是一个宿主机程序，不过这个程序就是常说的虚拟机，它通过宿主机的软硬件资源模拟各个</a:t>
            </a:r>
            <a:r>
              <a:rPr lang="en-US" altLang="zh-CN" dirty="0"/>
              <a:t>ISA</a:t>
            </a:r>
            <a:r>
              <a:rPr lang="zh-CN" altLang="en-US" dirty="0"/>
              <a:t>平台下硬件资源</a:t>
            </a:r>
            <a:endParaRPr lang="en-US" altLang="zh-CN" dirty="0"/>
          </a:p>
          <a:p>
            <a:pPr>
              <a:defRPr/>
            </a:pPr>
            <a:r>
              <a:rPr lang="zh-CN" altLang="en-US" dirty="0"/>
              <a:t>并抽象出</a:t>
            </a:r>
            <a:r>
              <a:rPr lang="en-US" altLang="zh-CN" dirty="0"/>
              <a:t>ISA</a:t>
            </a:r>
            <a:r>
              <a:rPr lang="zh-CN" altLang="en-US" dirty="0"/>
              <a:t>无关的</a:t>
            </a:r>
            <a:r>
              <a:rPr lang="en-US" altLang="zh-CN" dirty="0"/>
              <a:t>CPU</a:t>
            </a:r>
            <a:r>
              <a:rPr lang="zh-CN" altLang="en-US" dirty="0"/>
              <a:t>状态，对其状态进行各种监视</a:t>
            </a:r>
            <a:r>
              <a:rPr lang="en-US" altLang="zh-CN" dirty="0"/>
              <a:t>trace</a:t>
            </a:r>
            <a:endParaRPr lang="zh-CN" dirty="0"/>
          </a:p>
        </p:txBody>
      </p:sp>
    </p:spTree>
    <p:extLst>
      <p:ext uri="{BB962C8B-B14F-4D97-AF65-F5344CB8AC3E}">
        <p14:creationId xmlns:p14="http://schemas.microsoft.com/office/powerpoint/2010/main" val="2071786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FD6AE-933C-9B13-D501-92E06250C571}"/>
            </a:ext>
          </a:extLst>
        </p:cNvPr>
        <p:cNvGrpSpPr/>
        <p:nvPr/>
      </p:nvGrpSpPr>
      <p:grpSpPr bwMode="auto">
        <a:xfrm>
          <a:off x="0" y="0"/>
          <a:ext cx="0" cy="0"/>
          <a:chOff x="0" y="0"/>
          <a:chExt cx="0" cy="0"/>
        </a:xfrm>
      </p:grpSpPr>
      <p:sp>
        <p:nvSpPr>
          <p:cNvPr id="1978282713" name="幻灯片图像占位符 1">
            <a:extLst>
              <a:ext uri="{FF2B5EF4-FFF2-40B4-BE49-F238E27FC236}">
                <a16:creationId xmlns:a16="http://schemas.microsoft.com/office/drawing/2014/main" id="{3257AD92-B08F-2677-0B9B-D97C72BA196A}"/>
              </a:ext>
            </a:extLst>
          </p:cNvPr>
          <p:cNvSpPr>
            <a:spLocks noGrp="1" noRot="1" noChangeAspect="1"/>
          </p:cNvSpPr>
          <p:nvPr>
            <p:ph type="sldImg" idx="2"/>
          </p:nvPr>
        </p:nvSpPr>
        <p:spPr bwMode="auto"/>
      </p:sp>
      <p:sp>
        <p:nvSpPr>
          <p:cNvPr id="1685365130" name="文本占位符 2">
            <a:extLst>
              <a:ext uri="{FF2B5EF4-FFF2-40B4-BE49-F238E27FC236}">
                <a16:creationId xmlns:a16="http://schemas.microsoft.com/office/drawing/2014/main" id="{A8939A4C-DBF4-1D8E-5063-F5997D2298C7}"/>
              </a:ext>
            </a:extLst>
          </p:cNvPr>
          <p:cNvSpPr>
            <a:spLocks noGrp="1"/>
          </p:cNvSpPr>
          <p:nvPr>
            <p:ph type="body" idx="3"/>
          </p:nvPr>
        </p:nvSpPr>
        <p:spPr bwMode="auto"/>
        <p:txBody>
          <a:bodyPr/>
          <a:lstStyle/>
          <a:p>
            <a:pPr>
              <a:defRPr/>
            </a:pPr>
            <a:r>
              <a:rPr lang="en-US" altLang="zh-CN" dirty="0"/>
              <a:t>AM</a:t>
            </a:r>
            <a:r>
              <a:rPr lang="zh-CN" altLang="en-US" dirty="0"/>
              <a:t>程序就是直接运行在</a:t>
            </a:r>
            <a:r>
              <a:rPr lang="en-US" altLang="zh-CN" dirty="0"/>
              <a:t>AM</a:t>
            </a:r>
            <a:r>
              <a:rPr lang="zh-CN" altLang="en-US" dirty="0"/>
              <a:t>层上的裸机程序</a:t>
            </a:r>
            <a:r>
              <a:rPr lang="en-US" altLang="zh-CN" dirty="0"/>
              <a:t>(</a:t>
            </a:r>
            <a:r>
              <a:rPr lang="zh-CN" altLang="en-US" dirty="0"/>
              <a:t>严格来说是半裸机</a:t>
            </a:r>
            <a:r>
              <a:rPr lang="en-US" altLang="zh-CN" dirty="0"/>
              <a:t>)</a:t>
            </a:r>
          </a:p>
          <a:p>
            <a:pPr>
              <a:defRPr/>
            </a:pPr>
            <a:r>
              <a:rPr lang="en-US" altLang="zh-CN" dirty="0"/>
              <a:t>Alu-test, </a:t>
            </a:r>
            <a:r>
              <a:rPr lang="en-US" altLang="zh-CN" dirty="0" err="1"/>
              <a:t>cpu</a:t>
            </a:r>
            <a:r>
              <a:rPr lang="en-US" altLang="zh-CN" dirty="0"/>
              <a:t>-test, am-test</a:t>
            </a:r>
          </a:p>
          <a:p>
            <a:pPr>
              <a:defRPr/>
            </a:pPr>
            <a:r>
              <a:rPr lang="en-US" altLang="zh-CN" dirty="0"/>
              <a:t>Am-kernels</a:t>
            </a:r>
          </a:p>
          <a:p>
            <a:pPr>
              <a:defRPr/>
            </a:pPr>
            <a:r>
              <a:rPr lang="en-US" altLang="zh-CN" dirty="0"/>
              <a:t>benchmark</a:t>
            </a:r>
            <a:endParaRPr lang="zh-CN" dirty="0"/>
          </a:p>
        </p:txBody>
      </p:sp>
    </p:spTree>
    <p:extLst>
      <p:ext uri="{BB962C8B-B14F-4D97-AF65-F5344CB8AC3E}">
        <p14:creationId xmlns:p14="http://schemas.microsoft.com/office/powerpoint/2010/main" val="1442871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7516-0F4C-BE63-58C5-6401C5D77434}"/>
            </a:ext>
          </a:extLst>
        </p:cNvPr>
        <p:cNvGrpSpPr/>
        <p:nvPr/>
      </p:nvGrpSpPr>
      <p:grpSpPr bwMode="auto">
        <a:xfrm>
          <a:off x="0" y="0"/>
          <a:ext cx="0" cy="0"/>
          <a:chOff x="0" y="0"/>
          <a:chExt cx="0" cy="0"/>
        </a:xfrm>
      </p:grpSpPr>
      <p:sp>
        <p:nvSpPr>
          <p:cNvPr id="1978282713" name="幻灯片图像占位符 1">
            <a:extLst>
              <a:ext uri="{FF2B5EF4-FFF2-40B4-BE49-F238E27FC236}">
                <a16:creationId xmlns:a16="http://schemas.microsoft.com/office/drawing/2014/main" id="{5FAEA41A-D40B-6A59-E2B1-AECAC46FDD05}"/>
              </a:ext>
            </a:extLst>
          </p:cNvPr>
          <p:cNvSpPr>
            <a:spLocks noGrp="1" noRot="1" noChangeAspect="1"/>
          </p:cNvSpPr>
          <p:nvPr>
            <p:ph type="sldImg" idx="2"/>
          </p:nvPr>
        </p:nvSpPr>
        <p:spPr bwMode="auto"/>
      </p:sp>
      <p:sp>
        <p:nvSpPr>
          <p:cNvPr id="1685365130" name="文本占位符 2">
            <a:extLst>
              <a:ext uri="{FF2B5EF4-FFF2-40B4-BE49-F238E27FC236}">
                <a16:creationId xmlns:a16="http://schemas.microsoft.com/office/drawing/2014/main" id="{1E5C8309-61CB-4222-F349-DA31274B2160}"/>
              </a:ext>
            </a:extLst>
          </p:cNvPr>
          <p:cNvSpPr>
            <a:spLocks noGrp="1"/>
          </p:cNvSpPr>
          <p:nvPr>
            <p:ph type="body" idx="3"/>
          </p:nvPr>
        </p:nvSpPr>
        <p:spPr bwMode="auto"/>
        <p:txBody>
          <a:bodyPr/>
          <a:lstStyle/>
          <a:p>
            <a:pPr>
              <a:defRPr/>
            </a:pPr>
            <a:r>
              <a:rPr lang="en-US" altLang="zh-CN" dirty="0"/>
              <a:t>NPC</a:t>
            </a:r>
            <a:r>
              <a:rPr lang="zh-CN" altLang="en-US" dirty="0"/>
              <a:t>主要负责</a:t>
            </a:r>
            <a:r>
              <a:rPr lang="en-US" altLang="zh-CN" dirty="0"/>
              <a:t>RTL</a:t>
            </a:r>
            <a:r>
              <a:rPr lang="zh-CN" altLang="en-US" dirty="0"/>
              <a:t>设计的行为仿真验证</a:t>
            </a:r>
            <a:endParaRPr lang="zh-CN" dirty="0"/>
          </a:p>
        </p:txBody>
      </p:sp>
    </p:spTree>
    <p:extLst>
      <p:ext uri="{BB962C8B-B14F-4D97-AF65-F5344CB8AC3E}">
        <p14:creationId xmlns:p14="http://schemas.microsoft.com/office/powerpoint/2010/main" val="3106759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895BE-1022-031E-554E-C378FE85C0C7}"/>
            </a:ext>
          </a:extLst>
        </p:cNvPr>
        <p:cNvGrpSpPr/>
        <p:nvPr/>
      </p:nvGrpSpPr>
      <p:grpSpPr bwMode="auto">
        <a:xfrm>
          <a:off x="0" y="0"/>
          <a:ext cx="0" cy="0"/>
          <a:chOff x="0" y="0"/>
          <a:chExt cx="0" cy="0"/>
        </a:xfrm>
      </p:grpSpPr>
      <p:sp>
        <p:nvSpPr>
          <p:cNvPr id="1978282713" name="幻灯片图像占位符 1">
            <a:extLst>
              <a:ext uri="{FF2B5EF4-FFF2-40B4-BE49-F238E27FC236}">
                <a16:creationId xmlns:a16="http://schemas.microsoft.com/office/drawing/2014/main" id="{95AB0D11-3AB0-74F1-ED0E-15B8E9566144}"/>
              </a:ext>
            </a:extLst>
          </p:cNvPr>
          <p:cNvSpPr>
            <a:spLocks noGrp="1" noRot="1" noChangeAspect="1"/>
          </p:cNvSpPr>
          <p:nvPr>
            <p:ph type="sldImg" idx="2"/>
          </p:nvPr>
        </p:nvSpPr>
        <p:spPr bwMode="auto"/>
      </p:sp>
      <p:sp>
        <p:nvSpPr>
          <p:cNvPr id="1685365130" name="文本占位符 2">
            <a:extLst>
              <a:ext uri="{FF2B5EF4-FFF2-40B4-BE49-F238E27FC236}">
                <a16:creationId xmlns:a16="http://schemas.microsoft.com/office/drawing/2014/main" id="{544E5F55-8792-ACCC-C034-2E83712834D3}"/>
              </a:ext>
            </a:extLst>
          </p:cNvPr>
          <p:cNvSpPr>
            <a:spLocks noGrp="1"/>
          </p:cNvSpPr>
          <p:nvPr>
            <p:ph type="body" idx="3"/>
          </p:nvPr>
        </p:nvSpPr>
        <p:spPr bwMode="auto"/>
        <p:txBody>
          <a:bodyPr/>
          <a:lstStyle/>
          <a:p>
            <a:pPr>
              <a:defRPr/>
            </a:pPr>
            <a:r>
              <a:rPr lang="en-US" altLang="zh-CN" dirty="0"/>
              <a:t>Nanos</a:t>
            </a:r>
            <a:r>
              <a:rPr lang="zh-CN" altLang="en-US" dirty="0"/>
              <a:t>本质是一个运行程序的程序，也就是操作系统内核，它是用户程序申请计算机硬件资源的窗口，接口形式是内核系统调用，实现机制是</a:t>
            </a:r>
            <a:r>
              <a:rPr lang="en-US" altLang="zh-CN" dirty="0"/>
              <a:t>CPU</a:t>
            </a:r>
            <a:r>
              <a:rPr lang="zh-CN" altLang="en-US" dirty="0"/>
              <a:t>中断异常硬件，</a:t>
            </a:r>
            <a:endParaRPr lang="en-US" altLang="zh-CN" dirty="0"/>
          </a:p>
          <a:p>
            <a:pPr>
              <a:defRPr/>
            </a:pPr>
            <a:r>
              <a:rPr lang="zh-CN" altLang="en-US" dirty="0"/>
              <a:t>程序加载，内核</a:t>
            </a:r>
            <a:r>
              <a:rPr lang="en-US" altLang="zh-CN" dirty="0"/>
              <a:t>loader</a:t>
            </a:r>
            <a:r>
              <a:rPr lang="zh-CN" altLang="en-US" dirty="0"/>
              <a:t>部分，负责将可执行程序从磁盘搬运到内存，并创建一个在操作系统的抽象数据结构</a:t>
            </a:r>
            <a:r>
              <a:rPr lang="en-US" altLang="zh-CN" dirty="0"/>
              <a:t>——PCB</a:t>
            </a:r>
          </a:p>
          <a:p>
            <a:pPr>
              <a:defRPr/>
            </a:pPr>
            <a:r>
              <a:rPr lang="zh-CN" altLang="en-US" dirty="0"/>
              <a:t>进程线程抽象调度基于上下文</a:t>
            </a:r>
            <a:r>
              <a:rPr lang="en-US" altLang="zh-CN" dirty="0"/>
              <a:t>Context</a:t>
            </a:r>
            <a:r>
              <a:rPr lang="zh-CN" altLang="en-US" dirty="0"/>
              <a:t>这一数据结构，上下文携带着</a:t>
            </a:r>
            <a:r>
              <a:rPr lang="en-US" altLang="zh-CN" dirty="0"/>
              <a:t>CPU</a:t>
            </a:r>
            <a:r>
              <a:rPr lang="zh-CN" altLang="en-US" dirty="0"/>
              <a:t>运行时所需的最小状态合集</a:t>
            </a:r>
            <a:r>
              <a:rPr lang="en-US" altLang="zh-CN" dirty="0"/>
              <a:t>(</a:t>
            </a:r>
            <a:r>
              <a:rPr lang="zh-CN" altLang="en-US" dirty="0"/>
              <a:t>寄存器</a:t>
            </a:r>
            <a:r>
              <a:rPr lang="en-US" altLang="zh-CN" dirty="0"/>
              <a:t>)</a:t>
            </a:r>
            <a:r>
              <a:rPr lang="zh-CN" altLang="en-US" dirty="0"/>
              <a:t>，</a:t>
            </a:r>
            <a:r>
              <a:rPr lang="en-US" altLang="zh-CN" dirty="0" err="1"/>
              <a:t>shedule</a:t>
            </a:r>
            <a:r>
              <a:rPr lang="zh-CN" altLang="en-US" dirty="0"/>
              <a:t>函数负责进程的调度策略</a:t>
            </a:r>
            <a:endParaRPr lang="en-US" altLang="zh-CN" dirty="0"/>
          </a:p>
          <a:p>
            <a:pPr>
              <a:defRPr/>
            </a:pPr>
            <a:r>
              <a:rPr lang="zh-CN" altLang="en-US" dirty="0"/>
              <a:t>内存管理维护进程的堆栈指针，页表映射和虚实地址转换</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文件系统则对所有字节序列，可能是一段内存，也可能是存储的块设备，也可能是一个串口的外设进行统一抽象</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外设驱动负责内核与外设通信，程序数据与外设数据格式之间的翻译官</a:t>
            </a:r>
            <a:endParaRPr lang="zh-CN" dirty="0"/>
          </a:p>
        </p:txBody>
      </p:sp>
    </p:spTree>
    <p:extLst>
      <p:ext uri="{BB962C8B-B14F-4D97-AF65-F5344CB8AC3E}">
        <p14:creationId xmlns:p14="http://schemas.microsoft.com/office/powerpoint/2010/main" val="20779201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E6EE4-EFAA-2F8A-E609-776711C3251D}"/>
            </a:ext>
          </a:extLst>
        </p:cNvPr>
        <p:cNvGrpSpPr/>
        <p:nvPr/>
      </p:nvGrpSpPr>
      <p:grpSpPr bwMode="auto">
        <a:xfrm>
          <a:off x="0" y="0"/>
          <a:ext cx="0" cy="0"/>
          <a:chOff x="0" y="0"/>
          <a:chExt cx="0" cy="0"/>
        </a:xfrm>
      </p:grpSpPr>
      <p:sp>
        <p:nvSpPr>
          <p:cNvPr id="1978282713" name="幻灯片图像占位符 1">
            <a:extLst>
              <a:ext uri="{FF2B5EF4-FFF2-40B4-BE49-F238E27FC236}">
                <a16:creationId xmlns:a16="http://schemas.microsoft.com/office/drawing/2014/main" id="{442B2EE8-CD5A-59E4-9604-97FE04805A68}"/>
              </a:ext>
            </a:extLst>
          </p:cNvPr>
          <p:cNvSpPr>
            <a:spLocks noGrp="1" noRot="1" noChangeAspect="1"/>
          </p:cNvSpPr>
          <p:nvPr>
            <p:ph type="sldImg" idx="2"/>
          </p:nvPr>
        </p:nvSpPr>
        <p:spPr bwMode="auto"/>
      </p:sp>
      <p:sp>
        <p:nvSpPr>
          <p:cNvPr id="1685365130" name="文本占位符 2">
            <a:extLst>
              <a:ext uri="{FF2B5EF4-FFF2-40B4-BE49-F238E27FC236}">
                <a16:creationId xmlns:a16="http://schemas.microsoft.com/office/drawing/2014/main" id="{61E68577-F3C9-7E58-78BE-A26FCB435A2B}"/>
              </a:ext>
            </a:extLst>
          </p:cNvPr>
          <p:cNvSpPr>
            <a:spLocks noGrp="1"/>
          </p:cNvSpPr>
          <p:nvPr>
            <p:ph type="body" idx="3"/>
          </p:nvPr>
        </p:nvSpPr>
        <p:spPr bwMode="auto"/>
        <p:txBody>
          <a:bodyPr/>
          <a:lstStyle/>
          <a:p>
            <a:pPr>
              <a:defRPr/>
            </a:pPr>
            <a:r>
              <a:rPr lang="zh-CN" altLang="en-US" dirty="0"/>
              <a:t>一个内核仅提供最基本的软硬件协同调用，例如系统调用，但这对运行更多程序，程序载入前的运行时环境准备，</a:t>
            </a:r>
            <a:r>
              <a:rPr lang="en-US" altLang="zh-CN" dirty="0"/>
              <a:t>C</a:t>
            </a:r>
            <a:r>
              <a:rPr lang="zh-CN" altLang="en-US" dirty="0"/>
              <a:t>库函数调用，定点数运算，更强大的媒体库例如创建图像、音频、字体资源</a:t>
            </a:r>
            <a:endParaRPr lang="en-US" altLang="zh-CN" dirty="0"/>
          </a:p>
          <a:p>
            <a:pPr>
              <a:defRPr/>
            </a:pPr>
            <a:r>
              <a:rPr lang="zh-CN" altLang="en-US" dirty="0"/>
              <a:t>框架层就是将应用程序经常用到的调用和操作封装为库，不用用户程序重复造轮子自己写，库作为操作系统必不可少的部分</a:t>
            </a:r>
            <a:endParaRPr lang="en-US" altLang="zh-CN" dirty="0"/>
          </a:p>
          <a:p>
            <a:pPr>
              <a:defRPr/>
            </a:pPr>
            <a:r>
              <a:rPr lang="zh-CN" altLang="en-US" dirty="0"/>
              <a:t>用系统调用库实现一遍媒体库</a:t>
            </a:r>
            <a:endParaRPr lang="en-US" altLang="zh-CN" dirty="0"/>
          </a:p>
          <a:p>
            <a:pPr>
              <a:defRPr/>
            </a:pPr>
            <a:r>
              <a:rPr lang="zh-CN" altLang="en-US" dirty="0"/>
              <a:t>用媒体库实现一遍</a:t>
            </a:r>
            <a:r>
              <a:rPr lang="en-US" altLang="zh-CN" dirty="0"/>
              <a:t>mini-</a:t>
            </a:r>
            <a:r>
              <a:rPr lang="en-US" altLang="zh-CN" dirty="0" err="1"/>
              <a:t>sdl</a:t>
            </a:r>
            <a:r>
              <a:rPr lang="zh-CN" altLang="en-US" dirty="0"/>
              <a:t>库</a:t>
            </a:r>
            <a:endParaRPr lang="en-US" altLang="zh-CN" dirty="0"/>
          </a:p>
          <a:p>
            <a:pPr>
              <a:defRPr/>
            </a:pPr>
            <a:r>
              <a:rPr lang="en-US" altLang="zh-CN" dirty="0"/>
              <a:t>Mini-</a:t>
            </a:r>
            <a:r>
              <a:rPr lang="en-US" altLang="zh-CN" dirty="0" err="1"/>
              <a:t>Sdl</a:t>
            </a:r>
            <a:r>
              <a:rPr lang="zh-CN" altLang="en-US" dirty="0"/>
              <a:t>库就能移植支撑仙剑，</a:t>
            </a:r>
            <a:r>
              <a:rPr lang="en-US" altLang="zh-CN" dirty="0" err="1"/>
              <a:t>flappy_bird</a:t>
            </a:r>
            <a:r>
              <a:rPr lang="zh-CN" altLang="en-US" dirty="0"/>
              <a:t>这类复杂的应用程序</a:t>
            </a:r>
            <a:endParaRPr lang="en-US" altLang="zh-CN" dirty="0"/>
          </a:p>
          <a:p>
            <a:pPr>
              <a:defRPr/>
            </a:pPr>
            <a:r>
              <a:rPr lang="zh-CN" altLang="en-US" dirty="0"/>
              <a:t>系统库的边界比较模糊，向下可以下沉和内核作为操作系统的一部分，向上可以变成操作系统上的应用程序库</a:t>
            </a:r>
            <a:endParaRPr lang="en-US" altLang="zh-CN" dirty="0"/>
          </a:p>
          <a:p>
            <a:pPr>
              <a:defRPr/>
            </a:pPr>
            <a:r>
              <a:rPr lang="zh-CN" altLang="en-US" dirty="0"/>
              <a:t>例如常见的</a:t>
            </a:r>
            <a:r>
              <a:rPr lang="en-US" altLang="zh-CN" dirty="0"/>
              <a:t>shell</a:t>
            </a:r>
            <a:r>
              <a:rPr lang="zh-CN" altLang="en-US" dirty="0"/>
              <a:t>命令，</a:t>
            </a:r>
            <a:r>
              <a:rPr lang="en-US" altLang="zh-CN" dirty="0"/>
              <a:t>gnu</a:t>
            </a:r>
            <a:r>
              <a:rPr lang="zh-CN" altLang="en-US" dirty="0"/>
              <a:t>工具链，它们可以算操作系统的一部分，又可以说是用户程序不属于操作系统组成。</a:t>
            </a:r>
            <a:endParaRPr lang="en-US" altLang="zh-CN" dirty="0"/>
          </a:p>
          <a:p>
            <a:pPr>
              <a:defRPr/>
            </a:pPr>
            <a:r>
              <a:rPr lang="en-US" altLang="zh-CN" dirty="0"/>
              <a:t>Linux</a:t>
            </a:r>
            <a:r>
              <a:rPr lang="zh-CN" altLang="en-US" dirty="0"/>
              <a:t>内核衍生出的各种操作系统发行版就是例子，它们根据使用场景和用户偏好分化出了不同的系统框架层</a:t>
            </a:r>
            <a:endParaRPr lang="zh-CN" dirty="0"/>
          </a:p>
        </p:txBody>
      </p:sp>
    </p:spTree>
    <p:extLst>
      <p:ext uri="{BB962C8B-B14F-4D97-AF65-F5344CB8AC3E}">
        <p14:creationId xmlns:p14="http://schemas.microsoft.com/office/powerpoint/2010/main" val="1966983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93AD7-6F7E-5349-7265-66F4E02863A4}"/>
            </a:ext>
          </a:extLst>
        </p:cNvPr>
        <p:cNvGrpSpPr/>
        <p:nvPr/>
      </p:nvGrpSpPr>
      <p:grpSpPr bwMode="auto">
        <a:xfrm>
          <a:off x="0" y="0"/>
          <a:ext cx="0" cy="0"/>
          <a:chOff x="0" y="0"/>
          <a:chExt cx="0" cy="0"/>
        </a:xfrm>
      </p:grpSpPr>
      <p:sp>
        <p:nvSpPr>
          <p:cNvPr id="1978282713" name="幻灯片图像占位符 1">
            <a:extLst>
              <a:ext uri="{FF2B5EF4-FFF2-40B4-BE49-F238E27FC236}">
                <a16:creationId xmlns:a16="http://schemas.microsoft.com/office/drawing/2014/main" id="{D47083BA-6BE6-F226-761C-97393B6944A3}"/>
              </a:ext>
            </a:extLst>
          </p:cNvPr>
          <p:cNvSpPr>
            <a:spLocks noGrp="1" noRot="1" noChangeAspect="1"/>
          </p:cNvSpPr>
          <p:nvPr>
            <p:ph type="sldImg" idx="2"/>
          </p:nvPr>
        </p:nvSpPr>
        <p:spPr bwMode="auto"/>
      </p:sp>
      <p:sp>
        <p:nvSpPr>
          <p:cNvPr id="1685365130" name="文本占位符 2">
            <a:extLst>
              <a:ext uri="{FF2B5EF4-FFF2-40B4-BE49-F238E27FC236}">
                <a16:creationId xmlns:a16="http://schemas.microsoft.com/office/drawing/2014/main" id="{B0E23E73-DEE8-C66F-18D8-345D39D68C1D}"/>
              </a:ext>
            </a:extLst>
          </p:cNvPr>
          <p:cNvSpPr>
            <a:spLocks noGrp="1"/>
          </p:cNvSpPr>
          <p:nvPr>
            <p:ph type="body" idx="3"/>
          </p:nvPr>
        </p:nvSpPr>
        <p:spPr bwMode="auto"/>
        <p:txBody>
          <a:bodyPr/>
          <a:lstStyle/>
          <a:p>
            <a:pPr>
              <a:defRPr/>
            </a:pPr>
            <a:r>
              <a:rPr lang="zh-CN" altLang="en-US" dirty="0"/>
              <a:t>整个软硬件调用链路是这样的，从上到下是输出调用链路，从下当上就是输入链路，这个在后文的打字游戏有更详细的讲解</a:t>
            </a:r>
            <a:endParaRPr lang="zh-CN" dirty="0"/>
          </a:p>
        </p:txBody>
      </p:sp>
    </p:spTree>
    <p:extLst>
      <p:ext uri="{BB962C8B-B14F-4D97-AF65-F5344CB8AC3E}">
        <p14:creationId xmlns:p14="http://schemas.microsoft.com/office/powerpoint/2010/main" val="3919127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C3961-F29A-3CD0-CF1C-7C99ED0BC26A}"/>
            </a:ext>
          </a:extLst>
        </p:cNvPr>
        <p:cNvGrpSpPr/>
        <p:nvPr/>
      </p:nvGrpSpPr>
      <p:grpSpPr bwMode="auto">
        <a:xfrm>
          <a:off x="0" y="0"/>
          <a:ext cx="0" cy="0"/>
          <a:chOff x="0" y="0"/>
          <a:chExt cx="0" cy="0"/>
        </a:xfrm>
      </p:grpSpPr>
      <p:sp>
        <p:nvSpPr>
          <p:cNvPr id="1978282713" name="幻灯片图像占位符 1">
            <a:extLst>
              <a:ext uri="{FF2B5EF4-FFF2-40B4-BE49-F238E27FC236}">
                <a16:creationId xmlns:a16="http://schemas.microsoft.com/office/drawing/2014/main" id="{7D38E2F7-6BF9-260B-050B-D91A920D9EC1}"/>
              </a:ext>
            </a:extLst>
          </p:cNvPr>
          <p:cNvSpPr>
            <a:spLocks noGrp="1" noRot="1" noChangeAspect="1"/>
          </p:cNvSpPr>
          <p:nvPr>
            <p:ph type="sldImg" idx="2"/>
          </p:nvPr>
        </p:nvSpPr>
        <p:spPr bwMode="auto"/>
      </p:sp>
      <p:sp>
        <p:nvSpPr>
          <p:cNvPr id="1685365130" name="文本占位符 2">
            <a:extLst>
              <a:ext uri="{FF2B5EF4-FFF2-40B4-BE49-F238E27FC236}">
                <a16:creationId xmlns:a16="http://schemas.microsoft.com/office/drawing/2014/main" id="{7DBE8CD2-741C-B701-21DD-5FBDD29F7845}"/>
              </a:ext>
            </a:extLst>
          </p:cNvPr>
          <p:cNvSpPr>
            <a:spLocks noGrp="1"/>
          </p:cNvSpPr>
          <p:nvPr>
            <p:ph type="body" idx="3"/>
          </p:nvPr>
        </p:nvSpPr>
        <p:spPr bwMode="auto"/>
        <p:txBody>
          <a:bodyPr/>
          <a:lstStyle/>
          <a:p>
            <a:pPr>
              <a:defRPr/>
            </a:pPr>
            <a:r>
              <a:rPr lang="en-US" altLang="zh-CN" dirty="0"/>
              <a:t>RTL</a:t>
            </a:r>
            <a:r>
              <a:rPr lang="zh-CN" altLang="en-US" dirty="0"/>
              <a:t>代码综合为网表文件的流程，与编译器将高级语言编译为目标文件的过程有许多相似的地方</a:t>
            </a:r>
            <a:endParaRPr lang="en-US" altLang="zh-CN" dirty="0"/>
          </a:p>
          <a:p>
            <a:pPr>
              <a:defRPr/>
            </a:pPr>
            <a:r>
              <a:rPr lang="zh-CN" altLang="en-US" dirty="0"/>
              <a:t>都包含语法树，中间码，后端优化，软件编译的产物是待重定位的目标汇编码，而最后的</a:t>
            </a:r>
            <a:r>
              <a:rPr lang="en-US" altLang="zh-CN" dirty="0"/>
              <a:t>RTL</a:t>
            </a:r>
            <a:r>
              <a:rPr lang="zh-CN" altLang="en-US" dirty="0"/>
              <a:t>综合产物是基于</a:t>
            </a:r>
            <a:r>
              <a:rPr lang="en-US" altLang="zh-CN" dirty="0"/>
              <a:t>PDK</a:t>
            </a:r>
            <a:r>
              <a:rPr lang="zh-CN" altLang="en-US" dirty="0"/>
              <a:t>的网表文件</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1"/>
                </a:solidFill>
                <a:effectLst/>
                <a:latin typeface="微软雅黑"/>
                <a:ea typeface="微软雅黑"/>
                <a:cs typeface="+mn-cs"/>
              </a:rPr>
              <a:t>词法解析</a:t>
            </a:r>
            <a:r>
              <a:rPr lang="en-US" altLang="zh-CN" sz="1200" b="0" dirty="0">
                <a:solidFill>
                  <a:schemeClr val="tx1"/>
                </a:solidFill>
                <a:effectLst/>
                <a:latin typeface="微软雅黑"/>
                <a:ea typeface="微软雅黑"/>
                <a:cs typeface="+mn-cs"/>
              </a:rPr>
              <a:t>——</a:t>
            </a:r>
            <a:r>
              <a:rPr lang="zh-CN" altLang="en-US" sz="1200" b="0" dirty="0">
                <a:solidFill>
                  <a:schemeClr val="tx1"/>
                </a:solidFill>
                <a:effectLst/>
                <a:latin typeface="微软雅黑"/>
                <a:ea typeface="微软雅黑"/>
                <a:cs typeface="+mn-cs"/>
              </a:rPr>
              <a:t>基本的语法语义检查，生成</a:t>
            </a:r>
            <a:r>
              <a:rPr lang="en-US" altLang="zh-CN" sz="1200" b="0" dirty="0">
                <a:solidFill>
                  <a:schemeClr val="tx1"/>
                </a:solidFill>
                <a:effectLst/>
                <a:latin typeface="微软雅黑"/>
                <a:ea typeface="微软雅黑"/>
                <a:cs typeface="+mn-cs"/>
              </a:rPr>
              <a:t>AST</a:t>
            </a:r>
            <a:r>
              <a:rPr lang="zh-CN" altLang="en-US" sz="1200" b="0" dirty="0">
                <a:solidFill>
                  <a:schemeClr val="tx1"/>
                </a:solidFill>
                <a:effectLst/>
                <a:latin typeface="微软雅黑"/>
                <a:ea typeface="微软雅黑"/>
                <a:cs typeface="+mn-cs"/>
              </a:rPr>
              <a:t>这种没有歧义的抽象数据结构</a:t>
            </a:r>
            <a:endParaRPr lang="en-US" altLang="zh-CN" sz="1200" b="0" dirty="0">
              <a:solidFill>
                <a:schemeClr val="tx1"/>
              </a:solidFill>
              <a:effectLst/>
              <a:latin typeface="微软雅黑"/>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1"/>
                </a:solidFill>
                <a:effectLst/>
                <a:latin typeface="微软雅黑"/>
                <a:ea typeface="微软雅黑"/>
                <a:cs typeface="+mn-cs"/>
              </a:rPr>
              <a:t>模块例化与展开</a:t>
            </a:r>
            <a:r>
              <a:rPr lang="en-US" altLang="zh-CN" sz="1200" b="0" dirty="0">
                <a:solidFill>
                  <a:schemeClr val="tx1"/>
                </a:solidFill>
                <a:effectLst/>
                <a:latin typeface="微软雅黑"/>
                <a:ea typeface="微软雅黑"/>
                <a:cs typeface="+mn-cs"/>
              </a:rPr>
              <a:t>——</a:t>
            </a:r>
            <a:r>
              <a:rPr lang="zh-CN" altLang="en-US" sz="1200" b="0" dirty="0">
                <a:solidFill>
                  <a:schemeClr val="tx1"/>
                </a:solidFill>
                <a:effectLst/>
                <a:latin typeface="微软雅黑"/>
                <a:ea typeface="微软雅黑"/>
                <a:cs typeface="+mn-cs"/>
              </a:rPr>
              <a:t>从顶层模块开始展开并例化生成</a:t>
            </a:r>
            <a:r>
              <a:rPr lang="en-US" altLang="zh-CN" sz="1200" b="0" dirty="0">
                <a:solidFill>
                  <a:schemeClr val="tx1"/>
                </a:solidFill>
                <a:effectLst/>
                <a:latin typeface="微软雅黑"/>
                <a:ea typeface="微软雅黑"/>
                <a:cs typeface="+mn-cs"/>
              </a:rPr>
              <a:t>RTLIL</a:t>
            </a:r>
            <a:r>
              <a:rPr lang="zh-CN" altLang="en-US" sz="1200" b="0" dirty="0">
                <a:solidFill>
                  <a:schemeClr val="tx1"/>
                </a:solidFill>
                <a:effectLst/>
                <a:latin typeface="微软雅黑"/>
                <a:ea typeface="微软雅黑"/>
                <a:cs typeface="+mn-cs"/>
              </a:rPr>
              <a:t>中间码</a:t>
            </a:r>
          </a:p>
          <a:p>
            <a:r>
              <a:rPr lang="zh-CN" altLang="en-US" sz="1200" b="0" dirty="0">
                <a:solidFill>
                  <a:schemeClr val="tx1"/>
                </a:solidFill>
                <a:effectLst/>
                <a:latin typeface="微软雅黑"/>
                <a:ea typeface="微软雅黑"/>
                <a:cs typeface="+mn-cs"/>
              </a:rPr>
              <a:t>粗粒度综合</a:t>
            </a:r>
            <a:r>
              <a:rPr lang="en-US" altLang="zh-CN" sz="1200" b="0" dirty="0">
                <a:solidFill>
                  <a:schemeClr val="tx1"/>
                </a:solidFill>
                <a:effectLst/>
                <a:latin typeface="微软雅黑"/>
                <a:ea typeface="微软雅黑"/>
                <a:cs typeface="+mn-cs"/>
              </a:rPr>
              <a:t>——</a:t>
            </a:r>
            <a:r>
              <a:rPr lang="zh-CN" altLang="en-US" sz="1200" b="0" dirty="0">
                <a:solidFill>
                  <a:schemeClr val="tx1"/>
                </a:solidFill>
                <a:effectLst/>
                <a:latin typeface="微软雅黑"/>
                <a:ea typeface="微软雅黑"/>
                <a:cs typeface="+mn-cs"/>
              </a:rPr>
              <a:t>将</a:t>
            </a:r>
            <a:r>
              <a:rPr lang="en-US" altLang="zh-CN" sz="1200" b="0" dirty="0">
                <a:solidFill>
                  <a:schemeClr val="tx1"/>
                </a:solidFill>
                <a:effectLst/>
                <a:latin typeface="微软雅黑"/>
                <a:ea typeface="微软雅黑"/>
                <a:cs typeface="+mn-cs"/>
              </a:rPr>
              <a:t>IL</a:t>
            </a:r>
            <a:r>
              <a:rPr lang="zh-CN" altLang="en-US" sz="1200" b="0" dirty="0">
                <a:solidFill>
                  <a:schemeClr val="tx1"/>
                </a:solidFill>
                <a:effectLst/>
                <a:latin typeface="微软雅黑"/>
                <a:ea typeface="微软雅黑"/>
                <a:cs typeface="+mn-cs"/>
              </a:rPr>
              <a:t>中的</a:t>
            </a:r>
            <a:r>
              <a:rPr lang="en-US" altLang="zh-CN" sz="1200" b="0" dirty="0">
                <a:solidFill>
                  <a:schemeClr val="tx1"/>
                </a:solidFill>
                <a:effectLst/>
                <a:latin typeface="微软雅黑"/>
                <a:ea typeface="微软雅黑"/>
                <a:cs typeface="+mn-cs"/>
              </a:rPr>
              <a:t>switch\add\synch</a:t>
            </a:r>
            <a:r>
              <a:rPr lang="zh-CN" altLang="en-US" sz="1200" b="0" dirty="0">
                <a:solidFill>
                  <a:schemeClr val="tx1"/>
                </a:solidFill>
                <a:effectLst/>
                <a:latin typeface="微软雅黑"/>
                <a:ea typeface="微软雅黑"/>
                <a:cs typeface="+mn-cs"/>
              </a:rPr>
              <a:t>关键字转换为</a:t>
            </a:r>
            <a:r>
              <a:rPr lang="en-US" altLang="zh-CN" sz="1200" b="0" dirty="0" err="1">
                <a:solidFill>
                  <a:schemeClr val="tx1"/>
                </a:solidFill>
                <a:effectLst/>
                <a:latin typeface="微软雅黑"/>
                <a:ea typeface="微软雅黑"/>
                <a:cs typeface="+mn-cs"/>
              </a:rPr>
              <a:t>mux,DFF</a:t>
            </a:r>
            <a:r>
              <a:rPr lang="en-US" altLang="zh-CN" sz="1200" b="0" dirty="0">
                <a:solidFill>
                  <a:schemeClr val="tx1"/>
                </a:solidFill>
                <a:effectLst/>
                <a:latin typeface="微软雅黑"/>
                <a:ea typeface="微软雅黑"/>
                <a:cs typeface="+mn-cs"/>
              </a:rPr>
              <a:t>, Counter</a:t>
            </a:r>
            <a:r>
              <a:rPr lang="zh-CN" altLang="en-US" sz="1200" b="0" dirty="0">
                <a:solidFill>
                  <a:schemeClr val="tx1"/>
                </a:solidFill>
                <a:effectLst/>
                <a:latin typeface="微软雅黑"/>
                <a:ea typeface="微软雅黑"/>
                <a:cs typeface="+mn-cs"/>
              </a:rPr>
              <a:t>，</a:t>
            </a:r>
            <a:r>
              <a:rPr lang="en-US" altLang="zh-CN" sz="1200" b="0" dirty="0">
                <a:solidFill>
                  <a:schemeClr val="tx1"/>
                </a:solidFill>
                <a:effectLst/>
                <a:latin typeface="微软雅黑"/>
                <a:ea typeface="微软雅黑"/>
                <a:cs typeface="+mn-cs"/>
              </a:rPr>
              <a:t>RAM</a:t>
            </a:r>
            <a:r>
              <a:rPr lang="zh-CN" altLang="en-US" sz="1200" b="0" dirty="0">
                <a:solidFill>
                  <a:schemeClr val="tx1"/>
                </a:solidFill>
                <a:effectLst/>
                <a:latin typeface="微软雅黑"/>
                <a:ea typeface="微软雅黑"/>
                <a:cs typeface="+mn-cs"/>
              </a:rPr>
              <a:t>，</a:t>
            </a:r>
            <a:r>
              <a:rPr lang="en-US" altLang="zh-CN" sz="1200" b="0" dirty="0">
                <a:solidFill>
                  <a:schemeClr val="tx1"/>
                </a:solidFill>
                <a:effectLst/>
                <a:latin typeface="微软雅黑"/>
                <a:ea typeface="微软雅黑"/>
                <a:cs typeface="+mn-cs"/>
              </a:rPr>
              <a:t>adder</a:t>
            </a:r>
            <a:r>
              <a:rPr lang="zh-CN" altLang="en-US" sz="1200" b="0" dirty="0">
                <a:solidFill>
                  <a:schemeClr val="tx1"/>
                </a:solidFill>
                <a:effectLst/>
                <a:latin typeface="微软雅黑"/>
                <a:ea typeface="微软雅黑"/>
                <a:cs typeface="+mn-cs"/>
              </a:rPr>
              <a:t>之类的基本数字逻辑单元</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1"/>
                </a:solidFill>
                <a:effectLst/>
                <a:latin typeface="微软雅黑"/>
                <a:ea typeface="微软雅黑"/>
                <a:cs typeface="+mn-cs"/>
              </a:rPr>
              <a:t>网表优化</a:t>
            </a:r>
            <a:r>
              <a:rPr lang="en-US" altLang="zh-CN" sz="1200" b="0" dirty="0">
                <a:solidFill>
                  <a:schemeClr val="tx1"/>
                </a:solidFill>
                <a:effectLst/>
                <a:latin typeface="微软雅黑"/>
                <a:ea typeface="微软雅黑"/>
                <a:cs typeface="+mn-cs"/>
              </a:rPr>
              <a:t>——</a:t>
            </a:r>
            <a:r>
              <a:rPr lang="zh-CN" altLang="en-US" sz="1200" b="0" dirty="0">
                <a:solidFill>
                  <a:schemeClr val="tx1"/>
                </a:solidFill>
                <a:effectLst/>
                <a:latin typeface="微软雅黑"/>
                <a:ea typeface="微软雅黑"/>
                <a:cs typeface="+mn-cs"/>
              </a:rPr>
              <a:t>应用一些常见的综合优化技术例如常量消除，存储电路优化，状态机电路优化等</a:t>
            </a:r>
            <a:endParaRPr lang="en-US" altLang="zh-CN" sz="1200" b="0" dirty="0">
              <a:solidFill>
                <a:schemeClr val="tx1"/>
              </a:solidFill>
              <a:effectLst/>
              <a:latin typeface="微软雅黑"/>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1"/>
                </a:solidFill>
                <a:effectLst/>
                <a:latin typeface="微软雅黑"/>
                <a:ea typeface="微软雅黑"/>
                <a:cs typeface="+mn-cs"/>
              </a:rPr>
              <a:t> 细粒度综合</a:t>
            </a:r>
            <a:r>
              <a:rPr lang="en-US" altLang="zh-CN" sz="1200" b="0" dirty="0">
                <a:solidFill>
                  <a:schemeClr val="tx1"/>
                </a:solidFill>
                <a:effectLst/>
                <a:latin typeface="微软雅黑"/>
                <a:ea typeface="微软雅黑"/>
                <a:cs typeface="+mn-cs"/>
              </a:rPr>
              <a:t>——</a:t>
            </a:r>
            <a:r>
              <a:rPr lang="zh-CN" altLang="en-US" sz="1200" b="0" dirty="0">
                <a:solidFill>
                  <a:schemeClr val="tx1"/>
                </a:solidFill>
                <a:effectLst/>
                <a:latin typeface="微软雅黑"/>
                <a:ea typeface="微软雅黑"/>
                <a:cs typeface="+mn-cs"/>
              </a:rPr>
              <a:t>将优化后的数字逻辑单元，基于综合约束和</a:t>
            </a:r>
            <a:r>
              <a:rPr lang="en-US" altLang="zh-CN" sz="1200" b="0" dirty="0">
                <a:solidFill>
                  <a:schemeClr val="tx1"/>
                </a:solidFill>
                <a:effectLst/>
                <a:latin typeface="微软雅黑"/>
                <a:ea typeface="微软雅黑"/>
                <a:cs typeface="+mn-cs"/>
              </a:rPr>
              <a:t>PPA</a:t>
            </a:r>
            <a:r>
              <a:rPr lang="zh-CN" altLang="en-US" sz="1200" b="0" dirty="0">
                <a:solidFill>
                  <a:schemeClr val="tx1"/>
                </a:solidFill>
                <a:effectLst/>
                <a:latin typeface="微软雅黑"/>
                <a:ea typeface="微软雅黑"/>
                <a:cs typeface="+mn-cs"/>
              </a:rPr>
              <a:t>偏好，在</a:t>
            </a:r>
            <a:r>
              <a:rPr lang="en-US" altLang="zh-CN" sz="1200" b="0" dirty="0">
                <a:solidFill>
                  <a:schemeClr val="tx1"/>
                </a:solidFill>
                <a:effectLst/>
                <a:latin typeface="微软雅黑"/>
                <a:ea typeface="微软雅黑"/>
                <a:cs typeface="+mn-cs"/>
              </a:rPr>
              <a:t>PDK</a:t>
            </a:r>
            <a:r>
              <a:rPr lang="zh-CN" altLang="en-US" sz="1200" b="0" dirty="0">
                <a:solidFill>
                  <a:schemeClr val="tx1"/>
                </a:solidFill>
                <a:effectLst/>
                <a:latin typeface="微软雅黑"/>
                <a:ea typeface="微软雅黑"/>
                <a:cs typeface="+mn-cs"/>
              </a:rPr>
              <a:t>库中寻找最优门单元组合来实现</a:t>
            </a:r>
            <a:endParaRPr lang="en-US" altLang="zh-CN" sz="1200" b="0" dirty="0">
              <a:solidFill>
                <a:schemeClr val="tx1"/>
              </a:solidFill>
              <a:effectLst/>
              <a:latin typeface="微软雅黑"/>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dirty="0" err="1">
                <a:solidFill>
                  <a:schemeClr val="tx1"/>
                </a:solidFill>
                <a:effectLst/>
                <a:latin typeface="微软雅黑"/>
                <a:ea typeface="微软雅黑"/>
                <a:cs typeface="+mn-cs"/>
              </a:rPr>
              <a:t>pdk</a:t>
            </a:r>
            <a:r>
              <a:rPr lang="zh-CN" altLang="en-US" sz="1200" b="0" dirty="0">
                <a:solidFill>
                  <a:schemeClr val="tx1"/>
                </a:solidFill>
                <a:effectLst/>
                <a:latin typeface="微软雅黑"/>
                <a:ea typeface="微软雅黑"/>
                <a:cs typeface="+mn-cs"/>
              </a:rPr>
              <a:t>库中有从与非门这种基本逻辑单元，多输入与或非门，半加器，宏单元，</a:t>
            </a:r>
            <a:r>
              <a:rPr lang="en-US" altLang="zh-CN" sz="1200" b="0" dirty="0">
                <a:solidFill>
                  <a:schemeClr val="tx1"/>
                </a:solidFill>
                <a:effectLst/>
                <a:latin typeface="微软雅黑"/>
                <a:ea typeface="微软雅黑"/>
                <a:cs typeface="+mn-cs"/>
              </a:rPr>
              <a:t>IO</a:t>
            </a:r>
            <a:r>
              <a:rPr lang="zh-CN" altLang="en-US" sz="1200" b="0" dirty="0">
                <a:solidFill>
                  <a:schemeClr val="tx1"/>
                </a:solidFill>
                <a:effectLst/>
                <a:latin typeface="微软雅黑"/>
                <a:ea typeface="微软雅黑"/>
                <a:cs typeface="+mn-cs"/>
              </a:rPr>
              <a:t>单元等不同粗细粒度的</a:t>
            </a:r>
            <a:r>
              <a:rPr lang="en-US" altLang="zh-CN" sz="1200" b="0" dirty="0">
                <a:solidFill>
                  <a:schemeClr val="tx1"/>
                </a:solidFill>
                <a:effectLst/>
                <a:latin typeface="微软雅黑"/>
                <a:ea typeface="微软雅黑"/>
                <a:cs typeface="+mn-cs"/>
              </a:rPr>
              <a:t>lib</a:t>
            </a:r>
            <a:r>
              <a:rPr lang="zh-CN" altLang="en-US" sz="1200" b="0" dirty="0">
                <a:solidFill>
                  <a:schemeClr val="tx1"/>
                </a:solidFill>
                <a:effectLst/>
                <a:latin typeface="微软雅黑"/>
                <a:ea typeface="微软雅黑"/>
                <a:cs typeface="+mn-cs"/>
              </a:rPr>
              <a:t>文件，根本原因是为了方便为综合器提供各个层级的最优晶体管结构描述单元，让综合器在综合不同复杂度的</a:t>
            </a:r>
            <a:r>
              <a:rPr lang="en-US" altLang="zh-CN" sz="1200" b="0" dirty="0">
                <a:solidFill>
                  <a:schemeClr val="tx1"/>
                </a:solidFill>
                <a:effectLst/>
                <a:latin typeface="微软雅黑"/>
                <a:ea typeface="微软雅黑"/>
                <a:cs typeface="+mn-cs"/>
              </a:rPr>
              <a:t>RTL</a:t>
            </a:r>
            <a:r>
              <a:rPr lang="zh-CN" altLang="en-US" sz="1200" b="0" dirty="0">
                <a:solidFill>
                  <a:schemeClr val="tx1"/>
                </a:solidFill>
                <a:effectLst/>
                <a:latin typeface="微软雅黑"/>
                <a:ea typeface="微软雅黑"/>
                <a:cs typeface="+mn-cs"/>
              </a:rPr>
              <a:t>时能有的放矢地选择合适的电路单元，保证全局用到尽可能少的晶体管和占用面积</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0" dirty="0">
              <a:solidFill>
                <a:schemeClr val="tx1"/>
              </a:solidFill>
              <a:effectLst/>
              <a:latin typeface="微软雅黑"/>
              <a:ea typeface="微软雅黑"/>
              <a:cs typeface="+mn-cs"/>
            </a:endParaRPr>
          </a:p>
        </p:txBody>
      </p:sp>
    </p:spTree>
    <p:extLst>
      <p:ext uri="{BB962C8B-B14F-4D97-AF65-F5344CB8AC3E}">
        <p14:creationId xmlns:p14="http://schemas.microsoft.com/office/powerpoint/2010/main" val="2640707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2C3DB-3719-1837-872F-498AA41D90CD}"/>
            </a:ext>
          </a:extLst>
        </p:cNvPr>
        <p:cNvGrpSpPr/>
        <p:nvPr/>
      </p:nvGrpSpPr>
      <p:grpSpPr bwMode="auto">
        <a:xfrm>
          <a:off x="0" y="0"/>
          <a:ext cx="0" cy="0"/>
          <a:chOff x="0" y="0"/>
          <a:chExt cx="0" cy="0"/>
        </a:xfrm>
      </p:grpSpPr>
      <p:sp>
        <p:nvSpPr>
          <p:cNvPr id="1978282713" name="幻灯片图像占位符 1">
            <a:extLst>
              <a:ext uri="{FF2B5EF4-FFF2-40B4-BE49-F238E27FC236}">
                <a16:creationId xmlns:a16="http://schemas.microsoft.com/office/drawing/2014/main" id="{68E1EF74-1AF1-21EF-44EA-9A060DC490A8}"/>
              </a:ext>
            </a:extLst>
          </p:cNvPr>
          <p:cNvSpPr>
            <a:spLocks noGrp="1" noRot="1" noChangeAspect="1"/>
          </p:cNvSpPr>
          <p:nvPr>
            <p:ph type="sldImg" idx="2"/>
          </p:nvPr>
        </p:nvSpPr>
        <p:spPr bwMode="auto"/>
      </p:sp>
      <p:sp>
        <p:nvSpPr>
          <p:cNvPr id="1685365130" name="文本占位符 2">
            <a:extLst>
              <a:ext uri="{FF2B5EF4-FFF2-40B4-BE49-F238E27FC236}">
                <a16:creationId xmlns:a16="http://schemas.microsoft.com/office/drawing/2014/main" id="{C3DE6CEE-7B28-F961-4D8F-CF04A44C26E1}"/>
              </a:ext>
            </a:extLst>
          </p:cNvPr>
          <p:cNvSpPr>
            <a:spLocks noGrp="1"/>
          </p:cNvSpPr>
          <p:nvPr>
            <p:ph type="body" idx="3"/>
          </p:nvPr>
        </p:nvSpPr>
        <p:spPr bwMode="auto"/>
        <p:txBody>
          <a:bodyPr/>
          <a:lstStyle/>
          <a:p>
            <a:pPr>
              <a:defRPr/>
            </a:pPr>
            <a:r>
              <a:rPr lang="zh-CN" altLang="en-US" dirty="0"/>
              <a:t>综合生成的网表</a:t>
            </a:r>
            <a:r>
              <a:rPr lang="en-US" altLang="zh-CN" dirty="0"/>
              <a:t>Netlist</a:t>
            </a:r>
            <a:r>
              <a:rPr lang="zh-CN" altLang="en-US" dirty="0"/>
              <a:t>文件描述的仅是电路的逻辑拓扑关系，后端就是负责将这种逻辑拓扑实现为物理上的布局布线版图文件，而且还要各种一致性检查保证下游可制造</a:t>
            </a:r>
            <a:endParaRPr lang="en-US" altLang="zh-CN" dirty="0"/>
          </a:p>
          <a:p>
            <a:pPr>
              <a:defRPr/>
            </a:pPr>
            <a:r>
              <a:rPr lang="zh-CN" altLang="en-US" dirty="0"/>
              <a:t>提取电路寄生参数，线延迟，时钟树综合，电源网络压降，拥塞，串扰，各种工艺</a:t>
            </a:r>
            <a:r>
              <a:rPr lang="en-US" altLang="zh-CN" dirty="0"/>
              <a:t>Coner</a:t>
            </a:r>
            <a:r>
              <a:rPr lang="zh-CN" altLang="en-US" dirty="0"/>
              <a:t>下的时序收敛，</a:t>
            </a:r>
            <a:r>
              <a:rPr lang="en-US" altLang="zh-CN" dirty="0"/>
              <a:t>PPA</a:t>
            </a:r>
            <a:r>
              <a:rPr lang="zh-CN" altLang="en-US" dirty="0"/>
              <a:t>达标</a:t>
            </a:r>
            <a:endParaRPr lang="zh-CN" dirty="0"/>
          </a:p>
        </p:txBody>
      </p:sp>
    </p:spTree>
    <p:extLst>
      <p:ext uri="{BB962C8B-B14F-4D97-AF65-F5344CB8AC3E}">
        <p14:creationId xmlns:p14="http://schemas.microsoft.com/office/powerpoint/2010/main" val="8573137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ACB53-EB68-DEDE-60ED-A71C63647C24}"/>
            </a:ext>
          </a:extLst>
        </p:cNvPr>
        <p:cNvGrpSpPr/>
        <p:nvPr/>
      </p:nvGrpSpPr>
      <p:grpSpPr bwMode="auto">
        <a:xfrm>
          <a:off x="0" y="0"/>
          <a:ext cx="0" cy="0"/>
          <a:chOff x="0" y="0"/>
          <a:chExt cx="0" cy="0"/>
        </a:xfrm>
      </p:grpSpPr>
      <p:sp>
        <p:nvSpPr>
          <p:cNvPr id="1978282713" name="幻灯片图像占位符 1">
            <a:extLst>
              <a:ext uri="{FF2B5EF4-FFF2-40B4-BE49-F238E27FC236}">
                <a16:creationId xmlns:a16="http://schemas.microsoft.com/office/drawing/2014/main" id="{DE4D44CF-3D45-EB51-D69D-388C2EE7E940}"/>
              </a:ext>
            </a:extLst>
          </p:cNvPr>
          <p:cNvSpPr>
            <a:spLocks noGrp="1" noRot="1" noChangeAspect="1"/>
          </p:cNvSpPr>
          <p:nvPr>
            <p:ph type="sldImg" idx="2"/>
          </p:nvPr>
        </p:nvSpPr>
        <p:spPr bwMode="auto"/>
      </p:sp>
      <p:sp>
        <p:nvSpPr>
          <p:cNvPr id="1685365130" name="文本占位符 2">
            <a:extLst>
              <a:ext uri="{FF2B5EF4-FFF2-40B4-BE49-F238E27FC236}">
                <a16:creationId xmlns:a16="http://schemas.microsoft.com/office/drawing/2014/main" id="{D08456FC-B18E-10B0-3E56-DAD5D77FD360}"/>
              </a:ext>
            </a:extLst>
          </p:cNvPr>
          <p:cNvSpPr>
            <a:spLocks noGrp="1"/>
          </p:cNvSpPr>
          <p:nvPr>
            <p:ph type="body" idx="3"/>
          </p:nvPr>
        </p:nvSpPr>
        <p:spPr bwMode="auto"/>
        <p:txBody>
          <a:bodyPr/>
          <a:lstStyle/>
          <a:p>
            <a:pPr>
              <a:defRPr/>
            </a:pPr>
            <a:endParaRPr lang="zh-CN"/>
          </a:p>
        </p:txBody>
      </p:sp>
    </p:spTree>
    <p:extLst>
      <p:ext uri="{BB962C8B-B14F-4D97-AF65-F5344CB8AC3E}">
        <p14:creationId xmlns:p14="http://schemas.microsoft.com/office/powerpoint/2010/main" val="11165854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93170259" name="幻灯片图像占位符 1"/>
          <p:cNvSpPr>
            <a:spLocks noGrp="1" noRot="1" noChangeAspect="1"/>
          </p:cNvSpPr>
          <p:nvPr>
            <p:ph type="sldImg" idx="2"/>
          </p:nvPr>
        </p:nvSpPr>
        <p:spPr bwMode="auto"/>
      </p:sp>
      <p:sp>
        <p:nvSpPr>
          <p:cNvPr id="1068843356" name="文本占位符 2"/>
          <p:cNvSpPr>
            <a:spLocks noGrp="1"/>
          </p:cNvSpPr>
          <p:nvPr>
            <p:ph type="body" idx="3"/>
          </p:nvPr>
        </p:nvSpPr>
        <p:spPr bwMode="auto"/>
        <p:txBody>
          <a:bodyPr/>
          <a:lstStyle/>
          <a:p>
            <a:pPr algn="l">
              <a:defRPr/>
            </a:pPr>
            <a:r>
              <a:rPr lang="en-US" altLang="zh-CN" dirty="0"/>
              <a:t>ISA</a:t>
            </a:r>
            <a:r>
              <a:rPr lang="zh-CN" altLang="en-US" dirty="0"/>
              <a:t>的</a:t>
            </a:r>
            <a:r>
              <a:rPr lang="en-US" altLang="zh-CN" dirty="0" err="1"/>
              <a:t>mk</a:t>
            </a:r>
            <a:r>
              <a:rPr lang="zh-CN" altLang="en-US" dirty="0"/>
              <a:t>文件解决目标代码编译指令集，怎么编译相关设置</a:t>
            </a:r>
            <a:endParaRPr lang="en-US" altLang="zh-CN" dirty="0"/>
          </a:p>
          <a:p>
            <a:pPr algn="l">
              <a:defRPr/>
            </a:pPr>
            <a:r>
              <a:rPr lang="en-US" altLang="zh-CN" dirty="0"/>
              <a:t>Platform</a:t>
            </a:r>
            <a:r>
              <a:rPr lang="zh-CN" altLang="en-US" dirty="0"/>
              <a:t>解决如何将目标文件链接位硬件平台能识别的可执行文件</a:t>
            </a:r>
            <a:endParaRPr lang="en-US" altLang="zh-CN" dirty="0"/>
          </a:p>
          <a:p>
            <a:pPr algn="l">
              <a:defRPr/>
            </a:pPr>
            <a:r>
              <a:rPr lang="en-US" altLang="zh-CN" dirty="0"/>
              <a:t>Isa-platform</a:t>
            </a:r>
            <a:r>
              <a:rPr lang="zh-CN" altLang="en-US" dirty="0"/>
              <a:t>解决，追加覆写一些个性化设置，例如指定编译源码范围，传递编译宏选择性编译源码的一部分。</a:t>
            </a:r>
            <a:endParaRPr lang="en-US" altLang="zh-CN" dirty="0"/>
          </a:p>
          <a:p>
            <a:pPr algn="l">
              <a:defRPr/>
            </a:pPr>
            <a:r>
              <a:rPr lang="en-US" altLang="zh-CN" dirty="0" err="1"/>
              <a:t>Klib</a:t>
            </a:r>
            <a:r>
              <a:rPr lang="zh-CN" altLang="en-US" dirty="0"/>
              <a:t>，最小的</a:t>
            </a:r>
            <a:r>
              <a:rPr lang="en-US" altLang="zh-CN" dirty="0" err="1"/>
              <a:t>libc</a:t>
            </a:r>
            <a:r>
              <a:rPr lang="zh-CN" altLang="en-US" dirty="0"/>
              <a:t>库函数，自定义</a:t>
            </a:r>
            <a:r>
              <a:rPr lang="en-US" altLang="zh-CN" dirty="0" err="1"/>
              <a:t>printf,memcpy,malloc</a:t>
            </a:r>
            <a:endParaRPr 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2122F-A3C5-4CD5-1308-0EED9ECD6149}"/>
            </a:ext>
          </a:extLst>
        </p:cNvPr>
        <p:cNvGrpSpPr/>
        <p:nvPr/>
      </p:nvGrpSpPr>
      <p:grpSpPr bwMode="auto">
        <a:xfrm>
          <a:off x="0" y="0"/>
          <a:ext cx="0" cy="0"/>
          <a:chOff x="0" y="0"/>
          <a:chExt cx="0" cy="0"/>
        </a:xfrm>
      </p:grpSpPr>
      <p:sp>
        <p:nvSpPr>
          <p:cNvPr id="1493170259" name="幻灯片图像占位符 1">
            <a:extLst>
              <a:ext uri="{FF2B5EF4-FFF2-40B4-BE49-F238E27FC236}">
                <a16:creationId xmlns:a16="http://schemas.microsoft.com/office/drawing/2014/main" id="{239D091F-E1F1-B302-8C07-C7E96B49936E}"/>
              </a:ext>
            </a:extLst>
          </p:cNvPr>
          <p:cNvSpPr>
            <a:spLocks noGrp="1" noRot="1" noChangeAspect="1"/>
          </p:cNvSpPr>
          <p:nvPr>
            <p:ph type="sldImg" idx="2"/>
          </p:nvPr>
        </p:nvSpPr>
        <p:spPr bwMode="auto"/>
      </p:sp>
      <p:sp>
        <p:nvSpPr>
          <p:cNvPr id="1068843356" name="文本占位符 2">
            <a:extLst>
              <a:ext uri="{FF2B5EF4-FFF2-40B4-BE49-F238E27FC236}">
                <a16:creationId xmlns:a16="http://schemas.microsoft.com/office/drawing/2014/main" id="{302085CF-CF3F-75FB-EAAC-72D847DDE1AE}"/>
              </a:ext>
            </a:extLst>
          </p:cNvPr>
          <p:cNvSpPr>
            <a:spLocks noGrp="1"/>
          </p:cNvSpPr>
          <p:nvPr>
            <p:ph type="body" idx="3"/>
          </p:nvPr>
        </p:nvSpPr>
        <p:spPr bwMode="auto"/>
        <p:txBody>
          <a:bodyPr/>
          <a:lstStyle/>
          <a:p>
            <a:pPr algn="l">
              <a:defRPr/>
            </a:pPr>
            <a:endParaRPr lang="zh-CN"/>
          </a:p>
        </p:txBody>
      </p:sp>
    </p:spTree>
    <p:extLst>
      <p:ext uri="{BB962C8B-B14F-4D97-AF65-F5344CB8AC3E}">
        <p14:creationId xmlns:p14="http://schemas.microsoft.com/office/powerpoint/2010/main" val="14389256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64153-C5A7-33E7-A2B2-2E399B0A9364}"/>
            </a:ext>
          </a:extLst>
        </p:cNvPr>
        <p:cNvGrpSpPr/>
        <p:nvPr/>
      </p:nvGrpSpPr>
      <p:grpSpPr bwMode="auto">
        <a:xfrm>
          <a:off x="0" y="0"/>
          <a:ext cx="0" cy="0"/>
          <a:chOff x="0" y="0"/>
          <a:chExt cx="0" cy="0"/>
        </a:xfrm>
      </p:grpSpPr>
      <p:sp>
        <p:nvSpPr>
          <p:cNvPr id="1493170259" name="幻灯片图像占位符 1">
            <a:extLst>
              <a:ext uri="{FF2B5EF4-FFF2-40B4-BE49-F238E27FC236}">
                <a16:creationId xmlns:a16="http://schemas.microsoft.com/office/drawing/2014/main" id="{A03A8558-25F9-4359-50DE-F792D1468C2C}"/>
              </a:ext>
            </a:extLst>
          </p:cNvPr>
          <p:cNvSpPr>
            <a:spLocks noGrp="1" noRot="1" noChangeAspect="1"/>
          </p:cNvSpPr>
          <p:nvPr>
            <p:ph type="sldImg" idx="2"/>
          </p:nvPr>
        </p:nvSpPr>
        <p:spPr bwMode="auto"/>
      </p:sp>
      <p:sp>
        <p:nvSpPr>
          <p:cNvPr id="1068843356" name="文本占位符 2">
            <a:extLst>
              <a:ext uri="{FF2B5EF4-FFF2-40B4-BE49-F238E27FC236}">
                <a16:creationId xmlns:a16="http://schemas.microsoft.com/office/drawing/2014/main" id="{570CFCD4-0A5D-B81E-8B5D-D8A4913BD95E}"/>
              </a:ext>
            </a:extLst>
          </p:cNvPr>
          <p:cNvSpPr>
            <a:spLocks noGrp="1"/>
          </p:cNvSpPr>
          <p:nvPr>
            <p:ph type="body" idx="3"/>
          </p:nvPr>
        </p:nvSpPr>
        <p:spPr bwMode="auto"/>
        <p:txBody>
          <a:bodyPr/>
          <a:lstStyle/>
          <a:p>
            <a:pPr algn="l">
              <a:defRPr/>
            </a:pPr>
            <a:endParaRPr lang="zh-CN" dirty="0"/>
          </a:p>
        </p:txBody>
      </p:sp>
    </p:spTree>
    <p:extLst>
      <p:ext uri="{BB962C8B-B14F-4D97-AF65-F5344CB8AC3E}">
        <p14:creationId xmlns:p14="http://schemas.microsoft.com/office/powerpoint/2010/main" val="28997577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0E36B-95FC-55F5-B46F-F3BEE83098DA}"/>
            </a:ext>
          </a:extLst>
        </p:cNvPr>
        <p:cNvGrpSpPr/>
        <p:nvPr/>
      </p:nvGrpSpPr>
      <p:grpSpPr bwMode="auto">
        <a:xfrm>
          <a:off x="0" y="0"/>
          <a:ext cx="0" cy="0"/>
          <a:chOff x="0" y="0"/>
          <a:chExt cx="0" cy="0"/>
        </a:xfrm>
      </p:grpSpPr>
      <p:sp>
        <p:nvSpPr>
          <p:cNvPr id="1493170259" name="幻灯片图像占位符 1">
            <a:extLst>
              <a:ext uri="{FF2B5EF4-FFF2-40B4-BE49-F238E27FC236}">
                <a16:creationId xmlns:a16="http://schemas.microsoft.com/office/drawing/2014/main" id="{385D10C8-FE6B-BE7E-F7E7-A6DD751C3D2C}"/>
              </a:ext>
            </a:extLst>
          </p:cNvPr>
          <p:cNvSpPr>
            <a:spLocks noGrp="1" noRot="1" noChangeAspect="1"/>
          </p:cNvSpPr>
          <p:nvPr>
            <p:ph type="sldImg" idx="2"/>
          </p:nvPr>
        </p:nvSpPr>
        <p:spPr bwMode="auto"/>
      </p:sp>
      <p:sp>
        <p:nvSpPr>
          <p:cNvPr id="1068843356" name="文本占位符 2">
            <a:extLst>
              <a:ext uri="{FF2B5EF4-FFF2-40B4-BE49-F238E27FC236}">
                <a16:creationId xmlns:a16="http://schemas.microsoft.com/office/drawing/2014/main" id="{B532A6B3-41D8-8BC6-514F-F5DB9199BFA4}"/>
              </a:ext>
            </a:extLst>
          </p:cNvPr>
          <p:cNvSpPr>
            <a:spLocks noGrp="1"/>
          </p:cNvSpPr>
          <p:nvPr>
            <p:ph type="body" idx="3"/>
          </p:nvPr>
        </p:nvSpPr>
        <p:spPr bwMode="auto"/>
        <p:txBody>
          <a:bodyPr/>
          <a:lstStyle/>
          <a:p>
            <a:pPr algn="l">
              <a:defRPr/>
            </a:pPr>
            <a:r>
              <a:rPr lang="zh-CN" altLang="en-US" dirty="0"/>
              <a:t>我的</a:t>
            </a:r>
            <a:r>
              <a:rPr lang="en-US" altLang="zh-CN" dirty="0"/>
              <a:t>NPC</a:t>
            </a:r>
            <a:r>
              <a:rPr lang="zh-CN" altLang="en-US" dirty="0"/>
              <a:t>在最早设计时，</a:t>
            </a:r>
            <a:r>
              <a:rPr lang="en-US" altLang="zh-CN" dirty="0"/>
              <a:t>D5</a:t>
            </a:r>
            <a:r>
              <a:rPr lang="zh-CN" altLang="en-US" dirty="0"/>
              <a:t>运行字符马里奥那会儿就是参考了教材上的这个单周期架构，后面是基于这个架构的微调工作</a:t>
            </a:r>
            <a:endParaRPr lang="en-US" altLang="zh-CN" dirty="0"/>
          </a:p>
          <a:p>
            <a:pPr algn="l">
              <a:defRPr/>
            </a:pPr>
            <a:r>
              <a:rPr lang="zh-CN" altLang="en-US" dirty="0"/>
              <a:t>数据流向：架构设计定义子模块如何划分定义，模块间如何连线，如</a:t>
            </a:r>
            <a:endParaRPr lang="en-US" altLang="zh-CN" dirty="0"/>
          </a:p>
          <a:p>
            <a:pPr algn="l">
              <a:defRPr/>
            </a:pPr>
            <a:r>
              <a:rPr lang="zh-CN" altLang="en-US" dirty="0"/>
              <a:t>何组合配置出数据流动的管线</a:t>
            </a:r>
            <a:endParaRPr lang="en-US" altLang="zh-CN" dirty="0"/>
          </a:p>
          <a:p>
            <a:pPr algn="l">
              <a:defRPr/>
            </a:pPr>
            <a:r>
              <a:rPr lang="zh-CN" altLang="en-US" dirty="0"/>
              <a:t>控制效果：管线连接完毕后，控制效果就是决定阀门时机，什么时候控制数据往哪流动</a:t>
            </a:r>
            <a:endParaRPr lang="en-US" altLang="zh-CN" dirty="0"/>
          </a:p>
          <a:p>
            <a:pPr algn="l">
              <a:defRPr/>
            </a:pPr>
            <a:endParaRPr lang="en-US" altLang="zh-CN" dirty="0"/>
          </a:p>
          <a:p>
            <a:pPr algn="l">
              <a:defRPr/>
            </a:pPr>
            <a:r>
              <a:rPr lang="zh-CN" altLang="en-US" dirty="0"/>
              <a:t>两者的最终目的是让数据流又快又不拥塞地通过这一管线。</a:t>
            </a:r>
            <a:endParaRPr lang="zh-CN" dirty="0"/>
          </a:p>
        </p:txBody>
      </p:sp>
    </p:spTree>
    <p:extLst>
      <p:ext uri="{BB962C8B-B14F-4D97-AF65-F5344CB8AC3E}">
        <p14:creationId xmlns:p14="http://schemas.microsoft.com/office/powerpoint/2010/main" val="37844423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5218A-C5C9-E1C1-8BC1-078DB53C80ED}"/>
            </a:ext>
          </a:extLst>
        </p:cNvPr>
        <p:cNvGrpSpPr/>
        <p:nvPr/>
      </p:nvGrpSpPr>
      <p:grpSpPr bwMode="auto">
        <a:xfrm>
          <a:off x="0" y="0"/>
          <a:ext cx="0" cy="0"/>
          <a:chOff x="0" y="0"/>
          <a:chExt cx="0" cy="0"/>
        </a:xfrm>
      </p:grpSpPr>
      <p:sp>
        <p:nvSpPr>
          <p:cNvPr id="1493170259" name="幻灯片图像占位符 1">
            <a:extLst>
              <a:ext uri="{FF2B5EF4-FFF2-40B4-BE49-F238E27FC236}">
                <a16:creationId xmlns:a16="http://schemas.microsoft.com/office/drawing/2014/main" id="{044E4B2C-0794-FDF7-AFA9-F264321FA3AF}"/>
              </a:ext>
            </a:extLst>
          </p:cNvPr>
          <p:cNvSpPr>
            <a:spLocks noGrp="1" noRot="1" noChangeAspect="1"/>
          </p:cNvSpPr>
          <p:nvPr>
            <p:ph type="sldImg" idx="2"/>
          </p:nvPr>
        </p:nvSpPr>
        <p:spPr bwMode="auto"/>
      </p:sp>
      <p:sp>
        <p:nvSpPr>
          <p:cNvPr id="1068843356" name="文本占位符 2">
            <a:extLst>
              <a:ext uri="{FF2B5EF4-FFF2-40B4-BE49-F238E27FC236}">
                <a16:creationId xmlns:a16="http://schemas.microsoft.com/office/drawing/2014/main" id="{F98B4221-2D19-0DC6-DC2A-146636A7750F}"/>
              </a:ext>
            </a:extLst>
          </p:cNvPr>
          <p:cNvSpPr>
            <a:spLocks noGrp="1"/>
          </p:cNvSpPr>
          <p:nvPr>
            <p:ph type="body" idx="3"/>
          </p:nvPr>
        </p:nvSpPr>
        <p:spPr bwMode="auto"/>
        <p:txBody>
          <a:bodyPr/>
          <a:lstStyle/>
          <a:p>
            <a:pPr algn="l">
              <a:defRPr/>
            </a:pPr>
            <a:r>
              <a:rPr lang="zh-CN" altLang="en-US" dirty="0"/>
              <a:t>这是我在读完打字游戏源码，结合前面软件调用链路的个人理解，梳理出的打字游戏软硬件协同流程</a:t>
            </a:r>
            <a:endParaRPr lang="zh-CN" dirty="0"/>
          </a:p>
        </p:txBody>
      </p:sp>
    </p:spTree>
    <p:extLst>
      <p:ext uri="{BB962C8B-B14F-4D97-AF65-F5344CB8AC3E}">
        <p14:creationId xmlns:p14="http://schemas.microsoft.com/office/powerpoint/2010/main" val="21609433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E407D-BAEC-D1A7-D821-A468F0DACCB2}"/>
            </a:ext>
          </a:extLst>
        </p:cNvPr>
        <p:cNvGrpSpPr/>
        <p:nvPr/>
      </p:nvGrpSpPr>
      <p:grpSpPr bwMode="auto">
        <a:xfrm>
          <a:off x="0" y="0"/>
          <a:ext cx="0" cy="0"/>
          <a:chOff x="0" y="0"/>
          <a:chExt cx="0" cy="0"/>
        </a:xfrm>
      </p:grpSpPr>
      <p:sp>
        <p:nvSpPr>
          <p:cNvPr id="1493170259" name="幻灯片图像占位符 1">
            <a:extLst>
              <a:ext uri="{FF2B5EF4-FFF2-40B4-BE49-F238E27FC236}">
                <a16:creationId xmlns:a16="http://schemas.microsoft.com/office/drawing/2014/main" id="{E7A0DD12-F5B6-6AE7-EACC-B79D1BCDFB3B}"/>
              </a:ext>
            </a:extLst>
          </p:cNvPr>
          <p:cNvSpPr>
            <a:spLocks noGrp="1" noRot="1" noChangeAspect="1"/>
          </p:cNvSpPr>
          <p:nvPr>
            <p:ph type="sldImg" idx="2"/>
          </p:nvPr>
        </p:nvSpPr>
        <p:spPr bwMode="auto"/>
      </p:sp>
      <p:sp>
        <p:nvSpPr>
          <p:cNvPr id="1068843356" name="文本占位符 2">
            <a:extLst>
              <a:ext uri="{FF2B5EF4-FFF2-40B4-BE49-F238E27FC236}">
                <a16:creationId xmlns:a16="http://schemas.microsoft.com/office/drawing/2014/main" id="{B4C9D65F-4E85-2A6D-1E4D-5103E7FEBC30}"/>
              </a:ext>
            </a:extLst>
          </p:cNvPr>
          <p:cNvSpPr>
            <a:spLocks noGrp="1"/>
          </p:cNvSpPr>
          <p:nvPr>
            <p:ph type="body" idx="3"/>
          </p:nvPr>
        </p:nvSpPr>
        <p:spPr bwMode="auto"/>
        <p:txBody>
          <a:bodyPr/>
          <a:lstStyle/>
          <a:p>
            <a:pPr algn="l">
              <a:defRPr/>
            </a:pPr>
            <a:r>
              <a:rPr lang="zh-CN" altLang="en-US" dirty="0"/>
              <a:t>观察方法主要还是读源码，但是在读打字游戏源码时让我联想起了</a:t>
            </a:r>
            <a:r>
              <a:rPr lang="en-US" altLang="zh-CN" dirty="0"/>
              <a:t>PA4</a:t>
            </a:r>
            <a:r>
              <a:rPr lang="zh-CN" altLang="en-US" dirty="0"/>
              <a:t>中仙剑游戏与状态机的联系，后来发现用状态机的思路套用在打字游戏上也完全行得通</a:t>
            </a:r>
            <a:endParaRPr lang="en-US" altLang="zh-CN" dirty="0"/>
          </a:p>
          <a:p>
            <a:pPr algn="l">
              <a:defRPr/>
            </a:pPr>
            <a:r>
              <a:rPr lang="zh-CN" altLang="en-US" dirty="0"/>
              <a:t>这让我想起了我的专业课控制理论中，所有控制系统的建模也是基于系统状态定义，系统状态方程建模，状态观测和状态控制。</a:t>
            </a:r>
            <a:endParaRPr lang="en-US" altLang="zh-CN" dirty="0"/>
          </a:p>
          <a:p>
            <a:pPr algn="l">
              <a:defRPr/>
            </a:pPr>
            <a:r>
              <a:rPr lang="zh-CN" altLang="en-US" dirty="0"/>
              <a:t>程序本质就是状态机的代码描述，计算机是状态机这一逻辑概念的晶体管实现</a:t>
            </a:r>
            <a:endParaRPr lang="en-US" altLang="zh-CN" dirty="0"/>
          </a:p>
          <a:p>
            <a:pPr algn="l">
              <a:defRPr/>
            </a:pPr>
            <a:r>
              <a:rPr lang="zh-CN" altLang="en-US" dirty="0"/>
              <a:t>状态机要素又和现代控制理论框架完美相符，殊途同归</a:t>
            </a:r>
            <a:endParaRPr lang="zh-CN" dirty="0"/>
          </a:p>
        </p:txBody>
      </p:sp>
    </p:spTree>
    <p:extLst>
      <p:ext uri="{BB962C8B-B14F-4D97-AF65-F5344CB8AC3E}">
        <p14:creationId xmlns:p14="http://schemas.microsoft.com/office/powerpoint/2010/main" val="29024614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666C8-4189-188C-A344-072C131832C1}"/>
            </a:ext>
          </a:extLst>
        </p:cNvPr>
        <p:cNvGrpSpPr/>
        <p:nvPr/>
      </p:nvGrpSpPr>
      <p:grpSpPr bwMode="auto">
        <a:xfrm>
          <a:off x="0" y="0"/>
          <a:ext cx="0" cy="0"/>
          <a:chOff x="0" y="0"/>
          <a:chExt cx="0" cy="0"/>
        </a:xfrm>
      </p:grpSpPr>
      <p:sp>
        <p:nvSpPr>
          <p:cNvPr id="1493170259" name="幻灯片图像占位符 1">
            <a:extLst>
              <a:ext uri="{FF2B5EF4-FFF2-40B4-BE49-F238E27FC236}">
                <a16:creationId xmlns:a16="http://schemas.microsoft.com/office/drawing/2014/main" id="{E4F9B82E-F307-9251-D6D5-1ADA869507D4}"/>
              </a:ext>
            </a:extLst>
          </p:cNvPr>
          <p:cNvSpPr>
            <a:spLocks noGrp="1" noRot="1" noChangeAspect="1"/>
          </p:cNvSpPr>
          <p:nvPr>
            <p:ph type="sldImg" idx="2"/>
          </p:nvPr>
        </p:nvSpPr>
        <p:spPr bwMode="auto"/>
      </p:sp>
      <p:sp>
        <p:nvSpPr>
          <p:cNvPr id="1068843356" name="文本占位符 2">
            <a:extLst>
              <a:ext uri="{FF2B5EF4-FFF2-40B4-BE49-F238E27FC236}">
                <a16:creationId xmlns:a16="http://schemas.microsoft.com/office/drawing/2014/main" id="{171A686A-698C-2AEB-372C-74E26335FEC3}"/>
              </a:ext>
            </a:extLst>
          </p:cNvPr>
          <p:cNvSpPr>
            <a:spLocks noGrp="1"/>
          </p:cNvSpPr>
          <p:nvPr>
            <p:ph type="body" idx="3"/>
          </p:nvPr>
        </p:nvSpPr>
        <p:spPr bwMode="auto"/>
        <p:txBody>
          <a:bodyPr/>
          <a:lstStyle/>
          <a:p>
            <a:pPr algn="l">
              <a:defRPr/>
            </a:pPr>
            <a:r>
              <a:rPr lang="zh-CN" altLang="en-US" dirty="0"/>
              <a:t>对打字游戏印象深刻的地方就是内部空间换时间的</a:t>
            </a:r>
            <a:r>
              <a:rPr lang="en-US" altLang="zh-CN" dirty="0"/>
              <a:t>tradeoff</a:t>
            </a:r>
            <a:r>
              <a:rPr lang="zh-CN" altLang="en-US" dirty="0"/>
              <a:t>，性能开销大的操作凑齐一波</a:t>
            </a:r>
            <a:r>
              <a:rPr lang="en-US" altLang="zh-CN" dirty="0"/>
              <a:t>batch</a:t>
            </a:r>
            <a:r>
              <a:rPr lang="zh-CN" altLang="en-US" dirty="0"/>
              <a:t>后再处理，这种思想贯穿于计算机学科</a:t>
            </a:r>
            <a:endParaRPr lang="zh-CN" dirty="0"/>
          </a:p>
        </p:txBody>
      </p:sp>
    </p:spTree>
    <p:extLst>
      <p:ext uri="{BB962C8B-B14F-4D97-AF65-F5344CB8AC3E}">
        <p14:creationId xmlns:p14="http://schemas.microsoft.com/office/powerpoint/2010/main" val="28648055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7483E-6F27-DF99-8925-ECCE3F1276DA}"/>
            </a:ext>
          </a:extLst>
        </p:cNvPr>
        <p:cNvGrpSpPr/>
        <p:nvPr/>
      </p:nvGrpSpPr>
      <p:grpSpPr bwMode="auto">
        <a:xfrm>
          <a:off x="0" y="0"/>
          <a:ext cx="0" cy="0"/>
          <a:chOff x="0" y="0"/>
          <a:chExt cx="0" cy="0"/>
        </a:xfrm>
      </p:grpSpPr>
      <p:sp>
        <p:nvSpPr>
          <p:cNvPr id="1493170259" name="幻灯片图像占位符 1">
            <a:extLst>
              <a:ext uri="{FF2B5EF4-FFF2-40B4-BE49-F238E27FC236}">
                <a16:creationId xmlns:a16="http://schemas.microsoft.com/office/drawing/2014/main" id="{59201323-9906-BE9F-AB56-C834D8F89C41}"/>
              </a:ext>
            </a:extLst>
          </p:cNvPr>
          <p:cNvSpPr>
            <a:spLocks noGrp="1" noRot="1" noChangeAspect="1"/>
          </p:cNvSpPr>
          <p:nvPr>
            <p:ph type="sldImg" idx="2"/>
          </p:nvPr>
        </p:nvSpPr>
        <p:spPr bwMode="auto"/>
      </p:sp>
      <p:sp>
        <p:nvSpPr>
          <p:cNvPr id="1068843356" name="文本占位符 2">
            <a:extLst>
              <a:ext uri="{FF2B5EF4-FFF2-40B4-BE49-F238E27FC236}">
                <a16:creationId xmlns:a16="http://schemas.microsoft.com/office/drawing/2014/main" id="{33D47116-DC2A-B9D5-2737-1B696E534EBD}"/>
              </a:ext>
            </a:extLst>
          </p:cNvPr>
          <p:cNvSpPr>
            <a:spLocks noGrp="1"/>
          </p:cNvSpPr>
          <p:nvPr>
            <p:ph type="body" idx="3"/>
          </p:nvPr>
        </p:nvSpPr>
        <p:spPr bwMode="auto"/>
        <p:txBody>
          <a:bodyPr/>
          <a:lstStyle/>
          <a:p>
            <a:pPr algn="l">
              <a:defRPr/>
            </a:pPr>
            <a:r>
              <a:rPr lang="zh-CN" altLang="en-US" dirty="0"/>
              <a:t>知道些大概，但是原理细节例如</a:t>
            </a:r>
            <a:r>
              <a:rPr lang="en-US" altLang="zh-CN" dirty="0"/>
              <a:t>elf</a:t>
            </a:r>
            <a:r>
              <a:rPr lang="zh-CN" altLang="en-US" dirty="0"/>
              <a:t>结构，</a:t>
            </a:r>
            <a:r>
              <a:rPr lang="en-US" altLang="zh-CN" dirty="0"/>
              <a:t>obj</a:t>
            </a:r>
            <a:r>
              <a:rPr lang="zh-CN" altLang="en-US" dirty="0"/>
              <a:t>文件结构，汇编，链接脚本，动态装载原理</a:t>
            </a:r>
            <a:endParaRPr lang="en-US" altLang="zh-CN" dirty="0"/>
          </a:p>
          <a:p>
            <a:pPr algn="l">
              <a:defRPr/>
            </a:pPr>
            <a:r>
              <a:rPr lang="en-US" altLang="zh-CN" dirty="0"/>
              <a:t>GNU</a:t>
            </a:r>
            <a:r>
              <a:rPr lang="zh-CN" altLang="en-US" dirty="0"/>
              <a:t>系统工具</a:t>
            </a:r>
            <a:r>
              <a:rPr lang="en-US" altLang="zh-CN" dirty="0"/>
              <a:t>make, </a:t>
            </a:r>
            <a:r>
              <a:rPr lang="en-US" altLang="zh-CN" dirty="0" err="1"/>
              <a:t>gdb,gcc,objdump,readelf,ld</a:t>
            </a:r>
            <a:r>
              <a:rPr lang="zh-CN" altLang="en-US" dirty="0"/>
              <a:t>还有各种</a:t>
            </a:r>
            <a:r>
              <a:rPr lang="en-US" altLang="zh-CN" dirty="0"/>
              <a:t>trace</a:t>
            </a:r>
            <a:r>
              <a:rPr lang="zh-CN" altLang="en-US" dirty="0"/>
              <a:t>工具不熟悉</a:t>
            </a:r>
            <a:endParaRPr lang="en-US" altLang="zh-CN" dirty="0"/>
          </a:p>
          <a:p>
            <a:pPr algn="l">
              <a:defRPr/>
            </a:pPr>
            <a:r>
              <a:rPr lang="zh-CN" altLang="en-US" dirty="0"/>
              <a:t>调试一些</a:t>
            </a:r>
            <a:r>
              <a:rPr lang="en-US" altLang="zh-CN" dirty="0"/>
              <a:t>BUG</a:t>
            </a:r>
            <a:r>
              <a:rPr lang="zh-CN" altLang="en-US" dirty="0"/>
              <a:t>，例如显示撕裂，段错误，</a:t>
            </a:r>
            <a:r>
              <a:rPr lang="en-US" altLang="zh-CN" dirty="0"/>
              <a:t>RT-thread</a:t>
            </a:r>
            <a:r>
              <a:rPr lang="zh-CN" altLang="en-US" dirty="0"/>
              <a:t>运行失败，根本原因还是原理以及代码框架的理解不够准确深刻</a:t>
            </a:r>
            <a:endParaRPr lang="en-US" altLang="zh-CN" dirty="0"/>
          </a:p>
          <a:p>
            <a:pPr algn="l">
              <a:defRPr/>
            </a:pPr>
            <a:r>
              <a:rPr lang="zh-CN" altLang="en-US" dirty="0"/>
              <a:t>大方向不能出错，不然效率很低，尽量通过</a:t>
            </a:r>
            <a:r>
              <a:rPr lang="en-US" altLang="zh-CN" dirty="0" err="1"/>
              <a:t>gdb</a:t>
            </a:r>
            <a:r>
              <a:rPr lang="en-US" altLang="zh-CN" dirty="0"/>
              <a:t>,</a:t>
            </a:r>
            <a:r>
              <a:rPr lang="zh-CN" altLang="en-US" dirty="0"/>
              <a:t>系统反汇编和</a:t>
            </a:r>
            <a:r>
              <a:rPr lang="en-US" altLang="zh-CN" dirty="0"/>
              <a:t>trace</a:t>
            </a:r>
            <a:r>
              <a:rPr lang="zh-CN" altLang="en-US" dirty="0"/>
              <a:t>工具</a:t>
            </a:r>
            <a:r>
              <a:rPr lang="en-US" altLang="zh-CN" dirty="0"/>
              <a:t>,</a:t>
            </a:r>
            <a:r>
              <a:rPr lang="en-US" altLang="zh-CN" dirty="0" err="1"/>
              <a:t>log,printf,assert</a:t>
            </a:r>
            <a:r>
              <a:rPr lang="zh-CN" altLang="en-US" dirty="0"/>
              <a:t>手段准确定位到问题</a:t>
            </a:r>
            <a:endParaRPr lang="en-US" altLang="zh-CN" dirty="0"/>
          </a:p>
          <a:p>
            <a:pPr algn="l">
              <a:defRPr/>
            </a:pPr>
            <a:r>
              <a:rPr lang="zh-CN" altLang="en-US" dirty="0"/>
              <a:t>定期梳理系统输出非常重要，一些以前半懂的源码在系统体系视角下就容易读懂了。</a:t>
            </a:r>
            <a:endParaRPr lang="en-US" altLang="zh-CN" dirty="0"/>
          </a:p>
        </p:txBody>
      </p:sp>
    </p:spTree>
    <p:extLst>
      <p:ext uri="{BB962C8B-B14F-4D97-AF65-F5344CB8AC3E}">
        <p14:creationId xmlns:p14="http://schemas.microsoft.com/office/powerpoint/2010/main" val="28776905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51111053" name="幻灯片图像占位符 1"/>
          <p:cNvSpPr>
            <a:spLocks noGrp="1" noRot="1" noChangeAspect="1"/>
          </p:cNvSpPr>
          <p:nvPr>
            <p:ph type="sldImg"/>
          </p:nvPr>
        </p:nvSpPr>
        <p:spPr bwMode="auto"/>
      </p:sp>
      <p:sp>
        <p:nvSpPr>
          <p:cNvPr id="1007067825" name="备注占位符 2"/>
          <p:cNvSpPr>
            <a:spLocks noGrp="1"/>
          </p:cNvSpPr>
          <p:nvPr>
            <p:ph type="body" idx="1"/>
          </p:nvPr>
        </p:nvSpPr>
        <p:spPr bwMode="auto"/>
        <p:txBody>
          <a:bodyPr/>
          <a:lstStyle/>
          <a:p>
            <a:pPr algn="l">
              <a:defRPr/>
            </a:pPr>
            <a:r>
              <a:rPr lang="zh-CN" altLang="en-US" dirty="0"/>
              <a:t>问题：</a:t>
            </a:r>
            <a:endParaRPr lang="en-US" altLang="zh-CN" dirty="0"/>
          </a:p>
          <a:p>
            <a:pPr algn="l">
              <a:defRPr/>
            </a:pPr>
            <a:r>
              <a:rPr lang="zh-CN" altLang="en-US" dirty="0"/>
              <a:t>流片节点和流片费用如何？</a:t>
            </a:r>
            <a:endParaRPr lang="en-US" altLang="zh-CN" dirty="0"/>
          </a:p>
          <a:p>
            <a:pPr algn="l">
              <a:defRPr/>
            </a:pPr>
            <a:endParaRPr lang="zh-CN" dirty="0"/>
          </a:p>
        </p:txBody>
      </p:sp>
      <p:sp>
        <p:nvSpPr>
          <p:cNvPr id="1831180766" name="灯片编号占位符 3"/>
          <p:cNvSpPr>
            <a:spLocks noGrp="1"/>
          </p:cNvSpPr>
          <p:nvPr>
            <p:ph type="sldNum" sz="quarter" idx="5"/>
          </p:nvPr>
        </p:nvSpPr>
        <p:spPr bwMode="auto"/>
        <p:txBody>
          <a:bodyPr/>
          <a:lstStyle/>
          <a:p>
            <a:pPr>
              <a:defRPr/>
            </a:pPr>
            <a:fld id="{78957953-4CC8-4E4A-AD2D-7A5A0B36E814}" type="slidenum">
              <a:rPr lang="en-US" altLang="zh-CN"/>
              <a:t>21</a:t>
            </a:fld>
            <a:endParaRPr 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3_标题幻灯片">
    <p:spTree>
      <p:nvGrpSpPr>
        <p:cNvPr id="1" name=""/>
        <p:cNvGrpSpPr/>
        <p:nvPr/>
      </p:nvGrpSpPr>
      <p:grpSpPr bwMode="auto">
        <a:xfrm>
          <a:off x="0" y="0"/>
          <a:ext cx="0" cy="0"/>
          <a:chOff x="0" y="0"/>
          <a:chExt cx="0" cy="0"/>
        </a:xfrm>
      </p:grpSpPr>
      <p:sp>
        <p:nvSpPr>
          <p:cNvPr id="363150164" name="日期占位符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C2CB708-664F-4770-AECF-BA1A1B220D57}" type="datetimeFigureOut">
              <a:rPr lang="en-US" altLang="zh-CN"/>
              <a:t>6/12/2026</a:t>
            </a:fld>
            <a:endParaRPr lang="zh-CN"/>
          </a:p>
        </p:txBody>
      </p:sp>
      <p:sp>
        <p:nvSpPr>
          <p:cNvPr id="1542203041" name="页脚占位符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p>
        </p:txBody>
      </p:sp>
      <p:sp>
        <p:nvSpPr>
          <p:cNvPr id="1909594238" name="灯片编号占位符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1DDFDCD-830D-4E78-9097-B6B92A67D61F}"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4_标题幻灯片">
    <p:spTree>
      <p:nvGrpSpPr>
        <p:cNvPr id="1" name=""/>
        <p:cNvGrpSpPr/>
        <p:nvPr/>
      </p:nvGrpSpPr>
      <p:grpSpPr bwMode="auto">
        <a:xfrm>
          <a:off x="0" y="0"/>
          <a:ext cx="0" cy="0"/>
          <a:chOff x="0" y="0"/>
          <a:chExt cx="0" cy="0"/>
        </a:xfrm>
      </p:grpSpPr>
      <p:sp>
        <p:nvSpPr>
          <p:cNvPr id="684891071" name="文本占位符 13"/>
          <p:cNvSpPr>
            <a:spLocks noGrp="1"/>
          </p:cNvSpPr>
          <p:nvPr userDrawn="1">
            <p:ph type="body" sz="quarter" idx="12" hasCustomPrompt="1"/>
          </p:nvPr>
        </p:nvSpPr>
        <p:spPr bwMode="auto">
          <a:xfrm>
            <a:off x="3522387" y="2973614"/>
            <a:ext cx="5147224" cy="830997"/>
          </a:xfrm>
          <a:prstGeom prst="rect">
            <a:avLst/>
          </a:prstGeom>
        </p:spPr>
        <p:txBody>
          <a:bodyPr wrap="square" lIns="0" tIns="0" rIns="0" bIns="0">
            <a:spAutoFit/>
          </a:bodyPr>
          <a:lstStyle>
            <a:lvl1pPr marL="0" indent="0" algn="ctr">
              <a:buNone/>
              <a:defRPr lang="zh-CN" sz="6000" b="1" spc="600">
                <a:solidFill>
                  <a:schemeClr val="accent1"/>
                </a:solidFill>
                <a:latin typeface="+mj-ea"/>
                <a:ea typeface="+mj-ea"/>
              </a:defRPr>
            </a:lvl1pPr>
          </a:lstStyle>
          <a:p>
            <a:pPr marL="0" lvl="0" algn="just">
              <a:defRPr/>
            </a:pPr>
            <a:r>
              <a:rPr lang="zh-CN"/>
              <a:t>输入标题</a:t>
            </a:r>
          </a:p>
        </p:txBody>
      </p:sp>
      <p:sp>
        <p:nvSpPr>
          <p:cNvPr id="792329390" name="文本占位符 15"/>
          <p:cNvSpPr>
            <a:spLocks noGrp="1"/>
          </p:cNvSpPr>
          <p:nvPr>
            <p:ph type="body" sz="quarter" idx="10" hasCustomPrompt="1"/>
          </p:nvPr>
        </p:nvSpPr>
        <p:spPr bwMode="auto">
          <a:xfrm>
            <a:off x="5645556" y="1886726"/>
            <a:ext cx="900888" cy="830997"/>
          </a:xfrm>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extrusionOk="0">
                <a:moveTo>
                  <a:pt x="0" y="0"/>
                </a:moveTo>
                <a:lnTo>
                  <a:pt x="65" y="0"/>
                </a:lnTo>
                <a:lnTo>
                  <a:pt x="65" y="276999"/>
                </a:lnTo>
                <a:lnTo>
                  <a:pt x="0" y="276999"/>
                </a:lnTo>
                <a:close/>
              </a:path>
            </a:pathLst>
          </a:custGeom>
        </p:spPr>
        <p:txBody>
          <a:bodyPr wrap="none" lIns="0" tIns="0" rIns="0" bIns="0">
            <a:spAutoFit/>
          </a:bodyPr>
          <a:lstStyle>
            <a:lvl1pPr marL="0" indent="0" algn="ctr">
              <a:buNone/>
              <a:defRPr lang="zh-CN" sz="6000" spc="0">
                <a:solidFill>
                  <a:schemeClr val="tx1"/>
                </a:solidFill>
                <a:latin typeface="+mn-ea"/>
                <a:ea typeface="+mn-ea"/>
              </a:defRPr>
            </a:lvl1pPr>
          </a:lstStyle>
          <a:p>
            <a:pPr marL="0" lvl="0" algn="just">
              <a:defRPr/>
            </a:pPr>
            <a:r>
              <a:rPr lang="en-US"/>
              <a:t>01</a:t>
            </a:r>
            <a:endParaRPr lang="zh-CN"/>
          </a:p>
        </p:txBody>
      </p:sp>
      <p:sp>
        <p:nvSpPr>
          <p:cNvPr id="1235180669" name="日期占位符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C2CB708-664F-4770-AECF-BA1A1B220D57}" type="datetimeFigureOut">
              <a:rPr lang="en-US" altLang="zh-CN"/>
              <a:t>6/12/2026</a:t>
            </a:fld>
            <a:endParaRPr lang="zh-CN"/>
          </a:p>
        </p:txBody>
      </p:sp>
      <p:sp>
        <p:nvSpPr>
          <p:cNvPr id="95958442" name="页脚占位符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p>
        </p:txBody>
      </p:sp>
      <p:sp>
        <p:nvSpPr>
          <p:cNvPr id="860290265" name="灯片编号占位符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1DDFDCD-830D-4E78-9097-B6B92A67D61F}" type="slidenum">
              <a:rPr lang="en-US" altLang="zh-CN"/>
              <a:t>‹#›</a:t>
            </a:fld>
            <a:endParaRPr lang="zh-CN"/>
          </a:p>
        </p:txBody>
      </p:sp>
      <p:sp>
        <p:nvSpPr>
          <p:cNvPr id="869223686" name="文本占位符 3"/>
          <p:cNvSpPr>
            <a:spLocks noGrp="1"/>
          </p:cNvSpPr>
          <p:nvPr>
            <p:ph type="body" sz="quarter" idx="15" hasCustomPrompt="1"/>
          </p:nvPr>
        </p:nvSpPr>
        <p:spPr bwMode="auto">
          <a:xfrm>
            <a:off x="3808178" y="2645581"/>
            <a:ext cx="4575642" cy="259267"/>
          </a:xfrm>
          <a:prstGeom prst="rect">
            <a:avLst/>
          </a:prstGeom>
        </p:spPr>
        <p:txBody>
          <a:bodyPr lIns="0" tIns="0" rIns="0" bIns="0"/>
          <a:lstStyle>
            <a:lvl1pPr marL="0" indent="0" algn="ctr">
              <a:lnSpc>
                <a:spcPct val="130000"/>
              </a:lnSpc>
              <a:spcBef>
                <a:spcPts val="0"/>
              </a:spcBef>
              <a:buNone/>
              <a:defRPr sz="1200" spc="300">
                <a:latin typeface="+mn-ea"/>
                <a:ea typeface="+mn-ea"/>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defRPr/>
            </a:pPr>
            <a:r>
              <a:rPr lang="en-US"/>
              <a:t>PART ONE</a:t>
            </a:r>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2_标题幻灯片">
    <p:bg>
      <p:bgPr>
        <a:solidFill>
          <a:schemeClr val="bg1"/>
        </a:solidFill>
        <a:effectLst/>
      </p:bgPr>
    </p:bg>
    <p:spTree>
      <p:nvGrpSpPr>
        <p:cNvPr id="1" name=""/>
        <p:cNvGrpSpPr/>
        <p:nvPr/>
      </p:nvGrpSpPr>
      <p:grpSpPr bwMode="auto">
        <a:xfrm>
          <a:off x="0" y="0"/>
          <a:ext cx="0" cy="0"/>
          <a:chOff x="0" y="0"/>
          <a:chExt cx="0" cy="0"/>
        </a:xfrm>
      </p:grpSpPr>
      <p:sp>
        <p:nvSpPr>
          <p:cNvPr id="1561081454" name="标题 1"/>
          <p:cNvSpPr>
            <a:spLocks noGrp="1"/>
          </p:cNvSpPr>
          <p:nvPr>
            <p:ph type="title" hasCustomPrompt="1"/>
          </p:nvPr>
        </p:nvSpPr>
        <p:spPr bwMode="auto">
          <a:xfrm>
            <a:off x="442913" y="873125"/>
            <a:ext cx="4869867" cy="405102"/>
          </a:xfrm>
          <a:prstGeom prst="rect">
            <a:avLst/>
          </a:prstGeom>
        </p:spPr>
        <p:txBody>
          <a:bodyPr wrap="square" lIns="72000" tIns="36000" rIns="72000" bIns="36000">
            <a:spAutoFit/>
          </a:bodyPr>
          <a:lstStyle>
            <a:lvl1pPr algn="l">
              <a:defRPr lang="zh-CN" sz="2400" b="1" spc="0">
                <a:solidFill>
                  <a:schemeClr val="accent1"/>
                </a:solidFill>
                <a:latin typeface="+mj-ea"/>
                <a:ea typeface="+mj-ea"/>
                <a:cs typeface="+mn-cs"/>
              </a:defRPr>
            </a:lvl1pPr>
          </a:lstStyle>
          <a:p>
            <a:pPr marL="0" lvl="0" algn="just">
              <a:defRPr/>
            </a:pPr>
            <a:r>
              <a:rPr lang="zh-CN"/>
              <a:t>单击此处标题</a:t>
            </a:r>
          </a:p>
        </p:txBody>
      </p:sp>
      <p:sp>
        <p:nvSpPr>
          <p:cNvPr id="463061329" name="日期占位符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C2CB708-664F-4770-AECF-BA1A1B220D57}" type="datetimeFigureOut">
              <a:rPr lang="en-US" altLang="zh-CN"/>
              <a:t>6/12/2026</a:t>
            </a:fld>
            <a:endParaRPr lang="zh-CN"/>
          </a:p>
        </p:txBody>
      </p:sp>
      <p:sp>
        <p:nvSpPr>
          <p:cNvPr id="1559722238" name="页脚占位符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p>
        </p:txBody>
      </p:sp>
      <p:sp>
        <p:nvSpPr>
          <p:cNvPr id="2106961108" name="灯片编号占位符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1DDFDCD-830D-4E78-9097-B6B92A67D61F}"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5_标题幻灯片">
    <p:bg>
      <p:bgPr>
        <a:solidFill>
          <a:schemeClr val="bg1"/>
        </a:solidFill>
        <a:effectLst/>
      </p:bgPr>
    </p:bg>
    <p:spTree>
      <p:nvGrpSpPr>
        <p:cNvPr id="1" name=""/>
        <p:cNvGrpSpPr/>
        <p:nvPr/>
      </p:nvGrpSpPr>
      <p:grpSpPr bwMode="auto">
        <a:xfrm>
          <a:off x="0" y="0"/>
          <a:ext cx="0" cy="0"/>
          <a:chOff x="0" y="0"/>
          <a:chExt cx="0" cy="0"/>
        </a:xfrm>
      </p:grpSpPr>
      <p:sp>
        <p:nvSpPr>
          <p:cNvPr id="408463662" name="标题 1"/>
          <p:cNvSpPr>
            <a:spLocks noGrp="1"/>
          </p:cNvSpPr>
          <p:nvPr>
            <p:ph type="title" hasCustomPrompt="1"/>
          </p:nvPr>
        </p:nvSpPr>
        <p:spPr bwMode="auto">
          <a:xfrm>
            <a:off x="442913" y="873125"/>
            <a:ext cx="6038910" cy="405102"/>
          </a:xfrm>
          <a:prstGeom prst="rect">
            <a:avLst/>
          </a:prstGeom>
        </p:spPr>
        <p:txBody>
          <a:bodyPr wrap="square" lIns="72000" tIns="36000" rIns="72000" bIns="36000">
            <a:spAutoFit/>
          </a:bodyPr>
          <a:lstStyle>
            <a:lvl1pPr algn="l">
              <a:defRPr lang="zh-CN" sz="2400" b="1" spc="0">
                <a:solidFill>
                  <a:schemeClr val="accent1"/>
                </a:solidFill>
                <a:latin typeface="+mj-ea"/>
                <a:ea typeface="+mj-ea"/>
                <a:cs typeface="+mn-cs"/>
              </a:defRPr>
            </a:lvl1pPr>
          </a:lstStyle>
          <a:p>
            <a:pPr marL="0" lvl="0" algn="just">
              <a:defRPr/>
            </a:pPr>
            <a:r>
              <a:rPr lang="zh-CN"/>
              <a:t>单击此处标题</a:t>
            </a:r>
          </a:p>
        </p:txBody>
      </p:sp>
      <p:sp>
        <p:nvSpPr>
          <p:cNvPr id="267515754" name="日期占位符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C2CB708-664F-4770-AECF-BA1A1B220D57}" type="datetimeFigureOut">
              <a:rPr lang="en-US" altLang="zh-CN"/>
              <a:t>6/12/2026</a:t>
            </a:fld>
            <a:endParaRPr lang="zh-CN"/>
          </a:p>
        </p:txBody>
      </p:sp>
      <p:sp>
        <p:nvSpPr>
          <p:cNvPr id="839902616" name="页脚占位符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p>
        </p:txBody>
      </p:sp>
      <p:sp>
        <p:nvSpPr>
          <p:cNvPr id="2052576982" name="灯片编号占位符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1DDFDCD-830D-4E78-9097-B6B92A67D61F}"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6_标题幻灯片">
    <p:bg>
      <p:bgPr>
        <a:solidFill>
          <a:schemeClr val="bg1"/>
        </a:solidFill>
        <a:effectLst/>
      </p:bgPr>
    </p:bg>
    <p:spTree>
      <p:nvGrpSpPr>
        <p:cNvPr id="1" name=""/>
        <p:cNvGrpSpPr/>
        <p:nvPr/>
      </p:nvGrpSpPr>
      <p:grpSpPr bwMode="auto">
        <a:xfrm>
          <a:off x="0" y="0"/>
          <a:ext cx="0" cy="0"/>
          <a:chOff x="0" y="0"/>
          <a:chExt cx="0" cy="0"/>
        </a:xfrm>
      </p:grpSpPr>
      <p:sp>
        <p:nvSpPr>
          <p:cNvPr id="392858017" name="标题 1"/>
          <p:cNvSpPr>
            <a:spLocks noGrp="1"/>
          </p:cNvSpPr>
          <p:nvPr>
            <p:ph type="title" hasCustomPrompt="1"/>
          </p:nvPr>
        </p:nvSpPr>
        <p:spPr bwMode="auto">
          <a:xfrm>
            <a:off x="442913" y="873125"/>
            <a:ext cx="6119933" cy="405102"/>
          </a:xfrm>
          <a:prstGeom prst="rect">
            <a:avLst/>
          </a:prstGeom>
        </p:spPr>
        <p:txBody>
          <a:bodyPr wrap="square" lIns="72000" tIns="36000" rIns="72000" bIns="36000">
            <a:spAutoFit/>
          </a:bodyPr>
          <a:lstStyle>
            <a:lvl1pPr algn="l">
              <a:defRPr lang="zh-CN" sz="2400" b="1" spc="0">
                <a:solidFill>
                  <a:schemeClr val="accent1"/>
                </a:solidFill>
                <a:latin typeface="+mj-ea"/>
                <a:ea typeface="+mj-ea"/>
                <a:cs typeface="+mn-cs"/>
              </a:defRPr>
            </a:lvl1pPr>
          </a:lstStyle>
          <a:p>
            <a:pPr marL="0" lvl="0" algn="just">
              <a:defRPr/>
            </a:pPr>
            <a:r>
              <a:rPr lang="zh-CN"/>
              <a:t>单击此处标题</a:t>
            </a:r>
          </a:p>
        </p:txBody>
      </p:sp>
      <p:sp>
        <p:nvSpPr>
          <p:cNvPr id="1277139142" name="日期占位符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C2CB708-664F-4770-AECF-BA1A1B220D57}" type="datetimeFigureOut">
              <a:rPr lang="en-US" altLang="zh-CN"/>
              <a:t>6/12/2026</a:t>
            </a:fld>
            <a:endParaRPr lang="zh-CN"/>
          </a:p>
        </p:txBody>
      </p:sp>
      <p:sp>
        <p:nvSpPr>
          <p:cNvPr id="744516698" name="页脚占位符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p>
        </p:txBody>
      </p:sp>
      <p:sp>
        <p:nvSpPr>
          <p:cNvPr id="534246754" name="灯片编号占位符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1DDFDCD-830D-4E78-9097-B6B92A67D61F}"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7_标题幻灯片">
    <p:bg>
      <p:bgPr>
        <a:solidFill>
          <a:schemeClr val="bg1"/>
        </a:solidFill>
        <a:effectLst/>
      </p:bgPr>
    </p:bg>
    <p:spTree>
      <p:nvGrpSpPr>
        <p:cNvPr id="1" name=""/>
        <p:cNvGrpSpPr/>
        <p:nvPr/>
      </p:nvGrpSpPr>
      <p:grpSpPr bwMode="auto">
        <a:xfrm>
          <a:off x="0" y="0"/>
          <a:ext cx="0" cy="0"/>
          <a:chOff x="0" y="0"/>
          <a:chExt cx="0" cy="0"/>
        </a:xfrm>
      </p:grpSpPr>
      <p:sp>
        <p:nvSpPr>
          <p:cNvPr id="264098175" name="标题 1"/>
          <p:cNvSpPr>
            <a:spLocks noGrp="1"/>
          </p:cNvSpPr>
          <p:nvPr>
            <p:ph type="title" hasCustomPrompt="1"/>
          </p:nvPr>
        </p:nvSpPr>
        <p:spPr bwMode="auto">
          <a:xfrm>
            <a:off x="442913" y="873125"/>
            <a:ext cx="6027335" cy="405102"/>
          </a:xfrm>
          <a:prstGeom prst="rect">
            <a:avLst/>
          </a:prstGeom>
        </p:spPr>
        <p:txBody>
          <a:bodyPr wrap="square" lIns="72000" tIns="36000" rIns="72000" bIns="36000">
            <a:spAutoFit/>
          </a:bodyPr>
          <a:lstStyle>
            <a:lvl1pPr algn="l">
              <a:defRPr lang="zh-CN" sz="2400" b="1" spc="0">
                <a:solidFill>
                  <a:schemeClr val="accent1"/>
                </a:solidFill>
                <a:latin typeface="+mj-ea"/>
                <a:ea typeface="+mj-ea"/>
                <a:cs typeface="+mn-cs"/>
              </a:defRPr>
            </a:lvl1pPr>
          </a:lstStyle>
          <a:p>
            <a:pPr marL="0" lvl="0" algn="just">
              <a:defRPr/>
            </a:pPr>
            <a:r>
              <a:rPr lang="zh-CN"/>
              <a:t>单击此处标题</a:t>
            </a:r>
          </a:p>
        </p:txBody>
      </p:sp>
      <p:sp>
        <p:nvSpPr>
          <p:cNvPr id="261451757" name="日期占位符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C2CB708-664F-4770-AECF-BA1A1B220D57}" type="datetimeFigureOut">
              <a:rPr lang="en-US" altLang="zh-CN"/>
              <a:t>6/12/2026</a:t>
            </a:fld>
            <a:endParaRPr lang="zh-CN"/>
          </a:p>
        </p:txBody>
      </p:sp>
      <p:sp>
        <p:nvSpPr>
          <p:cNvPr id="1241557130" name="页脚占位符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p>
        </p:txBody>
      </p:sp>
      <p:sp>
        <p:nvSpPr>
          <p:cNvPr id="592144149" name="灯片编号占位符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1DDFDCD-830D-4E78-9097-B6B92A67D61F}" type="slidenum">
              <a:rPr lang="en-US" altLang="zh-CN"/>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bwMode="auto">
        <a:xfrm>
          <a:off x="0" y="0"/>
          <a:ext cx="0" cy="0"/>
          <a:chOff x="0" y="0"/>
          <a:chExt cx="0" cy="0"/>
        </a:xfrm>
      </p:grpSpPr>
      <p:sp>
        <p:nvSpPr>
          <p:cNvPr id="274970827" name="日期占位符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C2CB708-664F-4770-AECF-BA1A1B220D57}" type="datetimeFigureOut">
              <a:rPr lang="en-US" altLang="zh-CN"/>
              <a:t>6/12/2026</a:t>
            </a:fld>
            <a:endParaRPr lang="zh-CN"/>
          </a:p>
        </p:txBody>
      </p:sp>
      <p:sp>
        <p:nvSpPr>
          <p:cNvPr id="1045442662" name="页脚占位符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p>
        </p:txBody>
      </p:sp>
      <p:sp>
        <p:nvSpPr>
          <p:cNvPr id="667687000" name="灯片编号占位符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1DDFDCD-830D-4E78-9097-B6B92A67D61F}" type="slidenum">
              <a:rPr lang="en-US" altLang="zh-CN"/>
              <a:t>‹#›</a:t>
            </a:fld>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blipFill rotWithShape="1">
          <a:blip r:embed="rId3"/>
          <a:stretch/>
        </a:blipFill>
        <a:effectLst/>
      </p:bgPr>
    </p:bg>
    <p:spTree>
      <p:nvGrpSpPr>
        <p:cNvPr id="1" name=""/>
        <p:cNvGrpSpPr/>
        <p:nvPr/>
      </p:nvGrpSpPr>
      <p:grpSpPr bwMode="auto">
        <a:xfrm>
          <a:off x="0" y="0"/>
          <a:ext cx="0" cy="0"/>
          <a:chOff x="0" y="0"/>
          <a:chExt cx="0" cy="0"/>
        </a:xfrm>
      </p:grpSpPr>
      <p:sp>
        <p:nvSpPr>
          <p:cNvPr id="1647277290" name="powerpoint template design by DAJU_PPT正版来源小红书大橘PPT微信DAJU_PPT请勿抄袭搬运！盗版必究！"/>
          <p:cNvSpPr txBox="1"/>
          <p:nvPr/>
        </p:nvSpPr>
        <p:spPr bwMode="auto">
          <a:xfrm>
            <a:off x="3806190" y="4141148"/>
            <a:ext cx="3657600" cy="391626"/>
          </a:xfrm>
          <a:prstGeom prst="roundRect">
            <a:avLst>
              <a:gd name="adj" fmla="val 50000"/>
            </a:avLst>
          </a:prstGeom>
          <a:noFill/>
          <a:ln>
            <a:solidFill>
              <a:schemeClr val="accent2"/>
            </a:solidFill>
          </a:ln>
        </p:spPr>
        <p:txBody>
          <a:bodyPr wrap="square" lIns="0" tIns="0" rIns="0" bIns="0" anchor="ctr" anchorCtr="0">
            <a:noAutofit/>
          </a:bodyPr>
          <a:lstStyle>
            <a:defPPr>
              <a:defRPr lang="zh-CN"/>
            </a:defPPr>
            <a:lvl1pPr algn="just">
              <a:defRPr sz="1600" b="0" i="0">
                <a:solidFill>
                  <a:schemeClr val="accent5">
                    <a:lumMod val="50000"/>
                  </a:schemeClr>
                </a:solidFill>
                <a:latin typeface="+mn-ea"/>
              </a:defRPr>
            </a:lvl1pPr>
          </a:lstStyle>
          <a:p>
            <a:pPr algn="ctr">
              <a:defRPr/>
            </a:pPr>
            <a:r>
              <a:rPr lang="zh-CN" sz="1800">
                <a:solidFill>
                  <a:schemeClr val="tx1"/>
                </a:solidFill>
                <a:latin typeface="+mn-lt"/>
                <a:cs typeface="+mn-ea"/>
              </a:rPr>
              <a:t>学校：国防科技大学</a:t>
            </a:r>
          </a:p>
        </p:txBody>
      </p:sp>
      <p:sp>
        <p:nvSpPr>
          <p:cNvPr id="1037758390" name="powerpoint template design by DAJU_PPT正版来源小红书大橘PPT微信DAJU_PPT请勿抄袭搬运！盗版必究！"/>
          <p:cNvSpPr txBox="1"/>
          <p:nvPr/>
        </p:nvSpPr>
        <p:spPr bwMode="auto">
          <a:xfrm>
            <a:off x="3806190" y="3599424"/>
            <a:ext cx="3657600" cy="391626"/>
          </a:xfrm>
          <a:prstGeom prst="roundRect">
            <a:avLst>
              <a:gd name="adj" fmla="val 50000"/>
            </a:avLst>
          </a:prstGeom>
          <a:noFill/>
          <a:ln>
            <a:solidFill>
              <a:schemeClr val="accent2"/>
            </a:solidFill>
          </a:ln>
        </p:spPr>
        <p:txBody>
          <a:bodyPr wrap="square" lIns="0" tIns="0" rIns="0" bIns="0" anchor="ctr" anchorCtr="0">
            <a:noAutofit/>
          </a:bodyPr>
          <a:lstStyle>
            <a:defPPr>
              <a:defRPr lang="zh-CN"/>
            </a:defPPr>
            <a:lvl1pPr algn="just">
              <a:defRPr sz="1600" b="0" i="0">
                <a:solidFill>
                  <a:schemeClr val="accent5">
                    <a:lumMod val="50000"/>
                  </a:schemeClr>
                </a:solidFill>
                <a:latin typeface="+mn-ea"/>
              </a:defRPr>
            </a:lvl1pPr>
          </a:lstStyle>
          <a:p>
            <a:pPr algn="ctr">
              <a:defRPr/>
            </a:pPr>
            <a:r>
              <a:rPr lang="zh-CN" sz="1800">
                <a:solidFill>
                  <a:schemeClr val="tx1"/>
                </a:solidFill>
                <a:latin typeface="+mn-lt"/>
                <a:cs typeface="+mn-ea"/>
              </a:rPr>
              <a:t>姓名：</a:t>
            </a:r>
            <a:r>
              <a:rPr lang="en-US" sz="1800">
                <a:solidFill>
                  <a:schemeClr val="tx1"/>
                </a:solidFill>
                <a:latin typeface="Arial"/>
                <a:cs typeface="微软雅黑"/>
              </a:rPr>
              <a:t>李文杰</a:t>
            </a:r>
            <a:endParaRPr lang="zh-CN" sz="1800">
              <a:solidFill>
                <a:schemeClr val="tx1"/>
              </a:solidFill>
              <a:latin typeface="+mn-lt"/>
              <a:cs typeface="+mn-ea"/>
            </a:endParaRPr>
          </a:p>
        </p:txBody>
      </p:sp>
      <p:sp>
        <p:nvSpPr>
          <p:cNvPr id="846039884" name="powerpoint template design by DAJU_PPT正版来源小红书大橘PPT微信DAJU_PPT请勿抄袭搬运！盗版必究！"/>
          <p:cNvSpPr txBox="1"/>
          <p:nvPr/>
        </p:nvSpPr>
        <p:spPr bwMode="auto">
          <a:xfrm>
            <a:off x="-304800" y="2420620"/>
            <a:ext cx="11108055" cy="706755"/>
          </a:xfrm>
          <a:prstGeom prst="rect">
            <a:avLst/>
          </a:prstGeom>
          <a:noFill/>
        </p:spPr>
        <p:txBody>
          <a:bodyPr wrap="square" rtlCol="0">
            <a:spAutoFit/>
          </a:bodyPr>
          <a:lstStyle/>
          <a:p>
            <a:pPr lvl="3" algn="ctr">
              <a:defRPr/>
            </a:pPr>
            <a:r>
              <a:rPr lang="en-US" sz="3200" b="1" spc="-150">
                <a:cs typeface="+mn-ea"/>
              </a:rPr>
              <a:t>——</a:t>
            </a:r>
            <a:r>
              <a:rPr lang="zh-CN" sz="4000" b="1" spc="300">
                <a:cs typeface="+mn-ea"/>
              </a:rPr>
              <a:t> 一生一芯</a:t>
            </a:r>
            <a:r>
              <a:rPr lang="en-US" sz="4000" b="1" spc="300">
                <a:cs typeface="+mn-ea"/>
              </a:rPr>
              <a:t>C</a:t>
            </a:r>
            <a:r>
              <a:rPr lang="zh-CN" sz="4000" b="1" spc="300">
                <a:cs typeface="+mn-ea"/>
              </a:rPr>
              <a:t>阶段结业答辩</a:t>
            </a:r>
            <a:r>
              <a:rPr lang="en-US" sz="4000" b="1" spc="300">
                <a:cs typeface="+mn-ea"/>
              </a:rPr>
              <a:t> </a:t>
            </a:r>
            <a:r>
              <a:rPr lang="en-US" sz="3200" b="1" spc="-150">
                <a:cs typeface="+mn-ea"/>
              </a:rPr>
              <a:t>——</a:t>
            </a:r>
          </a:p>
        </p:txBody>
      </p:sp>
      <p:sp>
        <p:nvSpPr>
          <p:cNvPr id="382231923" name="powerpoint template design by DAJU_PPT正版来源小红书大橘PPT微信DAJU_PPT请勿抄袭搬运！盗版必究！"/>
          <p:cNvSpPr txBox="1"/>
          <p:nvPr/>
        </p:nvSpPr>
        <p:spPr bwMode="auto">
          <a:xfrm>
            <a:off x="2407920" y="6249873"/>
            <a:ext cx="7376160" cy="307777"/>
          </a:xfrm>
          <a:prstGeom prst="rect">
            <a:avLst/>
          </a:prstGeom>
          <a:noFill/>
        </p:spPr>
        <p:txBody>
          <a:bodyPr wrap="square">
            <a:spAutoFit/>
          </a:bodyPr>
          <a:lstStyle/>
          <a:p>
            <a:pPr algn="ctr">
              <a:defRPr/>
            </a:pPr>
            <a:r>
              <a:rPr lang="en-US" sz="1400">
                <a:solidFill>
                  <a:schemeClr val="bg1"/>
                </a:solidFill>
                <a:cs typeface="+mn-ea"/>
              </a:rPr>
              <a:t>——</a:t>
            </a:r>
            <a:r>
              <a:rPr lang="en-US" sz="1400" spc="300">
                <a:solidFill>
                  <a:schemeClr val="bg1"/>
                </a:solidFill>
                <a:cs typeface="+mn-ea"/>
              </a:rPr>
              <a:t> </a:t>
            </a:r>
            <a:r>
              <a:rPr lang="zh-CN" sz="1400" spc="300">
                <a:solidFill>
                  <a:schemeClr val="bg1"/>
                </a:solidFill>
                <a:cs typeface="+mn-ea"/>
              </a:rPr>
              <a:t>艰苦朴素 </a:t>
            </a:r>
            <a:r>
              <a:rPr lang="en-US" sz="1400" spc="300">
                <a:solidFill>
                  <a:schemeClr val="bg1"/>
                </a:solidFill>
                <a:cs typeface="+mn-ea"/>
              </a:rPr>
              <a:t>· </a:t>
            </a:r>
            <a:r>
              <a:rPr lang="zh-CN" sz="1400" spc="300">
                <a:solidFill>
                  <a:schemeClr val="bg1"/>
                </a:solidFill>
                <a:cs typeface="+mn-ea"/>
              </a:rPr>
              <a:t>实事求是 </a:t>
            </a:r>
            <a:r>
              <a:rPr lang="en-US" sz="1400" spc="300">
                <a:solidFill>
                  <a:schemeClr val="bg1"/>
                </a:solidFill>
                <a:cs typeface="+mn-ea"/>
              </a:rPr>
              <a:t>· </a:t>
            </a:r>
            <a:r>
              <a:rPr lang="zh-CN" sz="1400" spc="300">
                <a:solidFill>
                  <a:schemeClr val="bg1"/>
                </a:solidFill>
                <a:cs typeface="+mn-ea"/>
              </a:rPr>
              <a:t>严格要求 </a:t>
            </a:r>
            <a:r>
              <a:rPr lang="en-US" sz="1400" spc="300">
                <a:solidFill>
                  <a:schemeClr val="bg1"/>
                </a:solidFill>
                <a:cs typeface="+mn-ea"/>
              </a:rPr>
              <a:t>· </a:t>
            </a:r>
            <a:r>
              <a:rPr lang="zh-CN" sz="1400" spc="300">
                <a:solidFill>
                  <a:schemeClr val="bg1"/>
                </a:solidFill>
                <a:cs typeface="+mn-ea"/>
              </a:rPr>
              <a:t>勇于探索 </a:t>
            </a:r>
            <a:r>
              <a:rPr lang="en-US" sz="1400" spc="-150">
                <a:solidFill>
                  <a:schemeClr val="bg1"/>
                </a:solidFill>
                <a:cs typeface="+mn-ea"/>
              </a:rPr>
              <a:t>——</a:t>
            </a:r>
          </a:p>
        </p:txBody>
      </p:sp>
      <p:sp>
        <p:nvSpPr>
          <p:cNvPr id="44750935" name="powerpoint template design by DAJU_PPT正版来源小红书大橘PPT微信DAJU_PPT请勿抄袭搬运！盗版必究！"/>
          <p:cNvSpPr/>
          <p:nvPr/>
        </p:nvSpPr>
        <p:spPr bwMode="auto">
          <a:xfrm>
            <a:off x="351099" y="312517"/>
            <a:ext cx="11489802" cy="6302416"/>
          </a:xfrm>
          <a:prstGeom prst="rect">
            <a:avLst/>
          </a:prstGeom>
          <a:noFill/>
          <a:ln w="190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2085245258" name="powerpoint template design by DAJU_PPT正版来源小红书大橘PPT微信DAJU_PPT请勿抄袭搬运！盗版必究！"/>
          <p:cNvSpPr/>
          <p:nvPr/>
        </p:nvSpPr>
        <p:spPr bwMode="auto">
          <a:xfrm>
            <a:off x="0" y="5842000"/>
            <a:ext cx="12192000" cy="1016000"/>
          </a:xfrm>
          <a:custGeom>
            <a:avLst/>
            <a:gdLst>
              <a:gd name="connsiteX0" fmla="*/ 6096000 w 12192000"/>
              <a:gd name="connsiteY0" fmla="*/ 0 h 1016000"/>
              <a:gd name="connsiteX1" fmla="*/ 11872101 w 12192000"/>
              <a:gd name="connsiteY1" fmla="*/ 363047 h 1016000"/>
              <a:gd name="connsiteX2" fmla="*/ 12192000 w 12192000"/>
              <a:gd name="connsiteY2" fmla="*/ 416457 h 1016000"/>
              <a:gd name="connsiteX3" fmla="*/ 12192000 w 12192000"/>
              <a:gd name="connsiteY3" fmla="*/ 1016000 h 1016000"/>
              <a:gd name="connsiteX4" fmla="*/ 0 w 12192000"/>
              <a:gd name="connsiteY4" fmla="*/ 1016000 h 1016000"/>
              <a:gd name="connsiteX5" fmla="*/ 0 w 12192000"/>
              <a:gd name="connsiteY5" fmla="*/ 416457 h 1016000"/>
              <a:gd name="connsiteX6" fmla="*/ 319900 w 12192000"/>
              <a:gd name="connsiteY6" fmla="*/ 363047 h 1016000"/>
              <a:gd name="connsiteX7" fmla="*/ 6096000 w 12192000"/>
              <a:gd name="connsiteY7" fmla="*/ 0 h 10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016000" extrusionOk="0">
                <a:moveTo>
                  <a:pt x="6096000" y="0"/>
                </a:moveTo>
                <a:cubicBezTo>
                  <a:pt x="8351708" y="0"/>
                  <a:pt x="10393868" y="138738"/>
                  <a:pt x="11872101" y="363047"/>
                </a:cubicBezTo>
                <a:lnTo>
                  <a:pt x="12192000" y="416457"/>
                </a:lnTo>
                <a:lnTo>
                  <a:pt x="12192000" y="1016000"/>
                </a:lnTo>
                <a:lnTo>
                  <a:pt x="0" y="1016000"/>
                </a:lnTo>
                <a:lnTo>
                  <a:pt x="0" y="416457"/>
                </a:lnTo>
                <a:lnTo>
                  <a:pt x="319900" y="363047"/>
                </a:lnTo>
                <a:cubicBezTo>
                  <a:pt x="1798133" y="138738"/>
                  <a:pt x="3840293" y="0"/>
                  <a:pt x="6096000" y="0"/>
                </a:cubicBez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pic>
        <p:nvPicPr>
          <p:cNvPr id="356949815" name="图片 3"/>
          <p:cNvPicPr>
            <a:picLocks noChangeAspect="1"/>
          </p:cNvPicPr>
          <p:nvPr/>
        </p:nvPicPr>
        <p:blipFill rotWithShape="1">
          <a:blip r:embed="rId4"/>
          <a:stretch/>
        </p:blipFill>
        <p:spPr bwMode="auto">
          <a:xfrm>
            <a:off x="351155" y="312420"/>
            <a:ext cx="2211705" cy="20421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86757716" name="powerpoint template design by DAJU_PPT正版来源小红书大橘PPT微信DAJU_PPT请勿抄袭搬运！盗版必究！"/>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36853218" name="powerpoint template design by DAJU_PPT正版来源小红书大橘PPT微信DAJU_PPT请勿抄袭搬运！盗版必究！"/>
          <p:cNvSpPr txBox="1"/>
          <p:nvPr userDrawn="1"/>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974829579" name="powerpoint template design by DAJU_PPT正版来源小红书大橘PPT微信DAJU_PPT请勿抄袭搬运！盗版必究！"/>
          <p:cNvSpPr txBox="1"/>
          <p:nvPr userDrawn="1"/>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000" i="0" u="none" strike="noStrike" cap="none" spc="0" dirty="0">
                <a:ln>
                  <a:noFill/>
                </a:ln>
                <a:solidFill>
                  <a:schemeClr val="bg1">
                    <a:alpha val="70000"/>
                  </a:schemeClr>
                </a:solidFill>
                <a:cs typeface="+mn-ea"/>
              </a:rPr>
              <a:t>考核题目讲解</a:t>
            </a:r>
            <a:endParaRPr lang="en-US" sz="2000" i="0" u="none" strike="noStrike" cap="none" spc="0" dirty="0">
              <a:ln>
                <a:noFill/>
              </a:ln>
              <a:solidFill>
                <a:schemeClr val="bg1">
                  <a:alpha val="70000"/>
                </a:schemeClr>
              </a:solidFill>
              <a:cs typeface="+mn-ea"/>
            </a:endParaRPr>
          </a:p>
        </p:txBody>
      </p:sp>
      <p:cxnSp>
        <p:nvCxnSpPr>
          <p:cNvPr id="1840171379" name="powerpoint template design by DAJU_PPT正版来源小红书大橘PPT微信DAJU_PPT请勿抄袭搬运！盗版必究！"/>
          <p:cNvCxnSpPr/>
          <p:nvPr userDrawn="1"/>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7369855" name="标题 2"/>
          <p:cNvSpPr>
            <a:spLocks noGrp="1"/>
          </p:cNvSpPr>
          <p:nvPr>
            <p:ph type="title"/>
          </p:nvPr>
        </p:nvSpPr>
        <p:spPr bwMode="auto">
          <a:xfrm>
            <a:off x="467371" y="1350396"/>
            <a:ext cx="3733694" cy="401543"/>
          </a:xfrm>
        </p:spPr>
        <p:txBody>
          <a:bodyPr/>
          <a:lstStyle/>
          <a:p>
            <a:pPr>
              <a:defRPr/>
            </a:pPr>
            <a:r>
              <a:rPr lang="en-US" dirty="0"/>
              <a:t>1. </a:t>
            </a:r>
            <a:r>
              <a:rPr lang="en-US" dirty="0" err="1"/>
              <a:t>ysyx软硬件架构总览</a:t>
            </a:r>
            <a:endParaRPr dirty="0"/>
          </a:p>
        </p:txBody>
      </p:sp>
      <p:cxnSp>
        <p:nvCxnSpPr>
          <p:cNvPr id="645730197" name="powerpoint template design by DAJU_PPT正版来源小红书大橘PPT微信DAJU_PPT请勿抄袭搬运！盗版必究！"/>
          <p:cNvCxnSpPr/>
          <p:nvPr userDrawn="1"/>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24036458" name="powerpoint template design by DAJU_PPT正版来源小红书大橘PPT微信DAJU_PPT请勿抄袭搬运！盗版必究！"/>
          <p:cNvSpPr txBox="1"/>
          <p:nvPr userDrawn="1"/>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cxnSp>
        <p:nvCxnSpPr>
          <p:cNvPr id="1677368111" name="powerpoint template design by DAJU_PPT正版来源小红书大橘PPT微信DAJU_PPT请勿抄袭搬运！盗版必究！"/>
          <p:cNvCxnSpPr/>
          <p:nvPr/>
        </p:nvCxnSpPr>
        <p:spPr bwMode="auto">
          <a:xfrm>
            <a:off x="506349" y="1818892"/>
            <a:ext cx="276348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388177756" name="图片 3"/>
          <p:cNvPicPr>
            <a:picLocks noChangeAspect="1"/>
          </p:cNvPicPr>
          <p:nvPr/>
        </p:nvPicPr>
        <p:blipFill rotWithShape="1">
          <a:blip r:embed="rId3"/>
          <a:stretch/>
        </p:blipFill>
        <p:spPr bwMode="auto">
          <a:xfrm>
            <a:off x="0" y="0"/>
            <a:ext cx="778510" cy="720090"/>
          </a:xfrm>
          <a:prstGeom prst="rect">
            <a:avLst/>
          </a:prstGeom>
        </p:spPr>
      </p:pic>
      <p:sp>
        <p:nvSpPr>
          <p:cNvPr id="1179006872" name="标题 2"/>
          <p:cNvSpPr>
            <a:spLocks noGrp="1"/>
          </p:cNvSpPr>
          <p:nvPr>
            <p:ph type="title"/>
          </p:nvPr>
        </p:nvSpPr>
        <p:spPr bwMode="auto">
          <a:xfrm>
            <a:off x="467371" y="2189135"/>
            <a:ext cx="3511148" cy="401543"/>
          </a:xfrm>
        </p:spPr>
        <p:txBody>
          <a:bodyPr/>
          <a:lstStyle/>
          <a:p>
            <a:pPr>
              <a:defRPr/>
            </a:pPr>
            <a:r>
              <a:rPr lang="en-US"/>
              <a:t>2. 关键Makefile调用链</a:t>
            </a:r>
            <a:endParaRPr/>
          </a:p>
        </p:txBody>
      </p:sp>
      <p:sp>
        <p:nvSpPr>
          <p:cNvPr id="1719437948" name="标题 2"/>
          <p:cNvSpPr>
            <a:spLocks noGrp="1"/>
          </p:cNvSpPr>
          <p:nvPr>
            <p:ph type="title"/>
          </p:nvPr>
        </p:nvSpPr>
        <p:spPr bwMode="auto">
          <a:xfrm>
            <a:off x="487275" y="2987335"/>
            <a:ext cx="3072856" cy="401543"/>
          </a:xfrm>
        </p:spPr>
        <p:txBody>
          <a:bodyPr/>
          <a:lstStyle/>
          <a:p>
            <a:pPr>
              <a:defRPr/>
            </a:pPr>
            <a:r>
              <a:rPr lang="en-US" dirty="0"/>
              <a:t>3. </a:t>
            </a:r>
            <a:r>
              <a:rPr lang="en-US" dirty="0" err="1"/>
              <a:t>NPC架构</a:t>
            </a:r>
            <a:endParaRPr dirty="0"/>
          </a:p>
        </p:txBody>
      </p:sp>
      <p:sp>
        <p:nvSpPr>
          <p:cNvPr id="1638758585" name="标题 2"/>
          <p:cNvSpPr>
            <a:spLocks noGrp="1"/>
          </p:cNvSpPr>
          <p:nvPr>
            <p:ph type="title"/>
          </p:nvPr>
        </p:nvSpPr>
        <p:spPr bwMode="auto">
          <a:xfrm>
            <a:off x="506348" y="3759789"/>
            <a:ext cx="3294133" cy="401543"/>
          </a:xfrm>
        </p:spPr>
        <p:txBody>
          <a:bodyPr/>
          <a:lstStyle/>
          <a:p>
            <a:pPr>
              <a:defRPr/>
            </a:pPr>
            <a:r>
              <a:rPr lang="en-US" dirty="0"/>
              <a:t>4. </a:t>
            </a:r>
            <a:r>
              <a:rPr lang="zh-CN" altLang="en-US" dirty="0"/>
              <a:t>打字游戏</a:t>
            </a:r>
            <a:endParaRPr dirty="0"/>
          </a:p>
        </p:txBody>
      </p:sp>
      <p:sp>
        <p:nvSpPr>
          <p:cNvPr id="863914250" name="标题 2"/>
          <p:cNvSpPr>
            <a:spLocks noGrp="1"/>
          </p:cNvSpPr>
          <p:nvPr>
            <p:ph type="title"/>
          </p:nvPr>
        </p:nvSpPr>
        <p:spPr bwMode="auto">
          <a:xfrm>
            <a:off x="506348" y="4580724"/>
            <a:ext cx="3294853" cy="401543"/>
          </a:xfrm>
        </p:spPr>
        <p:txBody>
          <a:bodyPr/>
          <a:lstStyle/>
          <a:p>
            <a:pPr>
              <a:defRPr/>
            </a:pPr>
            <a:r>
              <a:rPr lang="en-US" dirty="0"/>
              <a:t>5. </a:t>
            </a:r>
            <a:r>
              <a:rPr lang="en-US" dirty="0" err="1"/>
              <a:t>后记总结</a:t>
            </a:r>
            <a:endParaRPr dirty="0"/>
          </a:p>
        </p:txBody>
      </p:sp>
      <p:sp>
        <p:nvSpPr>
          <p:cNvPr id="2" name="矩形 1">
            <a:extLst>
              <a:ext uri="{FF2B5EF4-FFF2-40B4-BE49-F238E27FC236}">
                <a16:creationId xmlns:a16="http://schemas.microsoft.com/office/drawing/2014/main" id="{F651A996-74F6-A90C-B86A-975E384D87C1}"/>
              </a:ext>
            </a:extLst>
          </p:cNvPr>
          <p:cNvSpPr/>
          <p:nvPr/>
        </p:nvSpPr>
        <p:spPr bwMode="auto">
          <a:xfrm>
            <a:off x="7496451" y="1023542"/>
            <a:ext cx="3629855"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应用程序</a:t>
            </a:r>
            <a:r>
              <a:rPr lang="en-US" dirty="0"/>
              <a:t>(Navy apps)</a:t>
            </a:r>
            <a:endParaRPr dirty="0"/>
          </a:p>
        </p:txBody>
      </p:sp>
      <p:sp>
        <p:nvSpPr>
          <p:cNvPr id="3" name="矩形 2">
            <a:extLst>
              <a:ext uri="{FF2B5EF4-FFF2-40B4-BE49-F238E27FC236}">
                <a16:creationId xmlns:a16="http://schemas.microsoft.com/office/drawing/2014/main" id="{F3E40DF4-B66C-E709-1EAA-7DDAD5B326B7}"/>
              </a:ext>
            </a:extLst>
          </p:cNvPr>
          <p:cNvSpPr/>
          <p:nvPr/>
        </p:nvSpPr>
        <p:spPr bwMode="auto">
          <a:xfrm>
            <a:off x="7490823" y="1427921"/>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系统库框架层</a:t>
            </a:r>
            <a:r>
              <a:rPr lang="en-US" dirty="0"/>
              <a:t>(Navy libs)</a:t>
            </a:r>
            <a:endParaRPr dirty="0"/>
          </a:p>
        </p:txBody>
      </p:sp>
      <p:sp>
        <p:nvSpPr>
          <p:cNvPr id="4" name="矩形 3">
            <a:extLst>
              <a:ext uri="{FF2B5EF4-FFF2-40B4-BE49-F238E27FC236}">
                <a16:creationId xmlns:a16="http://schemas.microsoft.com/office/drawing/2014/main" id="{A7693EF7-271E-09E0-7F29-71648CDCA269}"/>
              </a:ext>
            </a:extLst>
          </p:cNvPr>
          <p:cNvSpPr/>
          <p:nvPr/>
        </p:nvSpPr>
        <p:spPr bwMode="auto">
          <a:xfrm>
            <a:off x="7490823" y="1846309"/>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系统内核</a:t>
            </a:r>
            <a:r>
              <a:rPr lang="en-US" dirty="0"/>
              <a:t>(Nanos)</a:t>
            </a:r>
            <a:endParaRPr dirty="0"/>
          </a:p>
        </p:txBody>
      </p:sp>
      <p:sp>
        <p:nvSpPr>
          <p:cNvPr id="5" name="矩形 4">
            <a:extLst>
              <a:ext uri="{FF2B5EF4-FFF2-40B4-BE49-F238E27FC236}">
                <a16:creationId xmlns:a16="http://schemas.microsoft.com/office/drawing/2014/main" id="{BFE55C18-C669-05F7-4901-F27F7BC49CEA}"/>
              </a:ext>
            </a:extLst>
          </p:cNvPr>
          <p:cNvSpPr/>
          <p:nvPr/>
        </p:nvSpPr>
        <p:spPr bwMode="auto">
          <a:xfrm>
            <a:off x="5824069" y="1846308"/>
            <a:ext cx="1666755" cy="418386"/>
          </a:xfrm>
          <a:prstGeom prst="rect">
            <a:avLst/>
          </a:prstGeom>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AM程序</a:t>
            </a:r>
            <a:endParaRPr dirty="0"/>
          </a:p>
        </p:txBody>
      </p:sp>
      <p:sp>
        <p:nvSpPr>
          <p:cNvPr id="6" name="矩形 5">
            <a:extLst>
              <a:ext uri="{FF2B5EF4-FFF2-40B4-BE49-F238E27FC236}">
                <a16:creationId xmlns:a16="http://schemas.microsoft.com/office/drawing/2014/main" id="{A1B9FAFA-2640-2C48-BF2B-929624356985}"/>
              </a:ext>
            </a:extLst>
          </p:cNvPr>
          <p:cNvSpPr/>
          <p:nvPr/>
        </p:nvSpPr>
        <p:spPr bwMode="auto">
          <a:xfrm>
            <a:off x="5824069" y="2264696"/>
            <a:ext cx="5296610"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硬件抽象层</a:t>
            </a:r>
            <a:r>
              <a:rPr lang="en-US" dirty="0"/>
              <a:t>(AM)</a:t>
            </a:r>
            <a:endParaRPr dirty="0"/>
          </a:p>
        </p:txBody>
      </p:sp>
      <p:sp>
        <p:nvSpPr>
          <p:cNvPr id="7" name="矩形 6">
            <a:extLst>
              <a:ext uri="{FF2B5EF4-FFF2-40B4-BE49-F238E27FC236}">
                <a16:creationId xmlns:a16="http://schemas.microsoft.com/office/drawing/2014/main" id="{31E24A96-B4AE-BC56-25C6-CD5E698456DA}"/>
              </a:ext>
            </a:extLst>
          </p:cNvPr>
          <p:cNvSpPr/>
          <p:nvPr/>
        </p:nvSpPr>
        <p:spPr bwMode="auto">
          <a:xfrm>
            <a:off x="5715210" y="3899925"/>
            <a:ext cx="2675590"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虚拟机(NEMU)</a:t>
            </a:r>
            <a:endParaRPr/>
          </a:p>
        </p:txBody>
      </p:sp>
      <p:sp>
        <p:nvSpPr>
          <p:cNvPr id="8" name="矩形 7">
            <a:extLst>
              <a:ext uri="{FF2B5EF4-FFF2-40B4-BE49-F238E27FC236}">
                <a16:creationId xmlns:a16="http://schemas.microsoft.com/office/drawing/2014/main" id="{5E4F87F4-4AEE-1F5E-6CBA-7AC0A6743204}"/>
              </a:ext>
            </a:extLst>
          </p:cNvPr>
          <p:cNvSpPr/>
          <p:nvPr/>
        </p:nvSpPr>
        <p:spPr bwMode="auto">
          <a:xfrm>
            <a:off x="8684804" y="3899925"/>
            <a:ext cx="2621018"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NPC</a:t>
            </a:r>
            <a:endParaRPr/>
          </a:p>
        </p:txBody>
      </p:sp>
      <p:sp>
        <p:nvSpPr>
          <p:cNvPr id="9" name="矩形 8">
            <a:extLst>
              <a:ext uri="{FF2B5EF4-FFF2-40B4-BE49-F238E27FC236}">
                <a16:creationId xmlns:a16="http://schemas.microsoft.com/office/drawing/2014/main" id="{DA45B000-F497-1B26-763E-C62A31DA2008}"/>
              </a:ext>
            </a:extLst>
          </p:cNvPr>
          <p:cNvSpPr/>
          <p:nvPr/>
        </p:nvSpPr>
        <p:spPr bwMode="auto">
          <a:xfrm>
            <a:off x="8390800" y="2716757"/>
            <a:ext cx="414984" cy="957309"/>
          </a:xfrm>
          <a:prstGeom prst="rect">
            <a:avLst/>
          </a:prstGeom>
          <a:solidFill>
            <a:schemeClr val="bg2"/>
          </a:solidFill>
          <a:ln w="12700" cap="flat" cmpd="sng" algn="ctr">
            <a:solidFill>
              <a:schemeClr val="accent1">
                <a:shade val="50000"/>
                <a:alpha val="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600">
                <a:solidFill>
                  <a:schemeClr val="tx1"/>
                </a:solidFill>
              </a:rPr>
              <a:t>两种实现</a:t>
            </a:r>
            <a:endParaRPr>
              <a:solidFill>
                <a:schemeClr val="tx1"/>
              </a:solidFill>
            </a:endParaRPr>
          </a:p>
        </p:txBody>
      </p:sp>
      <p:sp>
        <p:nvSpPr>
          <p:cNvPr id="10" name="箭头: 下 9">
            <a:extLst>
              <a:ext uri="{FF2B5EF4-FFF2-40B4-BE49-F238E27FC236}">
                <a16:creationId xmlns:a16="http://schemas.microsoft.com/office/drawing/2014/main" id="{8E3F7128-985C-DCAF-092B-BC7783E22E92}"/>
              </a:ext>
            </a:extLst>
          </p:cNvPr>
          <p:cNvSpPr/>
          <p:nvPr/>
        </p:nvSpPr>
        <p:spPr bwMode="auto">
          <a:xfrm>
            <a:off x="7001092" y="2683083"/>
            <a:ext cx="644620" cy="990983"/>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200"/>
              <a:t>软件实现</a:t>
            </a:r>
          </a:p>
        </p:txBody>
      </p:sp>
      <p:sp>
        <p:nvSpPr>
          <p:cNvPr id="11" name="箭头: 下 10">
            <a:extLst>
              <a:ext uri="{FF2B5EF4-FFF2-40B4-BE49-F238E27FC236}">
                <a16:creationId xmlns:a16="http://schemas.microsoft.com/office/drawing/2014/main" id="{5C632F0E-EA9B-BC39-1471-928DFE9F86BE}"/>
              </a:ext>
            </a:extLst>
          </p:cNvPr>
          <p:cNvSpPr/>
          <p:nvPr/>
        </p:nvSpPr>
        <p:spPr bwMode="auto">
          <a:xfrm>
            <a:off x="9350692" y="2694723"/>
            <a:ext cx="644620" cy="1029468"/>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a:t>RTL实现</a:t>
            </a:r>
            <a:endParaRPr sz="1200"/>
          </a:p>
        </p:txBody>
      </p:sp>
      <p:sp>
        <p:nvSpPr>
          <p:cNvPr id="12" name="矩形 11">
            <a:extLst>
              <a:ext uri="{FF2B5EF4-FFF2-40B4-BE49-F238E27FC236}">
                <a16:creationId xmlns:a16="http://schemas.microsoft.com/office/drawing/2014/main" id="{EEA2AC60-B2CF-1EF7-0876-549FEE166EBE}"/>
              </a:ext>
            </a:extLst>
          </p:cNvPr>
          <p:cNvSpPr/>
          <p:nvPr/>
        </p:nvSpPr>
        <p:spPr bwMode="auto">
          <a:xfrm>
            <a:off x="8684804" y="4695463"/>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电路综合(Yosys)</a:t>
            </a:r>
            <a:endParaRPr/>
          </a:p>
        </p:txBody>
      </p:sp>
      <p:sp>
        <p:nvSpPr>
          <p:cNvPr id="13" name="矩形 12">
            <a:extLst>
              <a:ext uri="{FF2B5EF4-FFF2-40B4-BE49-F238E27FC236}">
                <a16:creationId xmlns:a16="http://schemas.microsoft.com/office/drawing/2014/main" id="{B89716A2-EC8C-E4F5-3409-98F123CF6119}"/>
              </a:ext>
            </a:extLst>
          </p:cNvPr>
          <p:cNvSpPr/>
          <p:nvPr/>
        </p:nvSpPr>
        <p:spPr bwMode="auto">
          <a:xfrm>
            <a:off x="8684804" y="5097007"/>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布局布线(iEDA)</a:t>
            </a:r>
            <a:endParaRPr/>
          </a:p>
        </p:txBody>
      </p:sp>
      <p:sp>
        <p:nvSpPr>
          <p:cNvPr id="14" name="矩形 13">
            <a:extLst>
              <a:ext uri="{FF2B5EF4-FFF2-40B4-BE49-F238E27FC236}">
                <a16:creationId xmlns:a16="http://schemas.microsoft.com/office/drawing/2014/main" id="{32763D01-9496-0D4A-E330-FC0DF0A27052}"/>
              </a:ext>
            </a:extLst>
          </p:cNvPr>
          <p:cNvSpPr/>
          <p:nvPr/>
        </p:nvSpPr>
        <p:spPr bwMode="auto">
          <a:xfrm>
            <a:off x="8684804" y="5515395"/>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签核</a:t>
            </a:r>
            <a:r>
              <a:rPr lang="en-US"/>
              <a:t>分析</a:t>
            </a:r>
            <a:endParaRPr/>
          </a:p>
        </p:txBody>
      </p:sp>
      <p:sp>
        <p:nvSpPr>
          <p:cNvPr id="15" name="矩形 14">
            <a:extLst>
              <a:ext uri="{FF2B5EF4-FFF2-40B4-BE49-F238E27FC236}">
                <a16:creationId xmlns:a16="http://schemas.microsoft.com/office/drawing/2014/main" id="{1B6AD6A5-7DB0-EB8D-6FFA-E4172CA80456}"/>
              </a:ext>
            </a:extLst>
          </p:cNvPr>
          <p:cNvSpPr/>
          <p:nvPr/>
        </p:nvSpPr>
        <p:spPr bwMode="auto">
          <a:xfrm>
            <a:off x="8684804" y="5933784"/>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流片制造</a:t>
            </a:r>
          </a:p>
        </p:txBody>
      </p:sp>
      <p:sp>
        <p:nvSpPr>
          <p:cNvPr id="16" name="powerpoint template design by DAJU_PPT正版来源小红书大橘PPT微信DAJU_PPT请勿抄袭搬运！盗版必究！">
            <a:extLst>
              <a:ext uri="{FF2B5EF4-FFF2-40B4-BE49-F238E27FC236}">
                <a16:creationId xmlns:a16="http://schemas.microsoft.com/office/drawing/2014/main" id="{F1016CBA-144A-01BA-88A8-97610EC21B5B}"/>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17" name="powerpoint template design by DAJU_PPT正版来源小红书大橘PPT微信DAJU_PPT请勿抄袭搬运！盗版必究！">
            <a:extLst>
              <a:ext uri="{FF2B5EF4-FFF2-40B4-BE49-F238E27FC236}">
                <a16:creationId xmlns:a16="http://schemas.microsoft.com/office/drawing/2014/main" id="{E4F40AA2-FEAF-261D-457C-B04E6A52163F}"/>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dirty="0" err="1">
                <a:solidFill>
                  <a:schemeClr val="bg1">
                    <a:alpha val="70000"/>
                  </a:schemeClr>
                </a:solidFill>
                <a:cs typeface="+mn-ea"/>
              </a:rPr>
              <a:t>Makefile</a:t>
            </a:r>
            <a:r>
              <a:rPr lang="zh-CN" altLang="en-US" sz="2000" dirty="0">
                <a:solidFill>
                  <a:schemeClr val="bg1">
                    <a:alpha val="70000"/>
                  </a:schemeClr>
                </a:solidFill>
                <a:cs typeface="+mn-ea"/>
              </a:rPr>
              <a:t>调用链</a:t>
            </a:r>
            <a:endParaRPr lang="en-US" sz="2000" i="0" u="none" strike="noStrike" cap="none" spc="0" dirty="0">
              <a:ln>
                <a:noFill/>
              </a:ln>
              <a:solidFill>
                <a:schemeClr val="bg1">
                  <a:alpha val="70000"/>
                </a:schemeClr>
              </a:solidFill>
              <a:cs typeface="+mn-ea"/>
            </a:endParaRPr>
          </a:p>
        </p:txBody>
      </p:sp>
      <p:sp>
        <p:nvSpPr>
          <p:cNvPr id="18" name="powerpoint template design by DAJU_PPT正版来源小红书大橘PPT微信DAJU_PPT请勿抄袭搬运！盗版必究！">
            <a:extLst>
              <a:ext uri="{FF2B5EF4-FFF2-40B4-BE49-F238E27FC236}">
                <a16:creationId xmlns:a16="http://schemas.microsoft.com/office/drawing/2014/main" id="{566622FB-7E90-D0C9-F4B8-682F7559378D}"/>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000" i="0" u="none" strike="noStrike" cap="none" spc="0" dirty="0">
                <a:ln>
                  <a:noFill/>
                </a:ln>
                <a:solidFill>
                  <a:schemeClr val="bg1">
                    <a:alpha val="70000"/>
                  </a:schemeClr>
                </a:solidFill>
                <a:cs typeface="+mn-ea"/>
              </a:rPr>
              <a:t>架构</a:t>
            </a:r>
            <a:r>
              <a:rPr lang="zh-CN" sz="2000" i="0" u="none" strike="noStrike" cap="none" spc="0" dirty="0">
                <a:ln>
                  <a:noFill/>
                </a:ln>
                <a:solidFill>
                  <a:schemeClr val="bg1">
                    <a:alpha val="70000"/>
                  </a:schemeClr>
                </a:solidFill>
                <a:cs typeface="+mn-ea"/>
              </a:rPr>
              <a:t>讲解</a:t>
            </a:r>
            <a:endParaRPr lang="en-US" sz="2000" i="0" u="none" strike="noStrike" cap="none" spc="0" dirty="0">
              <a:ln>
                <a:noFill/>
              </a:ln>
              <a:solidFill>
                <a:schemeClr val="bg1">
                  <a:alpha val="70000"/>
                </a:schemeClr>
              </a:solidFill>
              <a:cs typeface="+mn-ea"/>
            </a:endParaRPr>
          </a:p>
        </p:txBody>
      </p:sp>
      <p:cxnSp>
        <p:nvCxnSpPr>
          <p:cNvPr id="20" name="直接连接符 19">
            <a:extLst>
              <a:ext uri="{FF2B5EF4-FFF2-40B4-BE49-F238E27FC236}">
                <a16:creationId xmlns:a16="http://schemas.microsoft.com/office/drawing/2014/main" id="{AD73FD3C-9C13-865C-BDDC-E9A7BB79FC61}"/>
              </a:ext>
            </a:extLst>
          </p:cNvPr>
          <p:cNvCxnSpPr>
            <a:cxnSpLocks/>
          </p:cNvCxnSpPr>
          <p:nvPr/>
        </p:nvCxnSpPr>
        <p:spPr>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DD26CC6D-5C13-63F2-74ED-DBE42CB5EA2B}"/>
              </a:ext>
            </a:extLst>
          </p:cNvPr>
          <p:cNvCxnSpPr>
            <a:cxnSpLocks/>
          </p:cNvCxnSpPr>
          <p:nvPr/>
        </p:nvCxnSpPr>
        <p:spPr>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E231DEB9-5C2B-6582-C43E-9C6F1BFCF640}"/>
              </a:ext>
            </a:extLst>
          </p:cNvPr>
          <p:cNvSpPr/>
          <p:nvPr/>
        </p:nvSpPr>
        <p:spPr bwMode="auto">
          <a:xfrm>
            <a:off x="5824069" y="5166317"/>
            <a:ext cx="270456" cy="248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67684F14-6C75-A9A5-2BCE-792B7A506721}"/>
              </a:ext>
            </a:extLst>
          </p:cNvPr>
          <p:cNvSpPr txBox="1"/>
          <p:nvPr/>
        </p:nvSpPr>
        <p:spPr bwMode="auto">
          <a:xfrm>
            <a:off x="6331299" y="5101481"/>
            <a:ext cx="940157" cy="369332"/>
          </a:xfrm>
          <a:prstGeom prst="rect">
            <a:avLst/>
          </a:prstGeom>
          <a:noFill/>
        </p:spPr>
        <p:txBody>
          <a:bodyPr wrap="square" rtlCol="0">
            <a:spAutoFit/>
          </a:bodyPr>
          <a:lstStyle/>
          <a:p>
            <a:r>
              <a:rPr lang="zh-CN" altLang="en-US" dirty="0"/>
              <a:t>软件层</a:t>
            </a:r>
          </a:p>
        </p:txBody>
      </p:sp>
      <p:sp>
        <p:nvSpPr>
          <p:cNvPr id="26" name="矩形 25">
            <a:extLst>
              <a:ext uri="{FF2B5EF4-FFF2-40B4-BE49-F238E27FC236}">
                <a16:creationId xmlns:a16="http://schemas.microsoft.com/office/drawing/2014/main" id="{E507DD3C-AD26-C486-084D-BE1044134018}"/>
              </a:ext>
            </a:extLst>
          </p:cNvPr>
          <p:cNvSpPr/>
          <p:nvPr/>
        </p:nvSpPr>
        <p:spPr bwMode="auto">
          <a:xfrm>
            <a:off x="5830088" y="5558879"/>
            <a:ext cx="270456" cy="2489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00"/>
              </a:solidFill>
            </a:endParaRPr>
          </a:p>
        </p:txBody>
      </p:sp>
      <p:sp>
        <p:nvSpPr>
          <p:cNvPr id="27" name="文本框 26">
            <a:extLst>
              <a:ext uri="{FF2B5EF4-FFF2-40B4-BE49-F238E27FC236}">
                <a16:creationId xmlns:a16="http://schemas.microsoft.com/office/drawing/2014/main" id="{D9FE0065-4C01-BF77-D417-5B071075D030}"/>
              </a:ext>
            </a:extLst>
          </p:cNvPr>
          <p:cNvSpPr txBox="1"/>
          <p:nvPr/>
        </p:nvSpPr>
        <p:spPr bwMode="auto">
          <a:xfrm>
            <a:off x="6337318" y="5494043"/>
            <a:ext cx="1423537" cy="369332"/>
          </a:xfrm>
          <a:prstGeom prst="rect">
            <a:avLst/>
          </a:prstGeom>
          <a:noFill/>
        </p:spPr>
        <p:txBody>
          <a:bodyPr wrap="square" rtlCol="0">
            <a:spAutoFit/>
          </a:bodyPr>
          <a:lstStyle/>
          <a:p>
            <a:r>
              <a:rPr lang="zh-CN" altLang="en-US" dirty="0"/>
              <a:t>硬件模拟层</a:t>
            </a:r>
          </a:p>
        </p:txBody>
      </p:sp>
      <p:sp>
        <p:nvSpPr>
          <p:cNvPr id="28" name="矩形 27">
            <a:extLst>
              <a:ext uri="{FF2B5EF4-FFF2-40B4-BE49-F238E27FC236}">
                <a16:creationId xmlns:a16="http://schemas.microsoft.com/office/drawing/2014/main" id="{74A78576-D456-9CDC-6B38-3A8E21968567}"/>
              </a:ext>
            </a:extLst>
          </p:cNvPr>
          <p:cNvSpPr/>
          <p:nvPr/>
        </p:nvSpPr>
        <p:spPr bwMode="auto">
          <a:xfrm>
            <a:off x="5830088" y="5940582"/>
            <a:ext cx="270456" cy="248991"/>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1D5869C4-4947-7D8E-966C-8DBF0F05FB2F}"/>
              </a:ext>
            </a:extLst>
          </p:cNvPr>
          <p:cNvSpPr txBox="1"/>
          <p:nvPr/>
        </p:nvSpPr>
        <p:spPr bwMode="auto">
          <a:xfrm>
            <a:off x="6337318" y="5875746"/>
            <a:ext cx="1423537" cy="369332"/>
          </a:xfrm>
          <a:prstGeom prst="rect">
            <a:avLst/>
          </a:prstGeom>
          <a:noFill/>
        </p:spPr>
        <p:txBody>
          <a:bodyPr wrap="square" rtlCol="0">
            <a:spAutoFit/>
          </a:bodyPr>
          <a:lstStyle/>
          <a:p>
            <a:r>
              <a:rPr lang="zh-CN" altLang="en-US" dirty="0"/>
              <a:t>硬件实现层</a:t>
            </a:r>
          </a:p>
        </p:txBody>
      </p:sp>
      <p:sp>
        <p:nvSpPr>
          <p:cNvPr id="30" name="矩形 29">
            <a:extLst>
              <a:ext uri="{FF2B5EF4-FFF2-40B4-BE49-F238E27FC236}">
                <a16:creationId xmlns:a16="http://schemas.microsoft.com/office/drawing/2014/main" id="{846A24BD-F3F2-3A35-21CC-8D843E227EF2}"/>
              </a:ext>
            </a:extLst>
          </p:cNvPr>
          <p:cNvSpPr/>
          <p:nvPr/>
        </p:nvSpPr>
        <p:spPr bwMode="auto">
          <a:xfrm>
            <a:off x="5824069" y="4737959"/>
            <a:ext cx="270456" cy="24899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701BAAD9-7A07-EF17-606B-CB3C6173A4D4}"/>
              </a:ext>
            </a:extLst>
          </p:cNvPr>
          <p:cNvSpPr txBox="1"/>
          <p:nvPr/>
        </p:nvSpPr>
        <p:spPr bwMode="auto">
          <a:xfrm>
            <a:off x="6331299" y="4673123"/>
            <a:ext cx="1124337" cy="369332"/>
          </a:xfrm>
          <a:prstGeom prst="rect">
            <a:avLst/>
          </a:prstGeom>
          <a:noFill/>
        </p:spPr>
        <p:txBody>
          <a:bodyPr wrap="square" rtlCol="0">
            <a:spAutoFit/>
          </a:bodyPr>
          <a:lstStyle/>
          <a:p>
            <a:r>
              <a:rPr lang="zh-CN" altLang="en-US" dirty="0"/>
              <a:t>当前演示</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4DC71D8-50AE-BCBE-3974-C8CED09E6DE9}"/>
            </a:ext>
          </a:extLst>
        </p:cNvPr>
        <p:cNvGrpSpPr/>
        <p:nvPr/>
      </p:nvGrpSpPr>
      <p:grpSpPr bwMode="auto">
        <a:xfrm>
          <a:off x="0" y="0"/>
          <a:ext cx="0" cy="0"/>
          <a:chOff x="0" y="0"/>
          <a:chExt cx="0" cy="0"/>
        </a:xfrm>
      </p:grpSpPr>
      <p:sp>
        <p:nvSpPr>
          <p:cNvPr id="600543380" name="应用程序">
            <a:extLst>
              <a:ext uri="{FF2B5EF4-FFF2-40B4-BE49-F238E27FC236}">
                <a16:creationId xmlns:a16="http://schemas.microsoft.com/office/drawing/2014/main" id="{6F36EA53-0816-9D2F-2081-5354E3585D4C}"/>
              </a:ext>
            </a:extLst>
          </p:cNvPr>
          <p:cNvSpPr/>
          <p:nvPr/>
        </p:nvSpPr>
        <p:spPr bwMode="auto">
          <a:xfrm>
            <a:off x="2874117" y="1145183"/>
            <a:ext cx="3629855"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应用程序</a:t>
            </a:r>
            <a:r>
              <a:rPr lang="en-US" dirty="0"/>
              <a:t>(Navy apps)</a:t>
            </a:r>
            <a:endParaRPr dirty="0"/>
          </a:p>
        </p:txBody>
      </p:sp>
      <p:sp>
        <p:nvSpPr>
          <p:cNvPr id="806812025" name="系统库框架">
            <a:extLst>
              <a:ext uri="{FF2B5EF4-FFF2-40B4-BE49-F238E27FC236}">
                <a16:creationId xmlns:a16="http://schemas.microsoft.com/office/drawing/2014/main" id="{5E4B6B0E-A030-B853-D081-F4651A12A13A}"/>
              </a:ext>
            </a:extLst>
          </p:cNvPr>
          <p:cNvSpPr/>
          <p:nvPr/>
        </p:nvSpPr>
        <p:spPr bwMode="auto">
          <a:xfrm>
            <a:off x="2868489" y="1549562"/>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系统库框架层</a:t>
            </a:r>
            <a:r>
              <a:rPr lang="en-US" dirty="0"/>
              <a:t>(Navy libs)</a:t>
            </a:r>
            <a:endParaRPr dirty="0"/>
          </a:p>
        </p:txBody>
      </p:sp>
      <p:sp>
        <p:nvSpPr>
          <p:cNvPr id="971999399" name="系统内核">
            <a:extLst>
              <a:ext uri="{FF2B5EF4-FFF2-40B4-BE49-F238E27FC236}">
                <a16:creationId xmlns:a16="http://schemas.microsoft.com/office/drawing/2014/main" id="{F8550406-CA46-C24D-4808-804AC49C5285}"/>
              </a:ext>
            </a:extLst>
          </p:cNvPr>
          <p:cNvSpPr/>
          <p:nvPr/>
        </p:nvSpPr>
        <p:spPr bwMode="auto">
          <a:xfrm>
            <a:off x="2868489" y="1967950"/>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系统内核</a:t>
            </a:r>
            <a:r>
              <a:rPr lang="en-US" dirty="0"/>
              <a:t>(Nanos)</a:t>
            </a:r>
            <a:endParaRPr dirty="0"/>
          </a:p>
        </p:txBody>
      </p:sp>
      <p:sp>
        <p:nvSpPr>
          <p:cNvPr id="1567425429" name="裸机程序">
            <a:extLst>
              <a:ext uri="{FF2B5EF4-FFF2-40B4-BE49-F238E27FC236}">
                <a16:creationId xmlns:a16="http://schemas.microsoft.com/office/drawing/2014/main" id="{8428A3DE-624D-47B5-8A70-239F11FFB38F}"/>
              </a:ext>
            </a:extLst>
          </p:cNvPr>
          <p:cNvSpPr/>
          <p:nvPr/>
        </p:nvSpPr>
        <p:spPr bwMode="auto">
          <a:xfrm>
            <a:off x="1201735" y="1967949"/>
            <a:ext cx="1666755" cy="418386"/>
          </a:xfrm>
          <a:prstGeom prst="rect">
            <a:avLst/>
          </a:prstGeom>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AM</a:t>
            </a:r>
            <a:r>
              <a:rPr lang="zh-CN" altLang="en-US" dirty="0"/>
              <a:t>程序</a:t>
            </a:r>
            <a:endParaRPr dirty="0"/>
          </a:p>
        </p:txBody>
      </p:sp>
      <p:sp>
        <p:nvSpPr>
          <p:cNvPr id="534821804" name="硬件抽象">
            <a:extLst>
              <a:ext uri="{FF2B5EF4-FFF2-40B4-BE49-F238E27FC236}">
                <a16:creationId xmlns:a16="http://schemas.microsoft.com/office/drawing/2014/main" id="{060635F0-142B-45D6-04C6-3C1F25A7A3A8}"/>
              </a:ext>
            </a:extLst>
          </p:cNvPr>
          <p:cNvSpPr/>
          <p:nvPr/>
        </p:nvSpPr>
        <p:spPr bwMode="auto">
          <a:xfrm>
            <a:off x="1201735" y="2386337"/>
            <a:ext cx="5296610" cy="41838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硬件抽象层</a:t>
            </a:r>
            <a:r>
              <a:rPr lang="en-US" dirty="0"/>
              <a:t>(AM)</a:t>
            </a:r>
            <a:endParaRPr dirty="0"/>
          </a:p>
        </p:txBody>
      </p:sp>
      <p:sp>
        <p:nvSpPr>
          <p:cNvPr id="40666242" name="NEMU虚拟机">
            <a:extLst>
              <a:ext uri="{FF2B5EF4-FFF2-40B4-BE49-F238E27FC236}">
                <a16:creationId xmlns:a16="http://schemas.microsoft.com/office/drawing/2014/main" id="{EE830213-CDB6-5153-4728-8C43399924F6}"/>
              </a:ext>
            </a:extLst>
          </p:cNvPr>
          <p:cNvSpPr/>
          <p:nvPr/>
        </p:nvSpPr>
        <p:spPr bwMode="auto">
          <a:xfrm>
            <a:off x="1092876" y="4021566"/>
            <a:ext cx="2675590"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虚拟机(NEMU)</a:t>
            </a:r>
            <a:endParaRPr/>
          </a:p>
        </p:txBody>
      </p:sp>
      <p:sp>
        <p:nvSpPr>
          <p:cNvPr id="743261972" name="NPC">
            <a:extLst>
              <a:ext uri="{FF2B5EF4-FFF2-40B4-BE49-F238E27FC236}">
                <a16:creationId xmlns:a16="http://schemas.microsoft.com/office/drawing/2014/main" id="{11C786CB-78D4-CD62-117F-141109B56C3A}"/>
              </a:ext>
            </a:extLst>
          </p:cNvPr>
          <p:cNvSpPr/>
          <p:nvPr/>
        </p:nvSpPr>
        <p:spPr bwMode="auto">
          <a:xfrm>
            <a:off x="4062470" y="4021566"/>
            <a:ext cx="2621018"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NPC</a:t>
            </a:r>
            <a:endParaRPr/>
          </a:p>
        </p:txBody>
      </p:sp>
      <p:sp>
        <p:nvSpPr>
          <p:cNvPr id="1311028271" name="矩形 1311028270">
            <a:extLst>
              <a:ext uri="{FF2B5EF4-FFF2-40B4-BE49-F238E27FC236}">
                <a16:creationId xmlns:a16="http://schemas.microsoft.com/office/drawing/2014/main" id="{C24243C6-684C-13AE-3AB9-1FF4B3D1B334}"/>
              </a:ext>
            </a:extLst>
          </p:cNvPr>
          <p:cNvSpPr/>
          <p:nvPr/>
        </p:nvSpPr>
        <p:spPr bwMode="auto">
          <a:xfrm>
            <a:off x="3768466" y="2838398"/>
            <a:ext cx="414984" cy="957309"/>
          </a:xfrm>
          <a:prstGeom prst="rect">
            <a:avLst/>
          </a:prstGeom>
          <a:solidFill>
            <a:schemeClr val="bg2"/>
          </a:solidFill>
          <a:ln w="12700" cap="flat" cmpd="sng" algn="ctr">
            <a:solidFill>
              <a:schemeClr val="accent1">
                <a:shade val="50000"/>
                <a:alpha val="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600">
                <a:solidFill>
                  <a:schemeClr val="tx1"/>
                </a:solidFill>
              </a:rPr>
              <a:t>两种实现</a:t>
            </a:r>
            <a:endParaRPr>
              <a:solidFill>
                <a:schemeClr val="tx1"/>
              </a:solidFill>
            </a:endParaRPr>
          </a:p>
        </p:txBody>
      </p:sp>
      <p:sp>
        <p:nvSpPr>
          <p:cNvPr id="2328251" name="箭头: 下 2328250">
            <a:extLst>
              <a:ext uri="{FF2B5EF4-FFF2-40B4-BE49-F238E27FC236}">
                <a16:creationId xmlns:a16="http://schemas.microsoft.com/office/drawing/2014/main" id="{70CC8073-3784-0202-42DB-36D2ABDBD669}"/>
              </a:ext>
            </a:extLst>
          </p:cNvPr>
          <p:cNvSpPr/>
          <p:nvPr/>
        </p:nvSpPr>
        <p:spPr bwMode="auto">
          <a:xfrm>
            <a:off x="2378758" y="2804724"/>
            <a:ext cx="644620" cy="990983"/>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200"/>
              <a:t>软件实现</a:t>
            </a:r>
          </a:p>
        </p:txBody>
      </p:sp>
      <p:sp>
        <p:nvSpPr>
          <p:cNvPr id="1699098867" name="箭头: 下 1699098866">
            <a:extLst>
              <a:ext uri="{FF2B5EF4-FFF2-40B4-BE49-F238E27FC236}">
                <a16:creationId xmlns:a16="http://schemas.microsoft.com/office/drawing/2014/main" id="{B06D8383-1E1A-37FA-9B93-41FB3E315AC4}"/>
              </a:ext>
            </a:extLst>
          </p:cNvPr>
          <p:cNvSpPr/>
          <p:nvPr/>
        </p:nvSpPr>
        <p:spPr bwMode="auto">
          <a:xfrm>
            <a:off x="4728358" y="2816364"/>
            <a:ext cx="644620" cy="1029468"/>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a:t>RTL实现</a:t>
            </a:r>
            <a:endParaRPr sz="1200"/>
          </a:p>
        </p:txBody>
      </p:sp>
      <p:sp>
        <p:nvSpPr>
          <p:cNvPr id="16112946" name="电路综合">
            <a:extLst>
              <a:ext uri="{FF2B5EF4-FFF2-40B4-BE49-F238E27FC236}">
                <a16:creationId xmlns:a16="http://schemas.microsoft.com/office/drawing/2014/main" id="{F9B6ACFB-2F1A-D3EB-547C-C63933CA3FEE}"/>
              </a:ext>
            </a:extLst>
          </p:cNvPr>
          <p:cNvSpPr/>
          <p:nvPr/>
        </p:nvSpPr>
        <p:spPr bwMode="auto">
          <a:xfrm>
            <a:off x="4062470" y="4817104"/>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电路综合(Yosys)</a:t>
            </a:r>
            <a:endParaRPr/>
          </a:p>
        </p:txBody>
      </p:sp>
      <p:sp>
        <p:nvSpPr>
          <p:cNvPr id="813212810" name="布局布线">
            <a:extLst>
              <a:ext uri="{FF2B5EF4-FFF2-40B4-BE49-F238E27FC236}">
                <a16:creationId xmlns:a16="http://schemas.microsoft.com/office/drawing/2014/main" id="{02BDF303-0C45-EC73-CD43-5AB7BB3E0130}"/>
              </a:ext>
            </a:extLst>
          </p:cNvPr>
          <p:cNvSpPr/>
          <p:nvPr/>
        </p:nvSpPr>
        <p:spPr bwMode="auto">
          <a:xfrm>
            <a:off x="4062470" y="5218648"/>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布局布线(iEDA)</a:t>
            </a:r>
            <a:endParaRPr/>
          </a:p>
        </p:txBody>
      </p:sp>
      <p:sp>
        <p:nvSpPr>
          <p:cNvPr id="1835667885" name="嵌合分析">
            <a:extLst>
              <a:ext uri="{FF2B5EF4-FFF2-40B4-BE49-F238E27FC236}">
                <a16:creationId xmlns:a16="http://schemas.microsoft.com/office/drawing/2014/main" id="{2A8ABEE7-D3C3-5B80-3EEC-7926754C6E45}"/>
              </a:ext>
            </a:extLst>
          </p:cNvPr>
          <p:cNvSpPr/>
          <p:nvPr/>
        </p:nvSpPr>
        <p:spPr bwMode="auto">
          <a:xfrm>
            <a:off x="4062470" y="5637036"/>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签核</a:t>
            </a:r>
            <a:r>
              <a:rPr lang="en-US"/>
              <a:t>分析</a:t>
            </a:r>
            <a:endParaRPr/>
          </a:p>
        </p:txBody>
      </p:sp>
      <p:sp>
        <p:nvSpPr>
          <p:cNvPr id="127215868" name="流片制造">
            <a:extLst>
              <a:ext uri="{FF2B5EF4-FFF2-40B4-BE49-F238E27FC236}">
                <a16:creationId xmlns:a16="http://schemas.microsoft.com/office/drawing/2014/main" id="{7AB901C9-132F-7B21-9BCC-D2DFF761AC8B}"/>
              </a:ext>
            </a:extLst>
          </p:cNvPr>
          <p:cNvSpPr/>
          <p:nvPr/>
        </p:nvSpPr>
        <p:spPr bwMode="auto">
          <a:xfrm>
            <a:off x="4062470" y="6055425"/>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流片制造</a:t>
            </a:r>
          </a:p>
        </p:txBody>
      </p:sp>
      <p:sp>
        <p:nvSpPr>
          <p:cNvPr id="328657211" name="文本框 NavyLib" hidden="1">
            <a:extLst>
              <a:ext uri="{FF2B5EF4-FFF2-40B4-BE49-F238E27FC236}">
                <a16:creationId xmlns:a16="http://schemas.microsoft.com/office/drawing/2014/main" id="{388A18D1-5F7B-C087-7963-71B609662FFC}"/>
              </a:ext>
            </a:extLst>
          </p:cNvPr>
          <p:cNvSpPr txBox="1"/>
          <p:nvPr/>
        </p:nvSpPr>
        <p:spPr bwMode="auto">
          <a:xfrm>
            <a:off x="7524362" y="3520663"/>
            <a:ext cx="3927777" cy="211637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dirty="0" err="1"/>
              <a:t>基于Nanos内核的程序库环境支持</a:t>
            </a:r>
            <a:r>
              <a:rPr lang="en-US" dirty="0"/>
              <a:t>/</a:t>
            </a:r>
            <a:r>
              <a:rPr lang="en-US" dirty="0" err="1"/>
              <a:t>适配，可编写</a:t>
            </a:r>
            <a:r>
              <a:rPr lang="en-US" dirty="0"/>
              <a:t>/</a:t>
            </a:r>
            <a:r>
              <a:rPr lang="en-US" dirty="0" err="1"/>
              <a:t>移植更强大丰富的应用程序</a:t>
            </a:r>
            <a:r>
              <a:rPr lang="en-US" dirty="0"/>
              <a:t>。</a:t>
            </a:r>
          </a:p>
          <a:p>
            <a:pPr marL="283878" indent="-283878">
              <a:buAutoNum type="arabicPeriod"/>
              <a:defRPr/>
            </a:pPr>
            <a:r>
              <a:rPr lang="en-US" dirty="0" err="1"/>
              <a:t>Nanos系统调用库</a:t>
            </a:r>
            <a:endParaRPr lang="en-US" dirty="0"/>
          </a:p>
          <a:p>
            <a:pPr>
              <a:defRPr/>
            </a:pPr>
            <a:r>
              <a:rPr lang="en-US" sz="1800" b="0" i="0" u="none" strike="noStrike" cap="none" spc="0" dirty="0">
                <a:solidFill>
                  <a:schemeClr val="tx1"/>
                </a:solidFill>
                <a:latin typeface="Arial"/>
                <a:ea typeface="微软雅黑"/>
                <a:cs typeface="Arial"/>
              </a:rPr>
              <a:t>2. </a:t>
            </a:r>
            <a:r>
              <a:rPr lang="en-US" sz="1800" b="0" i="0" u="none" strike="noStrike" cap="none" spc="0" dirty="0" err="1">
                <a:solidFill>
                  <a:schemeClr val="tx1"/>
                </a:solidFill>
                <a:latin typeface="Arial"/>
                <a:ea typeface="微软雅黑"/>
                <a:cs typeface="Arial"/>
              </a:rPr>
              <a:t>运行环境库</a:t>
            </a:r>
            <a:endParaRPr lang="en-US" dirty="0"/>
          </a:p>
          <a:p>
            <a:pPr>
              <a:defRPr/>
            </a:pPr>
            <a:r>
              <a:rPr lang="en-US" sz="1800" b="0" i="0" u="none" strike="noStrike" cap="none" spc="0" dirty="0">
                <a:solidFill>
                  <a:schemeClr val="tx1"/>
                </a:solidFill>
                <a:latin typeface="Arial"/>
                <a:ea typeface="微软雅黑"/>
                <a:cs typeface="Arial"/>
              </a:rPr>
              <a:t>3. </a:t>
            </a:r>
            <a:r>
              <a:rPr lang="en-US" sz="1800" b="0" i="0" u="none" strike="noStrike" cap="none" spc="0" dirty="0" err="1">
                <a:solidFill>
                  <a:schemeClr val="tx1"/>
                </a:solidFill>
                <a:latin typeface="Arial"/>
                <a:ea typeface="微软雅黑"/>
                <a:cs typeface="Arial"/>
              </a:rPr>
              <a:t>媒体硬件库</a:t>
            </a:r>
            <a:r>
              <a:rPr lang="en-US" dirty="0"/>
              <a:t>/</a:t>
            </a:r>
            <a:r>
              <a:rPr lang="en-US" dirty="0" err="1"/>
              <a:t>资源解析库</a:t>
            </a:r>
            <a:endParaRPr sz="1800" dirty="0"/>
          </a:p>
          <a:p>
            <a:pPr>
              <a:defRPr/>
            </a:pPr>
            <a:r>
              <a:rPr lang="en-US" dirty="0"/>
              <a:t>4. </a:t>
            </a:r>
            <a:r>
              <a:rPr lang="en-US" dirty="0" err="1"/>
              <a:t>应用镜像文件打包</a:t>
            </a:r>
            <a:endParaRPr lang="en-US" dirty="0"/>
          </a:p>
        </p:txBody>
      </p:sp>
      <p:sp>
        <p:nvSpPr>
          <p:cNvPr id="3" name="矩形 2">
            <a:extLst>
              <a:ext uri="{FF2B5EF4-FFF2-40B4-BE49-F238E27FC236}">
                <a16:creationId xmlns:a16="http://schemas.microsoft.com/office/drawing/2014/main" id="{356DEFF7-5B8A-9032-179A-246D1E9B315F}"/>
              </a:ext>
            </a:extLst>
          </p:cNvPr>
          <p:cNvSpPr/>
          <p:nvPr/>
        </p:nvSpPr>
        <p:spPr>
          <a:xfrm>
            <a:off x="1040265" y="5115660"/>
            <a:ext cx="270456" cy="248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7BF4A47C-06A7-11F5-8D05-1B7639DA3FF7}"/>
              </a:ext>
            </a:extLst>
          </p:cNvPr>
          <p:cNvSpPr txBox="1"/>
          <p:nvPr/>
        </p:nvSpPr>
        <p:spPr>
          <a:xfrm>
            <a:off x="1547495" y="5050824"/>
            <a:ext cx="940157" cy="369332"/>
          </a:xfrm>
          <a:prstGeom prst="rect">
            <a:avLst/>
          </a:prstGeom>
          <a:noFill/>
        </p:spPr>
        <p:txBody>
          <a:bodyPr wrap="square" rtlCol="0">
            <a:spAutoFit/>
          </a:bodyPr>
          <a:lstStyle/>
          <a:p>
            <a:r>
              <a:rPr lang="zh-CN" altLang="en-US" dirty="0"/>
              <a:t>软件层</a:t>
            </a:r>
          </a:p>
        </p:txBody>
      </p:sp>
      <p:sp>
        <p:nvSpPr>
          <p:cNvPr id="5" name="矩形 4">
            <a:extLst>
              <a:ext uri="{FF2B5EF4-FFF2-40B4-BE49-F238E27FC236}">
                <a16:creationId xmlns:a16="http://schemas.microsoft.com/office/drawing/2014/main" id="{5F9E02E3-635C-F94E-486D-A3DA12710331}"/>
              </a:ext>
            </a:extLst>
          </p:cNvPr>
          <p:cNvSpPr/>
          <p:nvPr/>
        </p:nvSpPr>
        <p:spPr>
          <a:xfrm>
            <a:off x="1046284" y="5508222"/>
            <a:ext cx="270456" cy="2489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00"/>
              </a:solidFill>
            </a:endParaRPr>
          </a:p>
        </p:txBody>
      </p:sp>
      <p:sp>
        <p:nvSpPr>
          <p:cNvPr id="6" name="文本框 5">
            <a:extLst>
              <a:ext uri="{FF2B5EF4-FFF2-40B4-BE49-F238E27FC236}">
                <a16:creationId xmlns:a16="http://schemas.microsoft.com/office/drawing/2014/main" id="{61E541B9-0578-95E2-81D6-DCBFFFC60F46}"/>
              </a:ext>
            </a:extLst>
          </p:cNvPr>
          <p:cNvSpPr txBox="1"/>
          <p:nvPr/>
        </p:nvSpPr>
        <p:spPr>
          <a:xfrm>
            <a:off x="1553514" y="5443386"/>
            <a:ext cx="1423537" cy="369332"/>
          </a:xfrm>
          <a:prstGeom prst="rect">
            <a:avLst/>
          </a:prstGeom>
          <a:noFill/>
        </p:spPr>
        <p:txBody>
          <a:bodyPr wrap="square" rtlCol="0">
            <a:spAutoFit/>
          </a:bodyPr>
          <a:lstStyle/>
          <a:p>
            <a:r>
              <a:rPr lang="zh-CN" altLang="en-US" dirty="0"/>
              <a:t>硬件模拟层</a:t>
            </a:r>
          </a:p>
        </p:txBody>
      </p:sp>
      <p:sp>
        <p:nvSpPr>
          <p:cNvPr id="7" name="矩形 6">
            <a:extLst>
              <a:ext uri="{FF2B5EF4-FFF2-40B4-BE49-F238E27FC236}">
                <a16:creationId xmlns:a16="http://schemas.microsoft.com/office/drawing/2014/main" id="{A8B10976-0267-F9B7-7938-807B53DCFA3B}"/>
              </a:ext>
            </a:extLst>
          </p:cNvPr>
          <p:cNvSpPr/>
          <p:nvPr/>
        </p:nvSpPr>
        <p:spPr>
          <a:xfrm>
            <a:off x="1046284" y="5889925"/>
            <a:ext cx="270456" cy="248991"/>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41875CAC-0C2E-6270-1429-095458278F1C}"/>
              </a:ext>
            </a:extLst>
          </p:cNvPr>
          <p:cNvSpPr txBox="1"/>
          <p:nvPr/>
        </p:nvSpPr>
        <p:spPr>
          <a:xfrm>
            <a:off x="1553514" y="5825089"/>
            <a:ext cx="1423537" cy="369332"/>
          </a:xfrm>
          <a:prstGeom prst="rect">
            <a:avLst/>
          </a:prstGeom>
          <a:noFill/>
        </p:spPr>
        <p:txBody>
          <a:bodyPr wrap="square" rtlCol="0">
            <a:spAutoFit/>
          </a:bodyPr>
          <a:lstStyle/>
          <a:p>
            <a:r>
              <a:rPr lang="zh-CN" altLang="en-US" dirty="0"/>
              <a:t>硬件实现层</a:t>
            </a:r>
          </a:p>
        </p:txBody>
      </p:sp>
      <p:sp>
        <p:nvSpPr>
          <p:cNvPr id="9" name="箭头: 下 8">
            <a:extLst>
              <a:ext uri="{FF2B5EF4-FFF2-40B4-BE49-F238E27FC236}">
                <a16:creationId xmlns:a16="http://schemas.microsoft.com/office/drawing/2014/main" id="{6F8EF8A7-A5F7-E19F-9089-201AA537440F}"/>
              </a:ext>
            </a:extLst>
          </p:cNvPr>
          <p:cNvSpPr/>
          <p:nvPr/>
        </p:nvSpPr>
        <p:spPr>
          <a:xfrm>
            <a:off x="4728358" y="4439496"/>
            <a:ext cx="767204" cy="352379"/>
          </a:xfrm>
          <a:prstGeom prst="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E2101E8E-A361-924A-37F0-8DD3261616D0}"/>
              </a:ext>
            </a:extLst>
          </p:cNvPr>
          <p:cNvSpPr txBox="1"/>
          <p:nvPr/>
        </p:nvSpPr>
        <p:spPr>
          <a:xfrm>
            <a:off x="5495562" y="4414267"/>
            <a:ext cx="1650381" cy="369332"/>
          </a:xfrm>
          <a:prstGeom prst="rect">
            <a:avLst/>
          </a:prstGeom>
          <a:noFill/>
        </p:spPr>
        <p:txBody>
          <a:bodyPr wrap="square" rtlCol="0">
            <a:spAutoFit/>
          </a:bodyPr>
          <a:lstStyle/>
          <a:p>
            <a:r>
              <a:rPr lang="zh-CN" altLang="en-US" dirty="0"/>
              <a:t>行为仿真通过</a:t>
            </a:r>
          </a:p>
        </p:txBody>
      </p:sp>
      <p:sp>
        <p:nvSpPr>
          <p:cNvPr id="11" name="矩形 10">
            <a:extLst>
              <a:ext uri="{FF2B5EF4-FFF2-40B4-BE49-F238E27FC236}">
                <a16:creationId xmlns:a16="http://schemas.microsoft.com/office/drawing/2014/main" id="{AAE1AD72-8F8A-C2CC-B7A7-DFE4F75F3C1D}"/>
              </a:ext>
            </a:extLst>
          </p:cNvPr>
          <p:cNvSpPr/>
          <p:nvPr/>
        </p:nvSpPr>
        <p:spPr>
          <a:xfrm>
            <a:off x="1040265" y="4687302"/>
            <a:ext cx="270456" cy="24899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6AA26D4-92A2-FF7E-8C3A-7041CE9CDE0F}"/>
              </a:ext>
            </a:extLst>
          </p:cNvPr>
          <p:cNvSpPr txBox="1"/>
          <p:nvPr/>
        </p:nvSpPr>
        <p:spPr>
          <a:xfrm>
            <a:off x="1547495" y="4622466"/>
            <a:ext cx="1124337" cy="369332"/>
          </a:xfrm>
          <a:prstGeom prst="rect">
            <a:avLst/>
          </a:prstGeom>
          <a:noFill/>
        </p:spPr>
        <p:txBody>
          <a:bodyPr wrap="square" rtlCol="0">
            <a:spAutoFit/>
          </a:bodyPr>
          <a:lstStyle/>
          <a:p>
            <a:r>
              <a:rPr lang="zh-CN" altLang="en-US" dirty="0"/>
              <a:t>当前演示</a:t>
            </a:r>
          </a:p>
        </p:txBody>
      </p:sp>
      <p:sp>
        <p:nvSpPr>
          <p:cNvPr id="14" name="文本框 13">
            <a:extLst>
              <a:ext uri="{FF2B5EF4-FFF2-40B4-BE49-F238E27FC236}">
                <a16:creationId xmlns:a16="http://schemas.microsoft.com/office/drawing/2014/main" id="{C053934E-B9B1-A036-D130-8318AA404DAB}"/>
              </a:ext>
            </a:extLst>
          </p:cNvPr>
          <p:cNvSpPr txBox="1"/>
          <p:nvPr/>
        </p:nvSpPr>
        <p:spPr bwMode="auto">
          <a:xfrm>
            <a:off x="7333795" y="1109017"/>
            <a:ext cx="4541069" cy="194207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dirty="0"/>
              <a:t>C</a:t>
            </a:r>
            <a:r>
              <a:rPr lang="zh-CN" altLang="en-US" dirty="0"/>
              <a:t>程序跨</a:t>
            </a:r>
            <a:r>
              <a:rPr lang="en-US" altLang="zh-CN" dirty="0"/>
              <a:t>ISA</a:t>
            </a:r>
            <a:r>
              <a:rPr lang="zh-CN" altLang="en-US" dirty="0"/>
              <a:t>平台编译运行的最小环境支持</a:t>
            </a:r>
            <a:endParaRPr lang="en-US" altLang="zh-CN" dirty="0"/>
          </a:p>
          <a:p>
            <a:pPr>
              <a:defRPr/>
            </a:pPr>
            <a:r>
              <a:rPr lang="en-US" dirty="0"/>
              <a:t>AM</a:t>
            </a:r>
            <a:r>
              <a:rPr lang="zh-CN" altLang="en-US" dirty="0"/>
              <a:t> </a:t>
            </a:r>
            <a:r>
              <a:rPr lang="en-US" altLang="zh-CN" dirty="0"/>
              <a:t>=</a:t>
            </a:r>
            <a:r>
              <a:rPr lang="zh-CN" altLang="en-US" dirty="0"/>
              <a:t> </a:t>
            </a:r>
            <a:r>
              <a:rPr lang="en-US" altLang="zh-CN" dirty="0"/>
              <a:t>HAL</a:t>
            </a:r>
            <a:r>
              <a:rPr lang="zh-CN" altLang="en-US" dirty="0"/>
              <a:t> </a:t>
            </a:r>
            <a:r>
              <a:rPr lang="en-US" altLang="zh-CN" dirty="0"/>
              <a:t>+</a:t>
            </a:r>
            <a:r>
              <a:rPr lang="zh-CN" altLang="en-US" dirty="0"/>
              <a:t> </a:t>
            </a:r>
            <a:r>
              <a:rPr lang="en-US" altLang="zh-CN" dirty="0" err="1"/>
              <a:t>AMLib</a:t>
            </a:r>
            <a:r>
              <a:rPr lang="en-US" altLang="zh-CN" dirty="0"/>
              <a:t> + scripts</a:t>
            </a:r>
          </a:p>
          <a:p>
            <a:pPr marL="342900" indent="-342900">
              <a:buAutoNum type="arabicPeriod"/>
              <a:defRPr/>
            </a:pPr>
            <a:r>
              <a:rPr lang="en-US" dirty="0"/>
              <a:t>HAL</a:t>
            </a:r>
            <a:r>
              <a:rPr lang="zh-CN" altLang="en-US" dirty="0"/>
              <a:t>硬件抽象</a:t>
            </a:r>
            <a:endParaRPr lang="en-US" altLang="zh-CN" dirty="0"/>
          </a:p>
          <a:p>
            <a:pPr marL="342900" indent="-342900">
              <a:buAutoNum type="arabicPeriod"/>
              <a:defRPr/>
            </a:pPr>
            <a:r>
              <a:rPr lang="zh-CN" altLang="en-US" dirty="0"/>
              <a:t>基本</a:t>
            </a:r>
            <a:r>
              <a:rPr lang="en-US" altLang="zh-CN" dirty="0"/>
              <a:t>C</a:t>
            </a:r>
            <a:r>
              <a:rPr lang="zh-CN" altLang="en-US" dirty="0"/>
              <a:t>库函数与最小运行时环境</a:t>
            </a:r>
            <a:endParaRPr lang="en-US" altLang="zh-CN" dirty="0"/>
          </a:p>
          <a:p>
            <a:pPr marL="342900" indent="-342900">
              <a:buAutoNum type="arabicPeriod"/>
              <a:defRPr/>
            </a:pPr>
            <a:r>
              <a:rPr lang="en-US" altLang="zh-CN" dirty="0"/>
              <a:t>AM</a:t>
            </a:r>
            <a:r>
              <a:rPr lang="zh-CN" altLang="en-US" dirty="0"/>
              <a:t>程序的跨平台编译链接脚本</a:t>
            </a:r>
            <a:endParaRPr dirty="0"/>
          </a:p>
        </p:txBody>
      </p:sp>
      <p:sp>
        <p:nvSpPr>
          <p:cNvPr id="15" name="powerpoint template design by DAJU_PPT正版来源小红书大橘PPT微信DAJU_PPT请勿抄袭搬运！盗版必究！">
            <a:extLst>
              <a:ext uri="{FF2B5EF4-FFF2-40B4-BE49-F238E27FC236}">
                <a16:creationId xmlns:a16="http://schemas.microsoft.com/office/drawing/2014/main" id="{D8BDC520-AAB5-0542-B599-5D9F860251FB}"/>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16" name="powerpoint template design by DAJU_PPT正版来源小红书大橘PPT微信DAJU_PPT请勿抄袭搬运！盗版必究！">
            <a:extLst>
              <a:ext uri="{FF2B5EF4-FFF2-40B4-BE49-F238E27FC236}">
                <a16:creationId xmlns:a16="http://schemas.microsoft.com/office/drawing/2014/main" id="{7C94240F-5EA6-79ED-6F0E-25D0E800A366}"/>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17" name="powerpoint template design by DAJU_PPT正版来源小红书大橘PPT微信DAJU_PPT请勿抄袭搬运！盗版必究！">
            <a:extLst>
              <a:ext uri="{FF2B5EF4-FFF2-40B4-BE49-F238E27FC236}">
                <a16:creationId xmlns:a16="http://schemas.microsoft.com/office/drawing/2014/main" id="{49B8E1FD-7C15-E219-D0CC-07601FBE2E32}"/>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000" i="0" u="none" strike="noStrike" cap="none" spc="0" dirty="0">
                <a:ln>
                  <a:noFill/>
                </a:ln>
                <a:solidFill>
                  <a:schemeClr val="bg1">
                    <a:alpha val="70000"/>
                  </a:schemeClr>
                </a:solidFill>
                <a:cs typeface="+mn-ea"/>
              </a:rPr>
              <a:t>考核题目讲解</a:t>
            </a:r>
            <a:endParaRPr lang="en-US" sz="2000" i="0" u="none" strike="noStrike" cap="none" spc="0" dirty="0">
              <a:ln>
                <a:noFill/>
              </a:ln>
              <a:solidFill>
                <a:schemeClr val="bg1">
                  <a:alpha val="70000"/>
                </a:schemeClr>
              </a:solidFill>
              <a:cs typeface="+mn-ea"/>
            </a:endParaRPr>
          </a:p>
        </p:txBody>
      </p:sp>
      <p:cxnSp>
        <p:nvCxnSpPr>
          <p:cNvPr id="18" name="powerpoint template design by DAJU_PPT正版来源小红书大橘PPT微信DAJU_PPT请勿抄袭搬运！盗版必究！">
            <a:extLst>
              <a:ext uri="{FF2B5EF4-FFF2-40B4-BE49-F238E27FC236}">
                <a16:creationId xmlns:a16="http://schemas.microsoft.com/office/drawing/2014/main" id="{491F446F-DCAD-D78D-0702-6544A9AD4D9D}"/>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powerpoint template design by DAJU_PPT正版来源小红书大橘PPT微信DAJU_PPT请勿抄袭搬运！盗版必究！">
            <a:extLst>
              <a:ext uri="{FF2B5EF4-FFF2-40B4-BE49-F238E27FC236}">
                <a16:creationId xmlns:a16="http://schemas.microsoft.com/office/drawing/2014/main" id="{A3F703D9-A920-9DC3-4DA2-8866C0FCBAF3}"/>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powerpoint template design by DAJU_PPT正版来源小红书大橘PPT微信DAJU_PPT请勿抄袭搬运！盗版必究！">
            <a:extLst>
              <a:ext uri="{FF2B5EF4-FFF2-40B4-BE49-F238E27FC236}">
                <a16:creationId xmlns:a16="http://schemas.microsoft.com/office/drawing/2014/main" id="{4B7E6369-F602-F2B5-8273-AE0A29132072}"/>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21" name="图片 3">
            <a:extLst>
              <a:ext uri="{FF2B5EF4-FFF2-40B4-BE49-F238E27FC236}">
                <a16:creationId xmlns:a16="http://schemas.microsoft.com/office/drawing/2014/main" id="{EDE83FB6-18B9-C108-BFA2-629C66D6EB95}"/>
              </a:ext>
            </a:extLst>
          </p:cNvPr>
          <p:cNvPicPr>
            <a:picLocks noChangeAspect="1"/>
          </p:cNvPicPr>
          <p:nvPr/>
        </p:nvPicPr>
        <p:blipFill rotWithShape="1">
          <a:blip r:embed="rId3"/>
          <a:stretch/>
        </p:blipFill>
        <p:spPr bwMode="auto">
          <a:xfrm>
            <a:off x="0" y="0"/>
            <a:ext cx="778510" cy="720090"/>
          </a:xfrm>
          <a:prstGeom prst="rect">
            <a:avLst/>
          </a:prstGeom>
        </p:spPr>
      </p:pic>
      <p:sp>
        <p:nvSpPr>
          <p:cNvPr id="22" name="powerpoint template design by DAJU_PPT正版来源小红书大橘PPT微信DAJU_PPT请勿抄袭搬运！盗版必究！">
            <a:extLst>
              <a:ext uri="{FF2B5EF4-FFF2-40B4-BE49-F238E27FC236}">
                <a16:creationId xmlns:a16="http://schemas.microsoft.com/office/drawing/2014/main" id="{AB4D921F-D0DD-1D61-A52C-E41AD5FBE04D}"/>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23" name="powerpoint template design by DAJU_PPT正版来源小红书大橘PPT微信DAJU_PPT请勿抄袭搬运！盗版必究！">
            <a:extLst>
              <a:ext uri="{FF2B5EF4-FFF2-40B4-BE49-F238E27FC236}">
                <a16:creationId xmlns:a16="http://schemas.microsoft.com/office/drawing/2014/main" id="{E4D092BB-7ABD-1AD8-35B9-2F73CD51000E}"/>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dirty="0" err="1">
                <a:solidFill>
                  <a:schemeClr val="bg1">
                    <a:alpha val="70000"/>
                  </a:schemeClr>
                </a:solidFill>
                <a:cs typeface="+mn-ea"/>
              </a:rPr>
              <a:t>Makefile</a:t>
            </a:r>
            <a:r>
              <a:rPr lang="zh-CN" altLang="en-US" sz="2000" dirty="0">
                <a:solidFill>
                  <a:schemeClr val="bg1">
                    <a:alpha val="70000"/>
                  </a:schemeClr>
                </a:solidFill>
                <a:cs typeface="+mn-ea"/>
              </a:rPr>
              <a:t>调用链</a:t>
            </a:r>
            <a:endParaRPr lang="en-US" sz="2000" i="0" u="none" strike="noStrike" cap="none" spc="0" dirty="0">
              <a:ln>
                <a:noFill/>
              </a:ln>
              <a:solidFill>
                <a:schemeClr val="bg1">
                  <a:alpha val="70000"/>
                </a:schemeClr>
              </a:solidFill>
              <a:cs typeface="+mn-ea"/>
            </a:endParaRPr>
          </a:p>
        </p:txBody>
      </p:sp>
      <p:sp>
        <p:nvSpPr>
          <p:cNvPr id="24" name="powerpoint template design by DAJU_PPT正版来源小红书大橘PPT微信DAJU_PPT请勿抄袭搬运！盗版必究！">
            <a:extLst>
              <a:ext uri="{FF2B5EF4-FFF2-40B4-BE49-F238E27FC236}">
                <a16:creationId xmlns:a16="http://schemas.microsoft.com/office/drawing/2014/main" id="{B0B4AA17-68D0-D9A9-DB08-F76B4159463E}"/>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800" b="1" i="0" u="none" strike="noStrike" cap="none" spc="0" dirty="0">
                <a:ln>
                  <a:noFill/>
                </a:ln>
                <a:solidFill>
                  <a:srgbClr val="00B050">
                    <a:alpha val="70000"/>
                  </a:srgbClr>
                </a:solidFill>
                <a:cs typeface="+mn-ea"/>
              </a:rPr>
              <a:t>架构</a:t>
            </a:r>
            <a:r>
              <a:rPr lang="zh-CN" sz="2800" b="1" i="0" u="none" strike="noStrike" cap="none" spc="0" dirty="0">
                <a:ln>
                  <a:noFill/>
                </a:ln>
                <a:solidFill>
                  <a:srgbClr val="00B050">
                    <a:alpha val="70000"/>
                  </a:srgbClr>
                </a:solidFill>
                <a:cs typeface="+mn-ea"/>
              </a:rPr>
              <a:t>讲解</a:t>
            </a:r>
            <a:endParaRPr lang="en-US" sz="2800" b="1" i="0" u="none" strike="noStrike" cap="none" spc="0" dirty="0">
              <a:ln>
                <a:noFill/>
              </a:ln>
              <a:solidFill>
                <a:srgbClr val="00B050">
                  <a:alpha val="70000"/>
                </a:srgbClr>
              </a:solidFill>
              <a:cs typeface="+mn-ea"/>
            </a:endParaRPr>
          </a:p>
        </p:txBody>
      </p:sp>
      <p:cxnSp>
        <p:nvCxnSpPr>
          <p:cNvPr id="25" name="直接连接符 24">
            <a:extLst>
              <a:ext uri="{FF2B5EF4-FFF2-40B4-BE49-F238E27FC236}">
                <a16:creationId xmlns:a16="http://schemas.microsoft.com/office/drawing/2014/main" id="{CDF4FB45-44B2-E488-5253-9C6834415C8E}"/>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FDB75ECC-A768-F790-EA64-04023EFC4A9F}"/>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92039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A442784-75E5-5B48-27F9-774BBE7043A2}"/>
            </a:ext>
          </a:extLst>
        </p:cNvPr>
        <p:cNvGrpSpPr/>
        <p:nvPr/>
      </p:nvGrpSpPr>
      <p:grpSpPr bwMode="auto">
        <a:xfrm>
          <a:off x="0" y="0"/>
          <a:ext cx="0" cy="0"/>
          <a:chOff x="0" y="0"/>
          <a:chExt cx="0" cy="0"/>
        </a:xfrm>
      </p:grpSpPr>
      <p:sp>
        <p:nvSpPr>
          <p:cNvPr id="600543380" name="应用程序">
            <a:extLst>
              <a:ext uri="{FF2B5EF4-FFF2-40B4-BE49-F238E27FC236}">
                <a16:creationId xmlns:a16="http://schemas.microsoft.com/office/drawing/2014/main" id="{209934EF-2B11-B36C-7190-613A03DEBF30}"/>
              </a:ext>
            </a:extLst>
          </p:cNvPr>
          <p:cNvSpPr/>
          <p:nvPr/>
        </p:nvSpPr>
        <p:spPr bwMode="auto">
          <a:xfrm>
            <a:off x="2874117" y="1145183"/>
            <a:ext cx="3629855"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应用程序</a:t>
            </a:r>
            <a:r>
              <a:rPr lang="en-US" dirty="0"/>
              <a:t>(Navy apps)</a:t>
            </a:r>
            <a:endParaRPr dirty="0"/>
          </a:p>
        </p:txBody>
      </p:sp>
      <p:sp>
        <p:nvSpPr>
          <p:cNvPr id="806812025" name="系统库框架">
            <a:extLst>
              <a:ext uri="{FF2B5EF4-FFF2-40B4-BE49-F238E27FC236}">
                <a16:creationId xmlns:a16="http://schemas.microsoft.com/office/drawing/2014/main" id="{9C676E01-3E5E-B4CA-DADF-1B1E7CDF10C6}"/>
              </a:ext>
            </a:extLst>
          </p:cNvPr>
          <p:cNvSpPr/>
          <p:nvPr/>
        </p:nvSpPr>
        <p:spPr bwMode="auto">
          <a:xfrm>
            <a:off x="2868489" y="1549562"/>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系统库框架层</a:t>
            </a:r>
            <a:r>
              <a:rPr lang="en-US" dirty="0"/>
              <a:t>(Navy libs)</a:t>
            </a:r>
            <a:endParaRPr dirty="0"/>
          </a:p>
        </p:txBody>
      </p:sp>
      <p:sp>
        <p:nvSpPr>
          <p:cNvPr id="971999399" name="系统内核">
            <a:extLst>
              <a:ext uri="{FF2B5EF4-FFF2-40B4-BE49-F238E27FC236}">
                <a16:creationId xmlns:a16="http://schemas.microsoft.com/office/drawing/2014/main" id="{A597791A-A415-6217-8DBF-3425B1E2CAD3}"/>
              </a:ext>
            </a:extLst>
          </p:cNvPr>
          <p:cNvSpPr/>
          <p:nvPr/>
        </p:nvSpPr>
        <p:spPr bwMode="auto">
          <a:xfrm>
            <a:off x="2868489" y="1967950"/>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系统内核</a:t>
            </a:r>
            <a:r>
              <a:rPr lang="en-US" dirty="0"/>
              <a:t>(Nanos)</a:t>
            </a:r>
            <a:endParaRPr dirty="0"/>
          </a:p>
        </p:txBody>
      </p:sp>
      <p:sp>
        <p:nvSpPr>
          <p:cNvPr id="1567425429" name="裸机程序">
            <a:extLst>
              <a:ext uri="{FF2B5EF4-FFF2-40B4-BE49-F238E27FC236}">
                <a16:creationId xmlns:a16="http://schemas.microsoft.com/office/drawing/2014/main" id="{3D153A20-B3FF-FAE8-AD74-4B0917697D2D}"/>
              </a:ext>
            </a:extLst>
          </p:cNvPr>
          <p:cNvSpPr/>
          <p:nvPr/>
        </p:nvSpPr>
        <p:spPr bwMode="auto">
          <a:xfrm>
            <a:off x="1201735" y="1967949"/>
            <a:ext cx="1666755" cy="418386"/>
          </a:xfrm>
          <a:prstGeom prst="rect">
            <a:avLst/>
          </a:prstGeom>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AM</a:t>
            </a:r>
            <a:r>
              <a:rPr lang="zh-CN" altLang="en-US" dirty="0"/>
              <a:t>程序</a:t>
            </a:r>
            <a:endParaRPr dirty="0"/>
          </a:p>
        </p:txBody>
      </p:sp>
      <p:sp>
        <p:nvSpPr>
          <p:cNvPr id="534821804" name="硬件抽象">
            <a:extLst>
              <a:ext uri="{FF2B5EF4-FFF2-40B4-BE49-F238E27FC236}">
                <a16:creationId xmlns:a16="http://schemas.microsoft.com/office/drawing/2014/main" id="{CF97D322-7D07-AF60-4419-F7BCD8868960}"/>
              </a:ext>
            </a:extLst>
          </p:cNvPr>
          <p:cNvSpPr/>
          <p:nvPr/>
        </p:nvSpPr>
        <p:spPr bwMode="auto">
          <a:xfrm>
            <a:off x="1201735" y="2386337"/>
            <a:ext cx="5296610"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硬件抽象层</a:t>
            </a:r>
            <a:r>
              <a:rPr lang="en-US" dirty="0"/>
              <a:t>(AM)</a:t>
            </a:r>
            <a:endParaRPr dirty="0"/>
          </a:p>
        </p:txBody>
      </p:sp>
      <p:sp>
        <p:nvSpPr>
          <p:cNvPr id="40666242" name="NEMU虚拟机">
            <a:extLst>
              <a:ext uri="{FF2B5EF4-FFF2-40B4-BE49-F238E27FC236}">
                <a16:creationId xmlns:a16="http://schemas.microsoft.com/office/drawing/2014/main" id="{71F404B6-D884-82A8-F1B1-6C9F9239B6B1}"/>
              </a:ext>
            </a:extLst>
          </p:cNvPr>
          <p:cNvSpPr/>
          <p:nvPr/>
        </p:nvSpPr>
        <p:spPr bwMode="auto">
          <a:xfrm>
            <a:off x="1092876" y="4021566"/>
            <a:ext cx="2675590" cy="41838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虚拟机(NEMU)</a:t>
            </a:r>
            <a:endParaRPr/>
          </a:p>
        </p:txBody>
      </p:sp>
      <p:sp>
        <p:nvSpPr>
          <p:cNvPr id="743261972" name="NPC">
            <a:extLst>
              <a:ext uri="{FF2B5EF4-FFF2-40B4-BE49-F238E27FC236}">
                <a16:creationId xmlns:a16="http://schemas.microsoft.com/office/drawing/2014/main" id="{034DC890-9D0C-8BBB-F94B-38EB9F77F822}"/>
              </a:ext>
            </a:extLst>
          </p:cNvPr>
          <p:cNvSpPr/>
          <p:nvPr/>
        </p:nvSpPr>
        <p:spPr bwMode="auto">
          <a:xfrm>
            <a:off x="4062470" y="4021566"/>
            <a:ext cx="2621018"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NPC</a:t>
            </a:r>
            <a:endParaRPr/>
          </a:p>
        </p:txBody>
      </p:sp>
      <p:sp>
        <p:nvSpPr>
          <p:cNvPr id="1311028271" name="矩形 1311028270">
            <a:extLst>
              <a:ext uri="{FF2B5EF4-FFF2-40B4-BE49-F238E27FC236}">
                <a16:creationId xmlns:a16="http://schemas.microsoft.com/office/drawing/2014/main" id="{8B6687B6-0DED-876E-7F32-E89DCFCCD5E2}"/>
              </a:ext>
            </a:extLst>
          </p:cNvPr>
          <p:cNvSpPr/>
          <p:nvPr/>
        </p:nvSpPr>
        <p:spPr bwMode="auto">
          <a:xfrm>
            <a:off x="3768466" y="2838398"/>
            <a:ext cx="414984" cy="957309"/>
          </a:xfrm>
          <a:prstGeom prst="rect">
            <a:avLst/>
          </a:prstGeom>
          <a:solidFill>
            <a:schemeClr val="bg2"/>
          </a:solidFill>
          <a:ln w="12700" cap="flat" cmpd="sng" algn="ctr">
            <a:solidFill>
              <a:schemeClr val="accent1">
                <a:shade val="50000"/>
                <a:alpha val="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600">
                <a:solidFill>
                  <a:schemeClr val="tx1"/>
                </a:solidFill>
              </a:rPr>
              <a:t>两种实现</a:t>
            </a:r>
            <a:endParaRPr>
              <a:solidFill>
                <a:schemeClr val="tx1"/>
              </a:solidFill>
            </a:endParaRPr>
          </a:p>
        </p:txBody>
      </p:sp>
      <p:sp>
        <p:nvSpPr>
          <p:cNvPr id="2328251" name="箭头: 下 2328250">
            <a:extLst>
              <a:ext uri="{FF2B5EF4-FFF2-40B4-BE49-F238E27FC236}">
                <a16:creationId xmlns:a16="http://schemas.microsoft.com/office/drawing/2014/main" id="{AD979FDB-06FC-0B0D-E20E-7FD5E0A9E6C7}"/>
              </a:ext>
            </a:extLst>
          </p:cNvPr>
          <p:cNvSpPr/>
          <p:nvPr/>
        </p:nvSpPr>
        <p:spPr bwMode="auto">
          <a:xfrm>
            <a:off x="2378758" y="2804724"/>
            <a:ext cx="644620" cy="990983"/>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200"/>
              <a:t>软件实现</a:t>
            </a:r>
          </a:p>
        </p:txBody>
      </p:sp>
      <p:sp>
        <p:nvSpPr>
          <p:cNvPr id="1699098867" name="箭头: 下 1699098866">
            <a:extLst>
              <a:ext uri="{FF2B5EF4-FFF2-40B4-BE49-F238E27FC236}">
                <a16:creationId xmlns:a16="http://schemas.microsoft.com/office/drawing/2014/main" id="{11BC2A2E-0692-2542-73F8-B66AD6F8BA45}"/>
              </a:ext>
            </a:extLst>
          </p:cNvPr>
          <p:cNvSpPr/>
          <p:nvPr/>
        </p:nvSpPr>
        <p:spPr bwMode="auto">
          <a:xfrm>
            <a:off x="4728358" y="2816364"/>
            <a:ext cx="644620" cy="1029468"/>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a:t>RTL实现</a:t>
            </a:r>
            <a:endParaRPr sz="1200"/>
          </a:p>
        </p:txBody>
      </p:sp>
      <p:sp>
        <p:nvSpPr>
          <p:cNvPr id="16112946" name="电路综合">
            <a:extLst>
              <a:ext uri="{FF2B5EF4-FFF2-40B4-BE49-F238E27FC236}">
                <a16:creationId xmlns:a16="http://schemas.microsoft.com/office/drawing/2014/main" id="{9F2A87ED-BE13-39FB-F885-AD80792273F3}"/>
              </a:ext>
            </a:extLst>
          </p:cNvPr>
          <p:cNvSpPr/>
          <p:nvPr/>
        </p:nvSpPr>
        <p:spPr bwMode="auto">
          <a:xfrm>
            <a:off x="4062470" y="4817104"/>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电路综合(Yosys)</a:t>
            </a:r>
            <a:endParaRPr/>
          </a:p>
        </p:txBody>
      </p:sp>
      <p:sp>
        <p:nvSpPr>
          <p:cNvPr id="813212810" name="布局布线">
            <a:extLst>
              <a:ext uri="{FF2B5EF4-FFF2-40B4-BE49-F238E27FC236}">
                <a16:creationId xmlns:a16="http://schemas.microsoft.com/office/drawing/2014/main" id="{FA42FB69-8F8A-825A-A3A5-DB5419005053}"/>
              </a:ext>
            </a:extLst>
          </p:cNvPr>
          <p:cNvSpPr/>
          <p:nvPr/>
        </p:nvSpPr>
        <p:spPr bwMode="auto">
          <a:xfrm>
            <a:off x="4062470" y="5218648"/>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布局布线(iEDA)</a:t>
            </a:r>
            <a:endParaRPr/>
          </a:p>
        </p:txBody>
      </p:sp>
      <p:sp>
        <p:nvSpPr>
          <p:cNvPr id="1835667885" name="嵌合分析">
            <a:extLst>
              <a:ext uri="{FF2B5EF4-FFF2-40B4-BE49-F238E27FC236}">
                <a16:creationId xmlns:a16="http://schemas.microsoft.com/office/drawing/2014/main" id="{3B65E840-3699-9825-D031-2934063F08DB}"/>
              </a:ext>
            </a:extLst>
          </p:cNvPr>
          <p:cNvSpPr/>
          <p:nvPr/>
        </p:nvSpPr>
        <p:spPr bwMode="auto">
          <a:xfrm>
            <a:off x="4062470" y="5637036"/>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签核</a:t>
            </a:r>
            <a:r>
              <a:rPr lang="en-US"/>
              <a:t>分析</a:t>
            </a:r>
            <a:endParaRPr/>
          </a:p>
        </p:txBody>
      </p:sp>
      <p:sp>
        <p:nvSpPr>
          <p:cNvPr id="127215868" name="流片制造">
            <a:extLst>
              <a:ext uri="{FF2B5EF4-FFF2-40B4-BE49-F238E27FC236}">
                <a16:creationId xmlns:a16="http://schemas.microsoft.com/office/drawing/2014/main" id="{CD49F202-E3F2-3599-4E7D-6C3B3602BC98}"/>
              </a:ext>
            </a:extLst>
          </p:cNvPr>
          <p:cNvSpPr/>
          <p:nvPr/>
        </p:nvSpPr>
        <p:spPr bwMode="auto">
          <a:xfrm>
            <a:off x="4062470" y="6055425"/>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流片制造</a:t>
            </a:r>
          </a:p>
        </p:txBody>
      </p:sp>
      <p:sp>
        <p:nvSpPr>
          <p:cNvPr id="328657211" name="文本框 NavyLib" hidden="1">
            <a:extLst>
              <a:ext uri="{FF2B5EF4-FFF2-40B4-BE49-F238E27FC236}">
                <a16:creationId xmlns:a16="http://schemas.microsoft.com/office/drawing/2014/main" id="{40B73286-B6BD-9EFB-0D15-5E7D6B1E4B69}"/>
              </a:ext>
            </a:extLst>
          </p:cNvPr>
          <p:cNvSpPr txBox="1"/>
          <p:nvPr/>
        </p:nvSpPr>
        <p:spPr bwMode="auto">
          <a:xfrm>
            <a:off x="7524362" y="3520663"/>
            <a:ext cx="3927777" cy="211637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dirty="0" err="1"/>
              <a:t>基于Nanos内核的程序库环境支持</a:t>
            </a:r>
            <a:r>
              <a:rPr lang="en-US" dirty="0"/>
              <a:t>/</a:t>
            </a:r>
            <a:r>
              <a:rPr lang="en-US" dirty="0" err="1"/>
              <a:t>适配，可编写</a:t>
            </a:r>
            <a:r>
              <a:rPr lang="en-US" dirty="0"/>
              <a:t>/</a:t>
            </a:r>
            <a:r>
              <a:rPr lang="en-US" dirty="0" err="1"/>
              <a:t>移植更强大丰富的应用程序</a:t>
            </a:r>
            <a:r>
              <a:rPr lang="en-US" dirty="0"/>
              <a:t>。</a:t>
            </a:r>
          </a:p>
          <a:p>
            <a:pPr marL="283878" indent="-283878">
              <a:buAutoNum type="arabicPeriod"/>
              <a:defRPr/>
            </a:pPr>
            <a:r>
              <a:rPr lang="en-US" dirty="0" err="1"/>
              <a:t>Nanos系统调用库</a:t>
            </a:r>
            <a:endParaRPr lang="en-US" dirty="0"/>
          </a:p>
          <a:p>
            <a:pPr>
              <a:defRPr/>
            </a:pPr>
            <a:r>
              <a:rPr lang="en-US" sz="1800" b="0" i="0" u="none" strike="noStrike" cap="none" spc="0" dirty="0">
                <a:solidFill>
                  <a:schemeClr val="tx1"/>
                </a:solidFill>
                <a:latin typeface="Arial"/>
                <a:ea typeface="微软雅黑"/>
                <a:cs typeface="Arial"/>
              </a:rPr>
              <a:t>2. </a:t>
            </a:r>
            <a:r>
              <a:rPr lang="en-US" sz="1800" b="0" i="0" u="none" strike="noStrike" cap="none" spc="0" dirty="0" err="1">
                <a:solidFill>
                  <a:schemeClr val="tx1"/>
                </a:solidFill>
                <a:latin typeface="Arial"/>
                <a:ea typeface="微软雅黑"/>
                <a:cs typeface="Arial"/>
              </a:rPr>
              <a:t>运行环境库</a:t>
            </a:r>
            <a:endParaRPr lang="en-US" dirty="0"/>
          </a:p>
          <a:p>
            <a:pPr>
              <a:defRPr/>
            </a:pPr>
            <a:r>
              <a:rPr lang="en-US" sz="1800" b="0" i="0" u="none" strike="noStrike" cap="none" spc="0" dirty="0">
                <a:solidFill>
                  <a:schemeClr val="tx1"/>
                </a:solidFill>
                <a:latin typeface="Arial"/>
                <a:ea typeface="微软雅黑"/>
                <a:cs typeface="Arial"/>
              </a:rPr>
              <a:t>3. </a:t>
            </a:r>
            <a:r>
              <a:rPr lang="en-US" sz="1800" b="0" i="0" u="none" strike="noStrike" cap="none" spc="0" dirty="0" err="1">
                <a:solidFill>
                  <a:schemeClr val="tx1"/>
                </a:solidFill>
                <a:latin typeface="Arial"/>
                <a:ea typeface="微软雅黑"/>
                <a:cs typeface="Arial"/>
              </a:rPr>
              <a:t>媒体硬件库</a:t>
            </a:r>
            <a:r>
              <a:rPr lang="en-US" dirty="0"/>
              <a:t>/</a:t>
            </a:r>
            <a:r>
              <a:rPr lang="en-US" dirty="0" err="1"/>
              <a:t>资源解析库</a:t>
            </a:r>
            <a:endParaRPr sz="1800" dirty="0"/>
          </a:p>
          <a:p>
            <a:pPr>
              <a:defRPr/>
            </a:pPr>
            <a:r>
              <a:rPr lang="en-US" dirty="0"/>
              <a:t>4. </a:t>
            </a:r>
            <a:r>
              <a:rPr lang="en-US" dirty="0" err="1"/>
              <a:t>应用镜像文件打包</a:t>
            </a:r>
            <a:endParaRPr lang="en-US" dirty="0"/>
          </a:p>
        </p:txBody>
      </p:sp>
      <p:sp>
        <p:nvSpPr>
          <p:cNvPr id="3" name="矩形 2">
            <a:extLst>
              <a:ext uri="{FF2B5EF4-FFF2-40B4-BE49-F238E27FC236}">
                <a16:creationId xmlns:a16="http://schemas.microsoft.com/office/drawing/2014/main" id="{CEAD15F1-ADB6-BA03-4696-8C65612A6871}"/>
              </a:ext>
            </a:extLst>
          </p:cNvPr>
          <p:cNvSpPr/>
          <p:nvPr/>
        </p:nvSpPr>
        <p:spPr>
          <a:xfrm>
            <a:off x="1040265" y="5115660"/>
            <a:ext cx="270456" cy="248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B4D74AF0-8A48-BDF3-21F8-9D4C93AF80EE}"/>
              </a:ext>
            </a:extLst>
          </p:cNvPr>
          <p:cNvSpPr txBox="1"/>
          <p:nvPr/>
        </p:nvSpPr>
        <p:spPr>
          <a:xfrm>
            <a:off x="1547495" y="5050824"/>
            <a:ext cx="940157" cy="369332"/>
          </a:xfrm>
          <a:prstGeom prst="rect">
            <a:avLst/>
          </a:prstGeom>
          <a:noFill/>
        </p:spPr>
        <p:txBody>
          <a:bodyPr wrap="square" rtlCol="0">
            <a:spAutoFit/>
          </a:bodyPr>
          <a:lstStyle/>
          <a:p>
            <a:r>
              <a:rPr lang="zh-CN" altLang="en-US" dirty="0"/>
              <a:t>软件层</a:t>
            </a:r>
          </a:p>
        </p:txBody>
      </p:sp>
      <p:sp>
        <p:nvSpPr>
          <p:cNvPr id="5" name="矩形 4">
            <a:extLst>
              <a:ext uri="{FF2B5EF4-FFF2-40B4-BE49-F238E27FC236}">
                <a16:creationId xmlns:a16="http://schemas.microsoft.com/office/drawing/2014/main" id="{A4D7361E-3A93-1C37-040B-19C7FA30770E}"/>
              </a:ext>
            </a:extLst>
          </p:cNvPr>
          <p:cNvSpPr/>
          <p:nvPr/>
        </p:nvSpPr>
        <p:spPr>
          <a:xfrm>
            <a:off x="1046284" y="5508222"/>
            <a:ext cx="270456" cy="2489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00"/>
              </a:solidFill>
            </a:endParaRPr>
          </a:p>
        </p:txBody>
      </p:sp>
      <p:sp>
        <p:nvSpPr>
          <p:cNvPr id="6" name="文本框 5">
            <a:extLst>
              <a:ext uri="{FF2B5EF4-FFF2-40B4-BE49-F238E27FC236}">
                <a16:creationId xmlns:a16="http://schemas.microsoft.com/office/drawing/2014/main" id="{1A52E74A-33FF-8725-4055-4407897BD031}"/>
              </a:ext>
            </a:extLst>
          </p:cNvPr>
          <p:cNvSpPr txBox="1"/>
          <p:nvPr/>
        </p:nvSpPr>
        <p:spPr>
          <a:xfrm>
            <a:off x="1553514" y="5443386"/>
            <a:ext cx="1423537" cy="369332"/>
          </a:xfrm>
          <a:prstGeom prst="rect">
            <a:avLst/>
          </a:prstGeom>
          <a:noFill/>
        </p:spPr>
        <p:txBody>
          <a:bodyPr wrap="square" rtlCol="0">
            <a:spAutoFit/>
          </a:bodyPr>
          <a:lstStyle/>
          <a:p>
            <a:r>
              <a:rPr lang="zh-CN" altLang="en-US" dirty="0"/>
              <a:t>硬件模拟层</a:t>
            </a:r>
          </a:p>
        </p:txBody>
      </p:sp>
      <p:sp>
        <p:nvSpPr>
          <p:cNvPr id="7" name="矩形 6">
            <a:extLst>
              <a:ext uri="{FF2B5EF4-FFF2-40B4-BE49-F238E27FC236}">
                <a16:creationId xmlns:a16="http://schemas.microsoft.com/office/drawing/2014/main" id="{27F7C3B8-DE59-0C07-02FD-0AAF4AFEBB34}"/>
              </a:ext>
            </a:extLst>
          </p:cNvPr>
          <p:cNvSpPr/>
          <p:nvPr/>
        </p:nvSpPr>
        <p:spPr>
          <a:xfrm>
            <a:off x="1046284" y="5889925"/>
            <a:ext cx="270456" cy="248991"/>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BF63DA6D-7091-C22C-2125-68942E1FCBEA}"/>
              </a:ext>
            </a:extLst>
          </p:cNvPr>
          <p:cNvSpPr txBox="1"/>
          <p:nvPr/>
        </p:nvSpPr>
        <p:spPr>
          <a:xfrm>
            <a:off x="1553514" y="5825089"/>
            <a:ext cx="1423537" cy="369332"/>
          </a:xfrm>
          <a:prstGeom prst="rect">
            <a:avLst/>
          </a:prstGeom>
          <a:noFill/>
        </p:spPr>
        <p:txBody>
          <a:bodyPr wrap="square" rtlCol="0">
            <a:spAutoFit/>
          </a:bodyPr>
          <a:lstStyle/>
          <a:p>
            <a:r>
              <a:rPr lang="zh-CN" altLang="en-US" dirty="0"/>
              <a:t>硬件实现层</a:t>
            </a:r>
          </a:p>
        </p:txBody>
      </p:sp>
      <p:sp>
        <p:nvSpPr>
          <p:cNvPr id="9" name="箭头: 下 8">
            <a:extLst>
              <a:ext uri="{FF2B5EF4-FFF2-40B4-BE49-F238E27FC236}">
                <a16:creationId xmlns:a16="http://schemas.microsoft.com/office/drawing/2014/main" id="{4EDC0669-7D92-1E14-69E3-B78346437B80}"/>
              </a:ext>
            </a:extLst>
          </p:cNvPr>
          <p:cNvSpPr/>
          <p:nvPr/>
        </p:nvSpPr>
        <p:spPr>
          <a:xfrm>
            <a:off x="4728358" y="4439496"/>
            <a:ext cx="767204" cy="352379"/>
          </a:xfrm>
          <a:prstGeom prst="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5DFE5CAB-A686-EFE0-44FB-65373347D78A}"/>
              </a:ext>
            </a:extLst>
          </p:cNvPr>
          <p:cNvSpPr txBox="1"/>
          <p:nvPr/>
        </p:nvSpPr>
        <p:spPr>
          <a:xfrm>
            <a:off x="5495562" y="4414267"/>
            <a:ext cx="1650381" cy="369332"/>
          </a:xfrm>
          <a:prstGeom prst="rect">
            <a:avLst/>
          </a:prstGeom>
          <a:noFill/>
        </p:spPr>
        <p:txBody>
          <a:bodyPr wrap="square" rtlCol="0">
            <a:spAutoFit/>
          </a:bodyPr>
          <a:lstStyle/>
          <a:p>
            <a:r>
              <a:rPr lang="zh-CN" altLang="en-US" dirty="0"/>
              <a:t>行为仿真通过</a:t>
            </a:r>
          </a:p>
        </p:txBody>
      </p:sp>
      <p:sp>
        <p:nvSpPr>
          <p:cNvPr id="11" name="矩形 10">
            <a:extLst>
              <a:ext uri="{FF2B5EF4-FFF2-40B4-BE49-F238E27FC236}">
                <a16:creationId xmlns:a16="http://schemas.microsoft.com/office/drawing/2014/main" id="{64FC06BB-F5F0-7D70-BF33-2B17C43965E7}"/>
              </a:ext>
            </a:extLst>
          </p:cNvPr>
          <p:cNvSpPr/>
          <p:nvPr/>
        </p:nvSpPr>
        <p:spPr>
          <a:xfrm>
            <a:off x="1040265" y="4687302"/>
            <a:ext cx="270456" cy="24899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21764099-2234-3A5F-36B0-1016773DAB11}"/>
              </a:ext>
            </a:extLst>
          </p:cNvPr>
          <p:cNvSpPr txBox="1"/>
          <p:nvPr/>
        </p:nvSpPr>
        <p:spPr>
          <a:xfrm>
            <a:off x="1547495" y="4622466"/>
            <a:ext cx="1124337" cy="369332"/>
          </a:xfrm>
          <a:prstGeom prst="rect">
            <a:avLst/>
          </a:prstGeom>
          <a:noFill/>
        </p:spPr>
        <p:txBody>
          <a:bodyPr wrap="square" rtlCol="0">
            <a:spAutoFit/>
          </a:bodyPr>
          <a:lstStyle/>
          <a:p>
            <a:r>
              <a:rPr lang="zh-CN" altLang="en-US" dirty="0"/>
              <a:t>当前演示</a:t>
            </a:r>
          </a:p>
        </p:txBody>
      </p:sp>
      <p:sp>
        <p:nvSpPr>
          <p:cNvPr id="249660570" name="文本框 249660569"/>
          <p:cNvSpPr txBox="1"/>
          <p:nvPr/>
        </p:nvSpPr>
        <p:spPr bwMode="auto">
          <a:xfrm>
            <a:off x="7402480" y="1145183"/>
            <a:ext cx="3936777" cy="246875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dirty="0" err="1"/>
              <a:t>宿主机</a:t>
            </a:r>
            <a:r>
              <a:rPr lang="zh-CN" altLang="en-US" dirty="0"/>
              <a:t>环境</a:t>
            </a:r>
            <a:r>
              <a:rPr lang="en-US" dirty="0" err="1"/>
              <a:t>模拟各ISA硬件的虚拟机</a:t>
            </a:r>
            <a:endParaRPr lang="en-US" dirty="0"/>
          </a:p>
          <a:p>
            <a:pPr marL="283878" indent="-283878">
              <a:buAutoNum type="arabicPeriod"/>
              <a:defRPr/>
            </a:pPr>
            <a:r>
              <a:rPr lang="en-US" dirty="0" err="1"/>
              <a:t>Kconfig配置</a:t>
            </a:r>
            <a:r>
              <a:rPr lang="zh-CN" altLang="en-US" dirty="0"/>
              <a:t>虚拟机参数</a:t>
            </a:r>
            <a:endParaRPr lang="en-US" dirty="0"/>
          </a:p>
          <a:p>
            <a:pPr marL="283878" indent="-283878">
              <a:buAutoNum type="arabicPeriod"/>
              <a:defRPr/>
            </a:pPr>
            <a:r>
              <a:rPr lang="zh-CN" altLang="en-US" dirty="0"/>
              <a:t>抽象出</a:t>
            </a:r>
            <a:r>
              <a:rPr lang="en-US" dirty="0"/>
              <a:t>ISA</a:t>
            </a:r>
            <a:r>
              <a:rPr lang="zh-CN" altLang="en-US" dirty="0"/>
              <a:t>无关的</a:t>
            </a:r>
            <a:r>
              <a:rPr lang="en-US" altLang="zh-CN" dirty="0"/>
              <a:t>CPU</a:t>
            </a:r>
            <a:r>
              <a:rPr lang="zh-CN" altLang="en-US" dirty="0"/>
              <a:t>行为接口。</a:t>
            </a:r>
            <a:endParaRPr lang="en-US" altLang="zh-CN" dirty="0"/>
          </a:p>
          <a:p>
            <a:pPr marL="283878" indent="-283878">
              <a:buAutoNum type="arabicPeriod"/>
              <a:defRPr/>
            </a:pPr>
            <a:r>
              <a:rPr lang="zh-CN" altLang="en-US" dirty="0"/>
              <a:t>平台可执行程序镜像载入与运行</a:t>
            </a:r>
            <a:endParaRPr lang="en-US" dirty="0"/>
          </a:p>
          <a:p>
            <a:pPr marL="283878" indent="-283878">
              <a:buAutoNum type="arabicPeriod"/>
              <a:defRPr/>
            </a:pPr>
            <a:r>
              <a:rPr lang="en-US" dirty="0" err="1"/>
              <a:t>宿主机</a:t>
            </a:r>
            <a:r>
              <a:rPr lang="zh-CN" altLang="en-US" dirty="0"/>
              <a:t>库环境</a:t>
            </a:r>
            <a:r>
              <a:rPr lang="en-US" altLang="zh-CN" dirty="0"/>
              <a:t>+</a:t>
            </a:r>
            <a:r>
              <a:rPr lang="zh-CN" altLang="en-US" dirty="0"/>
              <a:t>外设</a:t>
            </a:r>
            <a:r>
              <a:rPr lang="en-US" dirty="0" err="1"/>
              <a:t>资源</a:t>
            </a:r>
            <a:endParaRPr lang="en-US" dirty="0"/>
          </a:p>
          <a:p>
            <a:pPr marL="283878" indent="-283878">
              <a:buAutoNum type="arabicPeriod"/>
              <a:defRPr/>
            </a:pPr>
            <a:r>
              <a:rPr lang="en-US" dirty="0" err="1"/>
              <a:t>基础调试设施Monitor</a:t>
            </a:r>
            <a:r>
              <a:rPr lang="en-US" dirty="0"/>
              <a:t>/</a:t>
            </a:r>
            <a:r>
              <a:rPr lang="en-US" dirty="0" err="1"/>
              <a:t>DiffTest</a:t>
            </a:r>
            <a:endParaRPr lang="en-US" dirty="0"/>
          </a:p>
        </p:txBody>
      </p:sp>
      <p:sp>
        <p:nvSpPr>
          <p:cNvPr id="2" name="powerpoint template design by DAJU_PPT正版来源小红书大橘PPT微信DAJU_PPT请勿抄袭搬运！盗版必究！">
            <a:extLst>
              <a:ext uri="{FF2B5EF4-FFF2-40B4-BE49-F238E27FC236}">
                <a16:creationId xmlns:a16="http://schemas.microsoft.com/office/drawing/2014/main" id="{FB4C6AFE-6BB8-0953-9841-DD60FD5F648F}"/>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13" name="powerpoint template design by DAJU_PPT正版来源小红书大橘PPT微信DAJU_PPT请勿抄袭搬运！盗版必究！">
            <a:extLst>
              <a:ext uri="{FF2B5EF4-FFF2-40B4-BE49-F238E27FC236}">
                <a16:creationId xmlns:a16="http://schemas.microsoft.com/office/drawing/2014/main" id="{E658E81B-2D23-73E3-4338-D69071375DAF}"/>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15" name="powerpoint template design by DAJU_PPT正版来源小红书大橘PPT微信DAJU_PPT请勿抄袭搬运！盗版必究！">
            <a:extLst>
              <a:ext uri="{FF2B5EF4-FFF2-40B4-BE49-F238E27FC236}">
                <a16:creationId xmlns:a16="http://schemas.microsoft.com/office/drawing/2014/main" id="{FBE19E66-F529-2703-0249-87BA9ECE201E}"/>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000" i="0" u="none" strike="noStrike" cap="none" spc="0" dirty="0">
                <a:ln>
                  <a:noFill/>
                </a:ln>
                <a:solidFill>
                  <a:schemeClr val="bg1">
                    <a:alpha val="70000"/>
                  </a:schemeClr>
                </a:solidFill>
                <a:cs typeface="+mn-ea"/>
              </a:rPr>
              <a:t>考核题目讲解</a:t>
            </a:r>
            <a:endParaRPr lang="en-US" sz="2000" i="0" u="none" strike="noStrike" cap="none" spc="0" dirty="0">
              <a:ln>
                <a:noFill/>
              </a:ln>
              <a:solidFill>
                <a:schemeClr val="bg1">
                  <a:alpha val="70000"/>
                </a:schemeClr>
              </a:solidFill>
              <a:cs typeface="+mn-ea"/>
            </a:endParaRPr>
          </a:p>
        </p:txBody>
      </p:sp>
      <p:cxnSp>
        <p:nvCxnSpPr>
          <p:cNvPr id="16" name="powerpoint template design by DAJU_PPT正版来源小红书大橘PPT微信DAJU_PPT请勿抄袭搬运！盗版必究！">
            <a:extLst>
              <a:ext uri="{FF2B5EF4-FFF2-40B4-BE49-F238E27FC236}">
                <a16:creationId xmlns:a16="http://schemas.microsoft.com/office/drawing/2014/main" id="{651AF81E-6014-FEB8-E4FB-3F051F59CD24}"/>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powerpoint template design by DAJU_PPT正版来源小红书大橘PPT微信DAJU_PPT请勿抄袭搬运！盗版必究！">
            <a:extLst>
              <a:ext uri="{FF2B5EF4-FFF2-40B4-BE49-F238E27FC236}">
                <a16:creationId xmlns:a16="http://schemas.microsoft.com/office/drawing/2014/main" id="{09134017-44FE-2018-7CB0-AFB53B3024E8}"/>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powerpoint template design by DAJU_PPT正版来源小红书大橘PPT微信DAJU_PPT请勿抄袭搬运！盗版必究！">
            <a:extLst>
              <a:ext uri="{FF2B5EF4-FFF2-40B4-BE49-F238E27FC236}">
                <a16:creationId xmlns:a16="http://schemas.microsoft.com/office/drawing/2014/main" id="{98E0276C-9E75-88B5-DC9D-9ACF2CAF75F3}"/>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19" name="图片 3">
            <a:extLst>
              <a:ext uri="{FF2B5EF4-FFF2-40B4-BE49-F238E27FC236}">
                <a16:creationId xmlns:a16="http://schemas.microsoft.com/office/drawing/2014/main" id="{B0A13E11-A949-B6AB-B3C3-CEF061619C37}"/>
              </a:ext>
            </a:extLst>
          </p:cNvPr>
          <p:cNvPicPr>
            <a:picLocks noChangeAspect="1"/>
          </p:cNvPicPr>
          <p:nvPr/>
        </p:nvPicPr>
        <p:blipFill rotWithShape="1">
          <a:blip r:embed="rId3"/>
          <a:stretch/>
        </p:blipFill>
        <p:spPr bwMode="auto">
          <a:xfrm>
            <a:off x="0" y="0"/>
            <a:ext cx="778510" cy="720090"/>
          </a:xfrm>
          <a:prstGeom prst="rect">
            <a:avLst/>
          </a:prstGeom>
        </p:spPr>
      </p:pic>
      <p:sp>
        <p:nvSpPr>
          <p:cNvPr id="20" name="powerpoint template design by DAJU_PPT正版来源小红书大橘PPT微信DAJU_PPT请勿抄袭搬运！盗版必究！">
            <a:extLst>
              <a:ext uri="{FF2B5EF4-FFF2-40B4-BE49-F238E27FC236}">
                <a16:creationId xmlns:a16="http://schemas.microsoft.com/office/drawing/2014/main" id="{4D1D0A02-ED98-B8C7-A9E7-89C6243BCDAD}"/>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21" name="powerpoint template design by DAJU_PPT正版来源小红书大橘PPT微信DAJU_PPT请勿抄袭搬运！盗版必究！">
            <a:extLst>
              <a:ext uri="{FF2B5EF4-FFF2-40B4-BE49-F238E27FC236}">
                <a16:creationId xmlns:a16="http://schemas.microsoft.com/office/drawing/2014/main" id="{9ED6C4D3-4EB6-1DDF-FD7E-1CC9D680DB64}"/>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dirty="0" err="1">
                <a:solidFill>
                  <a:schemeClr val="bg1">
                    <a:alpha val="70000"/>
                  </a:schemeClr>
                </a:solidFill>
                <a:cs typeface="+mn-ea"/>
              </a:rPr>
              <a:t>Makefile</a:t>
            </a:r>
            <a:r>
              <a:rPr lang="zh-CN" altLang="en-US" sz="2000" dirty="0">
                <a:solidFill>
                  <a:schemeClr val="bg1">
                    <a:alpha val="70000"/>
                  </a:schemeClr>
                </a:solidFill>
                <a:cs typeface="+mn-ea"/>
              </a:rPr>
              <a:t>调用链</a:t>
            </a:r>
            <a:endParaRPr lang="en-US" sz="2000" i="0" u="none" strike="noStrike" cap="none" spc="0" dirty="0">
              <a:ln>
                <a:noFill/>
              </a:ln>
              <a:solidFill>
                <a:schemeClr val="bg1">
                  <a:alpha val="70000"/>
                </a:schemeClr>
              </a:solidFill>
              <a:cs typeface="+mn-ea"/>
            </a:endParaRPr>
          </a:p>
        </p:txBody>
      </p:sp>
      <p:sp>
        <p:nvSpPr>
          <p:cNvPr id="22" name="powerpoint template design by DAJU_PPT正版来源小红书大橘PPT微信DAJU_PPT请勿抄袭搬运！盗版必究！">
            <a:extLst>
              <a:ext uri="{FF2B5EF4-FFF2-40B4-BE49-F238E27FC236}">
                <a16:creationId xmlns:a16="http://schemas.microsoft.com/office/drawing/2014/main" id="{84950A40-3CC8-B2FD-6260-68DD9AA1FC69}"/>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800" b="1" i="0" u="none" strike="noStrike" cap="none" spc="0" dirty="0">
                <a:ln>
                  <a:noFill/>
                </a:ln>
                <a:solidFill>
                  <a:srgbClr val="00B050">
                    <a:alpha val="70000"/>
                  </a:srgbClr>
                </a:solidFill>
                <a:cs typeface="+mn-ea"/>
              </a:rPr>
              <a:t>架构</a:t>
            </a:r>
            <a:r>
              <a:rPr lang="zh-CN" sz="2800" b="1" i="0" u="none" strike="noStrike" cap="none" spc="0" dirty="0">
                <a:ln>
                  <a:noFill/>
                </a:ln>
                <a:solidFill>
                  <a:srgbClr val="00B050">
                    <a:alpha val="70000"/>
                  </a:srgbClr>
                </a:solidFill>
                <a:cs typeface="+mn-ea"/>
              </a:rPr>
              <a:t>讲解</a:t>
            </a:r>
            <a:endParaRPr lang="en-US" sz="2800" b="1" i="0" u="none" strike="noStrike" cap="none" spc="0" dirty="0">
              <a:ln>
                <a:noFill/>
              </a:ln>
              <a:solidFill>
                <a:srgbClr val="00B050">
                  <a:alpha val="70000"/>
                </a:srgbClr>
              </a:solidFill>
              <a:cs typeface="+mn-ea"/>
            </a:endParaRPr>
          </a:p>
        </p:txBody>
      </p:sp>
      <p:cxnSp>
        <p:nvCxnSpPr>
          <p:cNvPr id="23" name="直接连接符 22">
            <a:extLst>
              <a:ext uri="{FF2B5EF4-FFF2-40B4-BE49-F238E27FC236}">
                <a16:creationId xmlns:a16="http://schemas.microsoft.com/office/drawing/2014/main" id="{AB701645-CD4F-CC8A-7BB5-238128DBFE79}"/>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DEC0875B-D081-4E6D-036D-4F35315C2F16}"/>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6063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D35FF82-E929-D56F-5CA1-9790B17EFD25}"/>
            </a:ext>
          </a:extLst>
        </p:cNvPr>
        <p:cNvGrpSpPr/>
        <p:nvPr/>
      </p:nvGrpSpPr>
      <p:grpSpPr bwMode="auto">
        <a:xfrm>
          <a:off x="0" y="0"/>
          <a:ext cx="0" cy="0"/>
          <a:chOff x="0" y="0"/>
          <a:chExt cx="0" cy="0"/>
        </a:xfrm>
      </p:grpSpPr>
      <p:sp>
        <p:nvSpPr>
          <p:cNvPr id="600543380" name="应用程序">
            <a:extLst>
              <a:ext uri="{FF2B5EF4-FFF2-40B4-BE49-F238E27FC236}">
                <a16:creationId xmlns:a16="http://schemas.microsoft.com/office/drawing/2014/main" id="{EB46313C-DB6B-7D92-408D-69C453E9F2E5}"/>
              </a:ext>
            </a:extLst>
          </p:cNvPr>
          <p:cNvSpPr/>
          <p:nvPr/>
        </p:nvSpPr>
        <p:spPr bwMode="auto">
          <a:xfrm>
            <a:off x="2874117" y="1145183"/>
            <a:ext cx="3629855"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应用程序</a:t>
            </a:r>
            <a:r>
              <a:rPr lang="en-US" dirty="0"/>
              <a:t>(Navy apps)</a:t>
            </a:r>
            <a:endParaRPr dirty="0"/>
          </a:p>
        </p:txBody>
      </p:sp>
      <p:sp>
        <p:nvSpPr>
          <p:cNvPr id="806812025" name="系统库框架">
            <a:extLst>
              <a:ext uri="{FF2B5EF4-FFF2-40B4-BE49-F238E27FC236}">
                <a16:creationId xmlns:a16="http://schemas.microsoft.com/office/drawing/2014/main" id="{683AD732-6251-3B83-AB36-10CB682B29D4}"/>
              </a:ext>
            </a:extLst>
          </p:cNvPr>
          <p:cNvSpPr/>
          <p:nvPr/>
        </p:nvSpPr>
        <p:spPr bwMode="auto">
          <a:xfrm>
            <a:off x="2868489" y="1549562"/>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系统库框架层</a:t>
            </a:r>
            <a:r>
              <a:rPr lang="en-US" dirty="0"/>
              <a:t>(Navy libs)</a:t>
            </a:r>
            <a:endParaRPr dirty="0"/>
          </a:p>
        </p:txBody>
      </p:sp>
      <p:sp>
        <p:nvSpPr>
          <p:cNvPr id="971999399" name="系统内核">
            <a:extLst>
              <a:ext uri="{FF2B5EF4-FFF2-40B4-BE49-F238E27FC236}">
                <a16:creationId xmlns:a16="http://schemas.microsoft.com/office/drawing/2014/main" id="{A0824B84-4B7D-63C6-7DAE-5A7F3A6679B9}"/>
              </a:ext>
            </a:extLst>
          </p:cNvPr>
          <p:cNvSpPr/>
          <p:nvPr/>
        </p:nvSpPr>
        <p:spPr bwMode="auto">
          <a:xfrm>
            <a:off x="2868489" y="1967950"/>
            <a:ext cx="3629855"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系统内核</a:t>
            </a:r>
            <a:r>
              <a:rPr lang="en-US" dirty="0"/>
              <a:t>(Nanos)</a:t>
            </a:r>
            <a:endParaRPr dirty="0"/>
          </a:p>
        </p:txBody>
      </p:sp>
      <p:sp>
        <p:nvSpPr>
          <p:cNvPr id="1567425429" name="裸机程序">
            <a:extLst>
              <a:ext uri="{FF2B5EF4-FFF2-40B4-BE49-F238E27FC236}">
                <a16:creationId xmlns:a16="http://schemas.microsoft.com/office/drawing/2014/main" id="{0A45FB49-F7E8-DB2F-672E-9735ACDD204B}"/>
              </a:ext>
            </a:extLst>
          </p:cNvPr>
          <p:cNvSpPr/>
          <p:nvPr/>
        </p:nvSpPr>
        <p:spPr bwMode="auto">
          <a:xfrm>
            <a:off x="1201735" y="1967949"/>
            <a:ext cx="1666755" cy="418386"/>
          </a:xfrm>
          <a:prstGeom prst="rect">
            <a:avLst/>
          </a:prstGeom>
          <a:solidFill>
            <a:srgbClr val="00B050"/>
          </a:solidFill>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AM程序</a:t>
            </a:r>
            <a:endParaRPr dirty="0"/>
          </a:p>
        </p:txBody>
      </p:sp>
      <p:sp>
        <p:nvSpPr>
          <p:cNvPr id="534821804" name="硬件抽象">
            <a:extLst>
              <a:ext uri="{FF2B5EF4-FFF2-40B4-BE49-F238E27FC236}">
                <a16:creationId xmlns:a16="http://schemas.microsoft.com/office/drawing/2014/main" id="{B5F6B7B3-23CC-2CB9-498C-740DF8FBBAA8}"/>
              </a:ext>
            </a:extLst>
          </p:cNvPr>
          <p:cNvSpPr/>
          <p:nvPr/>
        </p:nvSpPr>
        <p:spPr bwMode="auto">
          <a:xfrm>
            <a:off x="1201735" y="2386337"/>
            <a:ext cx="5296610"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硬件抽象层</a:t>
            </a:r>
            <a:r>
              <a:rPr lang="en-US" dirty="0"/>
              <a:t>(AM)</a:t>
            </a:r>
            <a:endParaRPr dirty="0"/>
          </a:p>
        </p:txBody>
      </p:sp>
      <p:sp>
        <p:nvSpPr>
          <p:cNvPr id="40666242" name="NEMU虚拟机">
            <a:extLst>
              <a:ext uri="{FF2B5EF4-FFF2-40B4-BE49-F238E27FC236}">
                <a16:creationId xmlns:a16="http://schemas.microsoft.com/office/drawing/2014/main" id="{3DCD43B8-DF79-CFB6-CB3A-848406EBA087}"/>
              </a:ext>
            </a:extLst>
          </p:cNvPr>
          <p:cNvSpPr/>
          <p:nvPr/>
        </p:nvSpPr>
        <p:spPr bwMode="auto">
          <a:xfrm>
            <a:off x="1092876" y="4021566"/>
            <a:ext cx="2675590"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虚拟机(NEMU)</a:t>
            </a:r>
            <a:endParaRPr/>
          </a:p>
        </p:txBody>
      </p:sp>
      <p:sp>
        <p:nvSpPr>
          <p:cNvPr id="743261972" name="NPC">
            <a:extLst>
              <a:ext uri="{FF2B5EF4-FFF2-40B4-BE49-F238E27FC236}">
                <a16:creationId xmlns:a16="http://schemas.microsoft.com/office/drawing/2014/main" id="{9A594A06-A627-14A5-A751-17D7263A975B}"/>
              </a:ext>
            </a:extLst>
          </p:cNvPr>
          <p:cNvSpPr/>
          <p:nvPr/>
        </p:nvSpPr>
        <p:spPr bwMode="auto">
          <a:xfrm>
            <a:off x="4062470" y="4021566"/>
            <a:ext cx="2621018"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NPC</a:t>
            </a:r>
            <a:endParaRPr/>
          </a:p>
        </p:txBody>
      </p:sp>
      <p:sp>
        <p:nvSpPr>
          <p:cNvPr id="1311028271" name="矩形 1311028270">
            <a:extLst>
              <a:ext uri="{FF2B5EF4-FFF2-40B4-BE49-F238E27FC236}">
                <a16:creationId xmlns:a16="http://schemas.microsoft.com/office/drawing/2014/main" id="{24E4703E-99A6-C80E-1378-667130FDB68A}"/>
              </a:ext>
            </a:extLst>
          </p:cNvPr>
          <p:cNvSpPr/>
          <p:nvPr/>
        </p:nvSpPr>
        <p:spPr bwMode="auto">
          <a:xfrm>
            <a:off x="3768466" y="2838398"/>
            <a:ext cx="414984" cy="957309"/>
          </a:xfrm>
          <a:prstGeom prst="rect">
            <a:avLst/>
          </a:prstGeom>
          <a:solidFill>
            <a:schemeClr val="bg2"/>
          </a:solidFill>
          <a:ln w="12700" cap="flat" cmpd="sng" algn="ctr">
            <a:solidFill>
              <a:schemeClr val="accent1">
                <a:shade val="50000"/>
                <a:alpha val="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600">
                <a:solidFill>
                  <a:schemeClr val="tx1"/>
                </a:solidFill>
              </a:rPr>
              <a:t>两种实现</a:t>
            </a:r>
            <a:endParaRPr>
              <a:solidFill>
                <a:schemeClr val="tx1"/>
              </a:solidFill>
            </a:endParaRPr>
          </a:p>
        </p:txBody>
      </p:sp>
      <p:sp>
        <p:nvSpPr>
          <p:cNvPr id="2328251" name="箭头: 下 2328250">
            <a:extLst>
              <a:ext uri="{FF2B5EF4-FFF2-40B4-BE49-F238E27FC236}">
                <a16:creationId xmlns:a16="http://schemas.microsoft.com/office/drawing/2014/main" id="{44290E15-8F7B-AF20-F1AE-C7EC032CB0FC}"/>
              </a:ext>
            </a:extLst>
          </p:cNvPr>
          <p:cNvSpPr/>
          <p:nvPr/>
        </p:nvSpPr>
        <p:spPr bwMode="auto">
          <a:xfrm>
            <a:off x="2378758" y="2804724"/>
            <a:ext cx="644620" cy="990983"/>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200"/>
              <a:t>软件实现</a:t>
            </a:r>
          </a:p>
        </p:txBody>
      </p:sp>
      <p:sp>
        <p:nvSpPr>
          <p:cNvPr id="1699098867" name="箭头: 下 1699098866">
            <a:extLst>
              <a:ext uri="{FF2B5EF4-FFF2-40B4-BE49-F238E27FC236}">
                <a16:creationId xmlns:a16="http://schemas.microsoft.com/office/drawing/2014/main" id="{49B45A01-E648-D4D1-BA68-D51F746A7350}"/>
              </a:ext>
            </a:extLst>
          </p:cNvPr>
          <p:cNvSpPr/>
          <p:nvPr/>
        </p:nvSpPr>
        <p:spPr bwMode="auto">
          <a:xfrm>
            <a:off x="4728358" y="2816364"/>
            <a:ext cx="644620" cy="1029468"/>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a:t>RTL实现</a:t>
            </a:r>
            <a:endParaRPr sz="1200"/>
          </a:p>
        </p:txBody>
      </p:sp>
      <p:sp>
        <p:nvSpPr>
          <p:cNvPr id="16112946" name="电路综合">
            <a:extLst>
              <a:ext uri="{FF2B5EF4-FFF2-40B4-BE49-F238E27FC236}">
                <a16:creationId xmlns:a16="http://schemas.microsoft.com/office/drawing/2014/main" id="{95B3ED38-0696-CD3E-CF16-CB80D395CF15}"/>
              </a:ext>
            </a:extLst>
          </p:cNvPr>
          <p:cNvSpPr/>
          <p:nvPr/>
        </p:nvSpPr>
        <p:spPr bwMode="auto">
          <a:xfrm>
            <a:off x="4062470" y="4817104"/>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电路综合(Yosys)</a:t>
            </a:r>
            <a:endParaRPr/>
          </a:p>
        </p:txBody>
      </p:sp>
      <p:sp>
        <p:nvSpPr>
          <p:cNvPr id="813212810" name="布局布线">
            <a:extLst>
              <a:ext uri="{FF2B5EF4-FFF2-40B4-BE49-F238E27FC236}">
                <a16:creationId xmlns:a16="http://schemas.microsoft.com/office/drawing/2014/main" id="{322FDB8C-9C51-DF02-2219-DD076E490CBD}"/>
              </a:ext>
            </a:extLst>
          </p:cNvPr>
          <p:cNvSpPr/>
          <p:nvPr/>
        </p:nvSpPr>
        <p:spPr bwMode="auto">
          <a:xfrm>
            <a:off x="4062470" y="5218648"/>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布局布线(iEDA)</a:t>
            </a:r>
            <a:endParaRPr/>
          </a:p>
        </p:txBody>
      </p:sp>
      <p:sp>
        <p:nvSpPr>
          <p:cNvPr id="1835667885" name="嵌合分析">
            <a:extLst>
              <a:ext uri="{FF2B5EF4-FFF2-40B4-BE49-F238E27FC236}">
                <a16:creationId xmlns:a16="http://schemas.microsoft.com/office/drawing/2014/main" id="{A47AD010-A444-5822-9390-A287FB039563}"/>
              </a:ext>
            </a:extLst>
          </p:cNvPr>
          <p:cNvSpPr/>
          <p:nvPr/>
        </p:nvSpPr>
        <p:spPr bwMode="auto">
          <a:xfrm>
            <a:off x="4062470" y="5637036"/>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签核</a:t>
            </a:r>
            <a:r>
              <a:rPr lang="en-US"/>
              <a:t>分析</a:t>
            </a:r>
            <a:endParaRPr/>
          </a:p>
        </p:txBody>
      </p:sp>
      <p:sp>
        <p:nvSpPr>
          <p:cNvPr id="127215868" name="流片制造">
            <a:extLst>
              <a:ext uri="{FF2B5EF4-FFF2-40B4-BE49-F238E27FC236}">
                <a16:creationId xmlns:a16="http://schemas.microsoft.com/office/drawing/2014/main" id="{6E8B2526-851F-3728-71CC-913453DCF255}"/>
              </a:ext>
            </a:extLst>
          </p:cNvPr>
          <p:cNvSpPr/>
          <p:nvPr/>
        </p:nvSpPr>
        <p:spPr bwMode="auto">
          <a:xfrm>
            <a:off x="4062470" y="6055425"/>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流片制造</a:t>
            </a:r>
          </a:p>
        </p:txBody>
      </p:sp>
      <p:sp>
        <p:nvSpPr>
          <p:cNvPr id="328657211" name="文本框 NavyLib" hidden="1">
            <a:extLst>
              <a:ext uri="{FF2B5EF4-FFF2-40B4-BE49-F238E27FC236}">
                <a16:creationId xmlns:a16="http://schemas.microsoft.com/office/drawing/2014/main" id="{219EA64D-CB29-A457-E150-A5E401E1F539}"/>
              </a:ext>
            </a:extLst>
          </p:cNvPr>
          <p:cNvSpPr txBox="1"/>
          <p:nvPr/>
        </p:nvSpPr>
        <p:spPr bwMode="auto">
          <a:xfrm>
            <a:off x="7524362" y="3520663"/>
            <a:ext cx="3927777" cy="211637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dirty="0" err="1"/>
              <a:t>基于Nanos内核的程序库环境支持</a:t>
            </a:r>
            <a:r>
              <a:rPr lang="en-US" dirty="0"/>
              <a:t>/</a:t>
            </a:r>
            <a:r>
              <a:rPr lang="en-US" dirty="0" err="1"/>
              <a:t>适配，可编写</a:t>
            </a:r>
            <a:r>
              <a:rPr lang="en-US" dirty="0"/>
              <a:t>/</a:t>
            </a:r>
            <a:r>
              <a:rPr lang="en-US" dirty="0" err="1"/>
              <a:t>移植更强大丰富的应用程序</a:t>
            </a:r>
            <a:r>
              <a:rPr lang="en-US" dirty="0"/>
              <a:t>。</a:t>
            </a:r>
          </a:p>
          <a:p>
            <a:pPr marL="283878" indent="-283878">
              <a:buAutoNum type="arabicPeriod"/>
              <a:defRPr/>
            </a:pPr>
            <a:r>
              <a:rPr lang="en-US" dirty="0" err="1"/>
              <a:t>Nanos系统调用库</a:t>
            </a:r>
            <a:endParaRPr lang="en-US" dirty="0"/>
          </a:p>
          <a:p>
            <a:pPr>
              <a:defRPr/>
            </a:pPr>
            <a:r>
              <a:rPr lang="en-US" sz="1800" b="0" i="0" u="none" strike="noStrike" cap="none" spc="0" dirty="0">
                <a:solidFill>
                  <a:schemeClr val="tx1"/>
                </a:solidFill>
                <a:latin typeface="Arial"/>
                <a:ea typeface="微软雅黑"/>
                <a:cs typeface="Arial"/>
              </a:rPr>
              <a:t>2. </a:t>
            </a:r>
            <a:r>
              <a:rPr lang="en-US" sz="1800" b="0" i="0" u="none" strike="noStrike" cap="none" spc="0" dirty="0" err="1">
                <a:solidFill>
                  <a:schemeClr val="tx1"/>
                </a:solidFill>
                <a:latin typeface="Arial"/>
                <a:ea typeface="微软雅黑"/>
                <a:cs typeface="Arial"/>
              </a:rPr>
              <a:t>运行环境库</a:t>
            </a:r>
            <a:endParaRPr lang="en-US" dirty="0"/>
          </a:p>
          <a:p>
            <a:pPr>
              <a:defRPr/>
            </a:pPr>
            <a:r>
              <a:rPr lang="en-US" sz="1800" b="0" i="0" u="none" strike="noStrike" cap="none" spc="0" dirty="0">
                <a:solidFill>
                  <a:schemeClr val="tx1"/>
                </a:solidFill>
                <a:latin typeface="Arial"/>
                <a:ea typeface="微软雅黑"/>
                <a:cs typeface="Arial"/>
              </a:rPr>
              <a:t>3. </a:t>
            </a:r>
            <a:r>
              <a:rPr lang="en-US" sz="1800" b="0" i="0" u="none" strike="noStrike" cap="none" spc="0" dirty="0" err="1">
                <a:solidFill>
                  <a:schemeClr val="tx1"/>
                </a:solidFill>
                <a:latin typeface="Arial"/>
                <a:ea typeface="微软雅黑"/>
                <a:cs typeface="Arial"/>
              </a:rPr>
              <a:t>媒体硬件库</a:t>
            </a:r>
            <a:r>
              <a:rPr lang="en-US" dirty="0"/>
              <a:t>/</a:t>
            </a:r>
            <a:r>
              <a:rPr lang="en-US" dirty="0" err="1"/>
              <a:t>资源解析库</a:t>
            </a:r>
            <a:endParaRPr sz="1800" dirty="0"/>
          </a:p>
          <a:p>
            <a:pPr>
              <a:defRPr/>
            </a:pPr>
            <a:r>
              <a:rPr lang="en-US" dirty="0"/>
              <a:t>4. </a:t>
            </a:r>
            <a:r>
              <a:rPr lang="en-US" dirty="0" err="1"/>
              <a:t>应用镜像文件打包</a:t>
            </a:r>
            <a:endParaRPr lang="en-US" dirty="0"/>
          </a:p>
        </p:txBody>
      </p:sp>
      <p:sp>
        <p:nvSpPr>
          <p:cNvPr id="3" name="矩形 2">
            <a:extLst>
              <a:ext uri="{FF2B5EF4-FFF2-40B4-BE49-F238E27FC236}">
                <a16:creationId xmlns:a16="http://schemas.microsoft.com/office/drawing/2014/main" id="{8849EDAB-F9FA-35B0-F67F-3C988AF37AE2}"/>
              </a:ext>
            </a:extLst>
          </p:cNvPr>
          <p:cNvSpPr/>
          <p:nvPr/>
        </p:nvSpPr>
        <p:spPr>
          <a:xfrm>
            <a:off x="1040265" y="5115660"/>
            <a:ext cx="270456" cy="248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43926F29-6A11-FF23-2D34-1C7C3E73DEEA}"/>
              </a:ext>
            </a:extLst>
          </p:cNvPr>
          <p:cNvSpPr txBox="1"/>
          <p:nvPr/>
        </p:nvSpPr>
        <p:spPr>
          <a:xfrm>
            <a:off x="1547495" y="5050824"/>
            <a:ext cx="940157" cy="369332"/>
          </a:xfrm>
          <a:prstGeom prst="rect">
            <a:avLst/>
          </a:prstGeom>
          <a:noFill/>
        </p:spPr>
        <p:txBody>
          <a:bodyPr wrap="square" rtlCol="0">
            <a:spAutoFit/>
          </a:bodyPr>
          <a:lstStyle/>
          <a:p>
            <a:r>
              <a:rPr lang="zh-CN" altLang="en-US" dirty="0"/>
              <a:t>软件层</a:t>
            </a:r>
          </a:p>
        </p:txBody>
      </p:sp>
      <p:sp>
        <p:nvSpPr>
          <p:cNvPr id="5" name="矩形 4">
            <a:extLst>
              <a:ext uri="{FF2B5EF4-FFF2-40B4-BE49-F238E27FC236}">
                <a16:creationId xmlns:a16="http://schemas.microsoft.com/office/drawing/2014/main" id="{967AFE06-3911-5510-8D5E-99B6C4F845FA}"/>
              </a:ext>
            </a:extLst>
          </p:cNvPr>
          <p:cNvSpPr/>
          <p:nvPr/>
        </p:nvSpPr>
        <p:spPr>
          <a:xfrm>
            <a:off x="1046284" y="5508222"/>
            <a:ext cx="270456" cy="2489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00"/>
              </a:solidFill>
            </a:endParaRPr>
          </a:p>
        </p:txBody>
      </p:sp>
      <p:sp>
        <p:nvSpPr>
          <p:cNvPr id="6" name="文本框 5">
            <a:extLst>
              <a:ext uri="{FF2B5EF4-FFF2-40B4-BE49-F238E27FC236}">
                <a16:creationId xmlns:a16="http://schemas.microsoft.com/office/drawing/2014/main" id="{09558CC1-7914-B662-9763-67EE55091204}"/>
              </a:ext>
            </a:extLst>
          </p:cNvPr>
          <p:cNvSpPr txBox="1"/>
          <p:nvPr/>
        </p:nvSpPr>
        <p:spPr>
          <a:xfrm>
            <a:off x="1553514" y="5443386"/>
            <a:ext cx="1423537" cy="369332"/>
          </a:xfrm>
          <a:prstGeom prst="rect">
            <a:avLst/>
          </a:prstGeom>
          <a:noFill/>
        </p:spPr>
        <p:txBody>
          <a:bodyPr wrap="square" rtlCol="0">
            <a:spAutoFit/>
          </a:bodyPr>
          <a:lstStyle/>
          <a:p>
            <a:r>
              <a:rPr lang="zh-CN" altLang="en-US" dirty="0"/>
              <a:t>硬件模拟层</a:t>
            </a:r>
          </a:p>
        </p:txBody>
      </p:sp>
      <p:sp>
        <p:nvSpPr>
          <p:cNvPr id="7" name="矩形 6">
            <a:extLst>
              <a:ext uri="{FF2B5EF4-FFF2-40B4-BE49-F238E27FC236}">
                <a16:creationId xmlns:a16="http://schemas.microsoft.com/office/drawing/2014/main" id="{60CBF982-B9F2-C39D-BE71-CB68322D8C3D}"/>
              </a:ext>
            </a:extLst>
          </p:cNvPr>
          <p:cNvSpPr/>
          <p:nvPr/>
        </p:nvSpPr>
        <p:spPr>
          <a:xfrm>
            <a:off x="1046284" y="5889925"/>
            <a:ext cx="270456" cy="248991"/>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0279DACA-9EFE-9256-48C9-738E4663F58B}"/>
              </a:ext>
            </a:extLst>
          </p:cNvPr>
          <p:cNvSpPr txBox="1"/>
          <p:nvPr/>
        </p:nvSpPr>
        <p:spPr>
          <a:xfrm>
            <a:off x="1553514" y="5825089"/>
            <a:ext cx="1423537" cy="369332"/>
          </a:xfrm>
          <a:prstGeom prst="rect">
            <a:avLst/>
          </a:prstGeom>
          <a:noFill/>
        </p:spPr>
        <p:txBody>
          <a:bodyPr wrap="square" rtlCol="0">
            <a:spAutoFit/>
          </a:bodyPr>
          <a:lstStyle/>
          <a:p>
            <a:r>
              <a:rPr lang="zh-CN" altLang="en-US" dirty="0"/>
              <a:t>硬件实现层</a:t>
            </a:r>
          </a:p>
        </p:txBody>
      </p:sp>
      <p:sp>
        <p:nvSpPr>
          <p:cNvPr id="9" name="箭头: 下 8">
            <a:extLst>
              <a:ext uri="{FF2B5EF4-FFF2-40B4-BE49-F238E27FC236}">
                <a16:creationId xmlns:a16="http://schemas.microsoft.com/office/drawing/2014/main" id="{C2807A83-EE9E-B307-2510-508A37AD3690}"/>
              </a:ext>
            </a:extLst>
          </p:cNvPr>
          <p:cNvSpPr/>
          <p:nvPr/>
        </p:nvSpPr>
        <p:spPr>
          <a:xfrm>
            <a:off x="4728358" y="4439496"/>
            <a:ext cx="767204" cy="352379"/>
          </a:xfrm>
          <a:prstGeom prst="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3E413FA0-0956-36EC-7D08-D0405B84ED07}"/>
              </a:ext>
            </a:extLst>
          </p:cNvPr>
          <p:cNvSpPr txBox="1"/>
          <p:nvPr/>
        </p:nvSpPr>
        <p:spPr>
          <a:xfrm>
            <a:off x="5495562" y="4414267"/>
            <a:ext cx="1650381" cy="369332"/>
          </a:xfrm>
          <a:prstGeom prst="rect">
            <a:avLst/>
          </a:prstGeom>
          <a:noFill/>
        </p:spPr>
        <p:txBody>
          <a:bodyPr wrap="square" rtlCol="0">
            <a:spAutoFit/>
          </a:bodyPr>
          <a:lstStyle/>
          <a:p>
            <a:r>
              <a:rPr lang="zh-CN" altLang="en-US" dirty="0"/>
              <a:t>行为仿真通过</a:t>
            </a:r>
          </a:p>
        </p:txBody>
      </p:sp>
      <p:sp>
        <p:nvSpPr>
          <p:cNvPr id="11" name="矩形 10">
            <a:extLst>
              <a:ext uri="{FF2B5EF4-FFF2-40B4-BE49-F238E27FC236}">
                <a16:creationId xmlns:a16="http://schemas.microsoft.com/office/drawing/2014/main" id="{DCAF6F88-8757-5E7A-E8D2-829818151C6C}"/>
              </a:ext>
            </a:extLst>
          </p:cNvPr>
          <p:cNvSpPr/>
          <p:nvPr/>
        </p:nvSpPr>
        <p:spPr>
          <a:xfrm>
            <a:off x="1040265" y="4687302"/>
            <a:ext cx="270456" cy="24899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884BAA2D-A689-6C5F-4FB9-15EDA9B81E2A}"/>
              </a:ext>
            </a:extLst>
          </p:cNvPr>
          <p:cNvSpPr txBox="1"/>
          <p:nvPr/>
        </p:nvSpPr>
        <p:spPr>
          <a:xfrm>
            <a:off x="1547495" y="4622466"/>
            <a:ext cx="1124337" cy="369332"/>
          </a:xfrm>
          <a:prstGeom prst="rect">
            <a:avLst/>
          </a:prstGeom>
          <a:noFill/>
        </p:spPr>
        <p:txBody>
          <a:bodyPr wrap="square" rtlCol="0">
            <a:spAutoFit/>
          </a:bodyPr>
          <a:lstStyle/>
          <a:p>
            <a:r>
              <a:rPr lang="zh-CN" altLang="en-US" dirty="0"/>
              <a:t>当前演示</a:t>
            </a:r>
          </a:p>
        </p:txBody>
      </p:sp>
      <p:sp>
        <p:nvSpPr>
          <p:cNvPr id="711244237" name="文本框 711244236">
            <a:extLst>
              <a:ext uri="{FF2B5EF4-FFF2-40B4-BE49-F238E27FC236}">
                <a16:creationId xmlns:a16="http://schemas.microsoft.com/office/drawing/2014/main" id="{0609006E-6649-F2DF-B75C-C06DDF6DE3CB}"/>
              </a:ext>
            </a:extLst>
          </p:cNvPr>
          <p:cNvSpPr txBox="1"/>
          <p:nvPr/>
        </p:nvSpPr>
        <p:spPr bwMode="auto">
          <a:xfrm>
            <a:off x="7333795" y="1109017"/>
            <a:ext cx="4541069" cy="286482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zh-CN" altLang="en-US" dirty="0"/>
              <a:t>运行在硬件抽象层的测试程序合集</a:t>
            </a:r>
            <a:r>
              <a:rPr lang="en-US" altLang="zh-CN" dirty="0"/>
              <a:t>am-kernels</a:t>
            </a:r>
            <a:r>
              <a:rPr lang="zh-CN" altLang="en-US" dirty="0"/>
              <a:t>，主要目的是向底层验证</a:t>
            </a:r>
            <a:r>
              <a:rPr lang="en-US" altLang="zh-CN" dirty="0"/>
              <a:t>CPU</a:t>
            </a:r>
            <a:r>
              <a:rPr lang="zh-CN" altLang="en-US" dirty="0"/>
              <a:t>行为、硬件抽象的正确性。</a:t>
            </a:r>
            <a:endParaRPr lang="en-US" altLang="zh-CN" dirty="0"/>
          </a:p>
          <a:p>
            <a:pPr marL="342900" indent="-342900">
              <a:buAutoNum type="arabicPeriod"/>
              <a:defRPr/>
            </a:pPr>
            <a:r>
              <a:rPr lang="en-US" altLang="zh-CN" dirty="0"/>
              <a:t>CPU</a:t>
            </a:r>
            <a:r>
              <a:rPr lang="zh-CN" altLang="en-US" dirty="0"/>
              <a:t>硬件正确性测试程序</a:t>
            </a:r>
            <a:endParaRPr lang="en-US" altLang="zh-CN" dirty="0"/>
          </a:p>
          <a:p>
            <a:pPr marL="342900" indent="-342900">
              <a:buAutoNum type="arabicPeriod"/>
              <a:defRPr/>
            </a:pPr>
            <a:r>
              <a:rPr lang="zh-CN" altLang="en-US" dirty="0"/>
              <a:t>抽象接口正确性测试程序</a:t>
            </a:r>
            <a:endParaRPr lang="en-US" altLang="zh-CN" dirty="0"/>
          </a:p>
          <a:p>
            <a:pPr marL="342900" indent="-342900">
              <a:buAutoNum type="arabicPeriod"/>
              <a:defRPr/>
            </a:pPr>
            <a:r>
              <a:rPr lang="zh-CN" altLang="en-US" dirty="0"/>
              <a:t>复杂</a:t>
            </a:r>
            <a:r>
              <a:rPr lang="en-US" altLang="zh-CN" dirty="0"/>
              <a:t>App</a:t>
            </a:r>
            <a:r>
              <a:rPr lang="zh-CN" altLang="en-US" dirty="0"/>
              <a:t>综合测试程序</a:t>
            </a:r>
            <a:endParaRPr lang="en-US" altLang="zh-CN" dirty="0"/>
          </a:p>
          <a:p>
            <a:pPr marL="342900" indent="-342900">
              <a:buAutoNum type="arabicPeriod"/>
              <a:defRPr/>
            </a:pPr>
            <a:r>
              <a:rPr lang="en-US" altLang="zh-CN" dirty="0"/>
              <a:t>CPU</a:t>
            </a:r>
            <a:r>
              <a:rPr lang="zh-CN" altLang="en-US" dirty="0"/>
              <a:t>性能跑分程序</a:t>
            </a:r>
          </a:p>
        </p:txBody>
      </p:sp>
      <p:sp>
        <p:nvSpPr>
          <p:cNvPr id="13" name="powerpoint template design by DAJU_PPT正版来源小红书大橘PPT微信DAJU_PPT请勿抄袭搬运！盗版必究！">
            <a:extLst>
              <a:ext uri="{FF2B5EF4-FFF2-40B4-BE49-F238E27FC236}">
                <a16:creationId xmlns:a16="http://schemas.microsoft.com/office/drawing/2014/main" id="{F098C968-F148-9399-57A3-D6272D48E375}"/>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14" name="powerpoint template design by DAJU_PPT正版来源小红书大橘PPT微信DAJU_PPT请勿抄袭搬运！盗版必究！">
            <a:extLst>
              <a:ext uri="{FF2B5EF4-FFF2-40B4-BE49-F238E27FC236}">
                <a16:creationId xmlns:a16="http://schemas.microsoft.com/office/drawing/2014/main" id="{73E610D6-5402-1082-698A-14746CD5138A}"/>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15" name="powerpoint template design by DAJU_PPT正版来源小红书大橘PPT微信DAJU_PPT请勿抄袭搬运！盗版必究！">
            <a:extLst>
              <a:ext uri="{FF2B5EF4-FFF2-40B4-BE49-F238E27FC236}">
                <a16:creationId xmlns:a16="http://schemas.microsoft.com/office/drawing/2014/main" id="{FB782E53-2606-7504-151A-7136A06EE4B6}"/>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000" i="0" u="none" strike="noStrike" cap="none" spc="0" dirty="0">
                <a:ln>
                  <a:noFill/>
                </a:ln>
                <a:solidFill>
                  <a:schemeClr val="bg1">
                    <a:alpha val="70000"/>
                  </a:schemeClr>
                </a:solidFill>
                <a:cs typeface="+mn-ea"/>
              </a:rPr>
              <a:t>考核题目讲解</a:t>
            </a:r>
            <a:endParaRPr lang="en-US" sz="2000" i="0" u="none" strike="noStrike" cap="none" spc="0" dirty="0">
              <a:ln>
                <a:noFill/>
              </a:ln>
              <a:solidFill>
                <a:schemeClr val="bg1">
                  <a:alpha val="70000"/>
                </a:schemeClr>
              </a:solidFill>
              <a:cs typeface="+mn-ea"/>
            </a:endParaRPr>
          </a:p>
        </p:txBody>
      </p:sp>
      <p:cxnSp>
        <p:nvCxnSpPr>
          <p:cNvPr id="16" name="powerpoint template design by DAJU_PPT正版来源小红书大橘PPT微信DAJU_PPT请勿抄袭搬运！盗版必究！">
            <a:extLst>
              <a:ext uri="{FF2B5EF4-FFF2-40B4-BE49-F238E27FC236}">
                <a16:creationId xmlns:a16="http://schemas.microsoft.com/office/drawing/2014/main" id="{50027870-22E5-FB4C-7020-F00E58359DBC}"/>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powerpoint template design by DAJU_PPT正版来源小红书大橘PPT微信DAJU_PPT请勿抄袭搬运！盗版必究！">
            <a:extLst>
              <a:ext uri="{FF2B5EF4-FFF2-40B4-BE49-F238E27FC236}">
                <a16:creationId xmlns:a16="http://schemas.microsoft.com/office/drawing/2014/main" id="{090E046D-08C9-C647-2B5E-33DDB22B51B2}"/>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powerpoint template design by DAJU_PPT正版来源小红书大橘PPT微信DAJU_PPT请勿抄袭搬运！盗版必究！">
            <a:extLst>
              <a:ext uri="{FF2B5EF4-FFF2-40B4-BE49-F238E27FC236}">
                <a16:creationId xmlns:a16="http://schemas.microsoft.com/office/drawing/2014/main" id="{BEE2E90E-0D61-2A97-59A4-7B04DB2469CE}"/>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19" name="图片 3">
            <a:extLst>
              <a:ext uri="{FF2B5EF4-FFF2-40B4-BE49-F238E27FC236}">
                <a16:creationId xmlns:a16="http://schemas.microsoft.com/office/drawing/2014/main" id="{C0AE8216-9241-D9F0-61E0-F0EE192DF02F}"/>
              </a:ext>
            </a:extLst>
          </p:cNvPr>
          <p:cNvPicPr>
            <a:picLocks noChangeAspect="1"/>
          </p:cNvPicPr>
          <p:nvPr/>
        </p:nvPicPr>
        <p:blipFill rotWithShape="1">
          <a:blip r:embed="rId3"/>
          <a:stretch/>
        </p:blipFill>
        <p:spPr bwMode="auto">
          <a:xfrm>
            <a:off x="0" y="0"/>
            <a:ext cx="778510" cy="720090"/>
          </a:xfrm>
          <a:prstGeom prst="rect">
            <a:avLst/>
          </a:prstGeom>
        </p:spPr>
      </p:pic>
      <p:sp>
        <p:nvSpPr>
          <p:cNvPr id="20" name="powerpoint template design by DAJU_PPT正版来源小红书大橘PPT微信DAJU_PPT请勿抄袭搬运！盗版必究！">
            <a:extLst>
              <a:ext uri="{FF2B5EF4-FFF2-40B4-BE49-F238E27FC236}">
                <a16:creationId xmlns:a16="http://schemas.microsoft.com/office/drawing/2014/main" id="{AA1D7A5A-D55E-66CA-8135-2BB3DB5B7550}"/>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21" name="powerpoint template design by DAJU_PPT正版来源小红书大橘PPT微信DAJU_PPT请勿抄袭搬运！盗版必究！">
            <a:extLst>
              <a:ext uri="{FF2B5EF4-FFF2-40B4-BE49-F238E27FC236}">
                <a16:creationId xmlns:a16="http://schemas.microsoft.com/office/drawing/2014/main" id="{64890F45-CAB4-A87C-23DC-E467963B0FF1}"/>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dirty="0" err="1">
                <a:solidFill>
                  <a:schemeClr val="bg1">
                    <a:alpha val="70000"/>
                  </a:schemeClr>
                </a:solidFill>
                <a:cs typeface="+mn-ea"/>
              </a:rPr>
              <a:t>Makefile</a:t>
            </a:r>
            <a:r>
              <a:rPr lang="zh-CN" altLang="en-US" sz="2000" dirty="0">
                <a:solidFill>
                  <a:schemeClr val="bg1">
                    <a:alpha val="70000"/>
                  </a:schemeClr>
                </a:solidFill>
                <a:cs typeface="+mn-ea"/>
              </a:rPr>
              <a:t>调用链</a:t>
            </a:r>
            <a:endParaRPr lang="en-US" sz="2000" i="0" u="none" strike="noStrike" cap="none" spc="0" dirty="0">
              <a:ln>
                <a:noFill/>
              </a:ln>
              <a:solidFill>
                <a:schemeClr val="bg1">
                  <a:alpha val="70000"/>
                </a:schemeClr>
              </a:solidFill>
              <a:cs typeface="+mn-ea"/>
            </a:endParaRPr>
          </a:p>
        </p:txBody>
      </p:sp>
      <p:sp>
        <p:nvSpPr>
          <p:cNvPr id="22" name="powerpoint template design by DAJU_PPT正版来源小红书大橘PPT微信DAJU_PPT请勿抄袭搬运！盗版必究！">
            <a:extLst>
              <a:ext uri="{FF2B5EF4-FFF2-40B4-BE49-F238E27FC236}">
                <a16:creationId xmlns:a16="http://schemas.microsoft.com/office/drawing/2014/main" id="{EC955A06-468C-3865-5A62-0A7C3B374BCD}"/>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800" b="1" i="0" u="none" strike="noStrike" cap="none" spc="0" dirty="0">
                <a:ln>
                  <a:noFill/>
                </a:ln>
                <a:solidFill>
                  <a:srgbClr val="00B050">
                    <a:alpha val="70000"/>
                  </a:srgbClr>
                </a:solidFill>
                <a:cs typeface="+mn-ea"/>
              </a:rPr>
              <a:t>架构</a:t>
            </a:r>
            <a:r>
              <a:rPr lang="zh-CN" sz="2800" b="1" i="0" u="none" strike="noStrike" cap="none" spc="0" dirty="0">
                <a:ln>
                  <a:noFill/>
                </a:ln>
                <a:solidFill>
                  <a:srgbClr val="00B050">
                    <a:alpha val="70000"/>
                  </a:srgbClr>
                </a:solidFill>
                <a:cs typeface="+mn-ea"/>
              </a:rPr>
              <a:t>讲解</a:t>
            </a:r>
            <a:endParaRPr lang="en-US" sz="2800" b="1" i="0" u="none" strike="noStrike" cap="none" spc="0" dirty="0">
              <a:ln>
                <a:noFill/>
              </a:ln>
              <a:solidFill>
                <a:srgbClr val="00B050">
                  <a:alpha val="70000"/>
                </a:srgbClr>
              </a:solidFill>
              <a:cs typeface="+mn-ea"/>
            </a:endParaRPr>
          </a:p>
        </p:txBody>
      </p:sp>
      <p:cxnSp>
        <p:nvCxnSpPr>
          <p:cNvPr id="23" name="直接连接符 22">
            <a:extLst>
              <a:ext uri="{FF2B5EF4-FFF2-40B4-BE49-F238E27FC236}">
                <a16:creationId xmlns:a16="http://schemas.microsoft.com/office/drawing/2014/main" id="{EA5C2FF3-2E97-98FC-348A-37F6A711E646}"/>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0C686226-B44F-6A2C-FAA1-63A68CC72991}"/>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29936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457FC2B-9152-ADD1-1809-C499A1C53441}"/>
            </a:ext>
          </a:extLst>
        </p:cNvPr>
        <p:cNvGrpSpPr/>
        <p:nvPr/>
      </p:nvGrpSpPr>
      <p:grpSpPr bwMode="auto">
        <a:xfrm>
          <a:off x="0" y="0"/>
          <a:ext cx="0" cy="0"/>
          <a:chOff x="0" y="0"/>
          <a:chExt cx="0" cy="0"/>
        </a:xfrm>
      </p:grpSpPr>
      <p:sp>
        <p:nvSpPr>
          <p:cNvPr id="600543380" name="应用程序">
            <a:extLst>
              <a:ext uri="{FF2B5EF4-FFF2-40B4-BE49-F238E27FC236}">
                <a16:creationId xmlns:a16="http://schemas.microsoft.com/office/drawing/2014/main" id="{FB6B52E0-68DC-1D5C-6408-46D72C51C553}"/>
              </a:ext>
            </a:extLst>
          </p:cNvPr>
          <p:cNvSpPr/>
          <p:nvPr/>
        </p:nvSpPr>
        <p:spPr bwMode="auto">
          <a:xfrm>
            <a:off x="2874117" y="1145183"/>
            <a:ext cx="3629855"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应用程序</a:t>
            </a:r>
            <a:r>
              <a:rPr lang="en-US" dirty="0"/>
              <a:t>(Navy apps)</a:t>
            </a:r>
            <a:endParaRPr dirty="0"/>
          </a:p>
        </p:txBody>
      </p:sp>
      <p:sp>
        <p:nvSpPr>
          <p:cNvPr id="806812025" name="系统库框架">
            <a:extLst>
              <a:ext uri="{FF2B5EF4-FFF2-40B4-BE49-F238E27FC236}">
                <a16:creationId xmlns:a16="http://schemas.microsoft.com/office/drawing/2014/main" id="{7AA0B68F-C49A-2F08-8945-33C59B2D7B5C}"/>
              </a:ext>
            </a:extLst>
          </p:cNvPr>
          <p:cNvSpPr/>
          <p:nvPr/>
        </p:nvSpPr>
        <p:spPr bwMode="auto">
          <a:xfrm>
            <a:off x="2868489" y="1549562"/>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系统库框架层</a:t>
            </a:r>
            <a:r>
              <a:rPr lang="en-US" dirty="0"/>
              <a:t>(Navy libs)</a:t>
            </a:r>
            <a:endParaRPr dirty="0"/>
          </a:p>
        </p:txBody>
      </p:sp>
      <p:sp>
        <p:nvSpPr>
          <p:cNvPr id="971999399" name="系统内核">
            <a:extLst>
              <a:ext uri="{FF2B5EF4-FFF2-40B4-BE49-F238E27FC236}">
                <a16:creationId xmlns:a16="http://schemas.microsoft.com/office/drawing/2014/main" id="{A5BBDE4D-9E8B-4768-5514-4D042ED8FFA0}"/>
              </a:ext>
            </a:extLst>
          </p:cNvPr>
          <p:cNvSpPr/>
          <p:nvPr/>
        </p:nvSpPr>
        <p:spPr bwMode="auto">
          <a:xfrm>
            <a:off x="2868489" y="1967950"/>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系统内核</a:t>
            </a:r>
            <a:r>
              <a:rPr lang="en-US" dirty="0"/>
              <a:t>(Nanos)</a:t>
            </a:r>
            <a:endParaRPr dirty="0"/>
          </a:p>
        </p:txBody>
      </p:sp>
      <p:sp>
        <p:nvSpPr>
          <p:cNvPr id="1567425429" name="裸机程序">
            <a:extLst>
              <a:ext uri="{FF2B5EF4-FFF2-40B4-BE49-F238E27FC236}">
                <a16:creationId xmlns:a16="http://schemas.microsoft.com/office/drawing/2014/main" id="{4604483B-892F-925A-FD60-DACE6DC410D6}"/>
              </a:ext>
            </a:extLst>
          </p:cNvPr>
          <p:cNvSpPr/>
          <p:nvPr/>
        </p:nvSpPr>
        <p:spPr bwMode="auto">
          <a:xfrm>
            <a:off x="1201735" y="1967949"/>
            <a:ext cx="1666755" cy="418386"/>
          </a:xfrm>
          <a:prstGeom prst="rect">
            <a:avLst/>
          </a:prstGeom>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AM</a:t>
            </a:r>
            <a:r>
              <a:rPr lang="zh-CN" altLang="en-US" dirty="0"/>
              <a:t>程序</a:t>
            </a:r>
            <a:endParaRPr dirty="0"/>
          </a:p>
        </p:txBody>
      </p:sp>
      <p:sp>
        <p:nvSpPr>
          <p:cNvPr id="534821804" name="硬件抽象">
            <a:extLst>
              <a:ext uri="{FF2B5EF4-FFF2-40B4-BE49-F238E27FC236}">
                <a16:creationId xmlns:a16="http://schemas.microsoft.com/office/drawing/2014/main" id="{96A0BA45-1BC7-7E3B-7599-A6498647C49E}"/>
              </a:ext>
            </a:extLst>
          </p:cNvPr>
          <p:cNvSpPr/>
          <p:nvPr/>
        </p:nvSpPr>
        <p:spPr bwMode="auto">
          <a:xfrm>
            <a:off x="1201735" y="2386337"/>
            <a:ext cx="5296610"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硬件抽象层</a:t>
            </a:r>
            <a:r>
              <a:rPr lang="en-US" dirty="0"/>
              <a:t>(AM)</a:t>
            </a:r>
            <a:endParaRPr dirty="0"/>
          </a:p>
        </p:txBody>
      </p:sp>
      <p:sp>
        <p:nvSpPr>
          <p:cNvPr id="40666242" name="NEMU虚拟机">
            <a:extLst>
              <a:ext uri="{FF2B5EF4-FFF2-40B4-BE49-F238E27FC236}">
                <a16:creationId xmlns:a16="http://schemas.microsoft.com/office/drawing/2014/main" id="{5EE728B3-AF2E-58E3-21DF-181D0222E584}"/>
              </a:ext>
            </a:extLst>
          </p:cNvPr>
          <p:cNvSpPr/>
          <p:nvPr/>
        </p:nvSpPr>
        <p:spPr bwMode="auto">
          <a:xfrm>
            <a:off x="1092876" y="4021566"/>
            <a:ext cx="2675590"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虚拟机</a:t>
            </a:r>
            <a:r>
              <a:rPr lang="en-US" dirty="0"/>
              <a:t>(NEMU)</a:t>
            </a:r>
            <a:endParaRPr dirty="0"/>
          </a:p>
        </p:txBody>
      </p:sp>
      <p:sp>
        <p:nvSpPr>
          <p:cNvPr id="743261972" name="NPC">
            <a:extLst>
              <a:ext uri="{FF2B5EF4-FFF2-40B4-BE49-F238E27FC236}">
                <a16:creationId xmlns:a16="http://schemas.microsoft.com/office/drawing/2014/main" id="{1197F93B-D5A5-02BF-2674-DAD2E9A11F42}"/>
              </a:ext>
            </a:extLst>
          </p:cNvPr>
          <p:cNvSpPr/>
          <p:nvPr/>
        </p:nvSpPr>
        <p:spPr bwMode="auto">
          <a:xfrm>
            <a:off x="4062470" y="4021566"/>
            <a:ext cx="2621018" cy="41838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NPC</a:t>
            </a:r>
            <a:endParaRPr/>
          </a:p>
        </p:txBody>
      </p:sp>
      <p:sp>
        <p:nvSpPr>
          <p:cNvPr id="1311028271" name="矩形 1311028270">
            <a:extLst>
              <a:ext uri="{FF2B5EF4-FFF2-40B4-BE49-F238E27FC236}">
                <a16:creationId xmlns:a16="http://schemas.microsoft.com/office/drawing/2014/main" id="{EF4C7332-C34A-1579-88A0-DC20AB8A1D1E}"/>
              </a:ext>
            </a:extLst>
          </p:cNvPr>
          <p:cNvSpPr/>
          <p:nvPr/>
        </p:nvSpPr>
        <p:spPr bwMode="auto">
          <a:xfrm>
            <a:off x="3768466" y="2838398"/>
            <a:ext cx="414984" cy="957309"/>
          </a:xfrm>
          <a:prstGeom prst="rect">
            <a:avLst/>
          </a:prstGeom>
          <a:solidFill>
            <a:schemeClr val="bg2"/>
          </a:solidFill>
          <a:ln w="12700" cap="flat" cmpd="sng" algn="ctr">
            <a:solidFill>
              <a:schemeClr val="accent1">
                <a:shade val="50000"/>
                <a:alpha val="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600">
                <a:solidFill>
                  <a:schemeClr val="tx1"/>
                </a:solidFill>
              </a:rPr>
              <a:t>两种实现</a:t>
            </a:r>
            <a:endParaRPr>
              <a:solidFill>
                <a:schemeClr val="tx1"/>
              </a:solidFill>
            </a:endParaRPr>
          </a:p>
        </p:txBody>
      </p:sp>
      <p:sp>
        <p:nvSpPr>
          <p:cNvPr id="2328251" name="箭头: 下 2328250">
            <a:extLst>
              <a:ext uri="{FF2B5EF4-FFF2-40B4-BE49-F238E27FC236}">
                <a16:creationId xmlns:a16="http://schemas.microsoft.com/office/drawing/2014/main" id="{EE5DEC87-D936-72C6-4099-53A756E3C48C}"/>
              </a:ext>
            </a:extLst>
          </p:cNvPr>
          <p:cNvSpPr/>
          <p:nvPr/>
        </p:nvSpPr>
        <p:spPr bwMode="auto">
          <a:xfrm>
            <a:off x="2378758" y="2804724"/>
            <a:ext cx="644620" cy="990983"/>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200"/>
              <a:t>软件实现</a:t>
            </a:r>
          </a:p>
        </p:txBody>
      </p:sp>
      <p:sp>
        <p:nvSpPr>
          <p:cNvPr id="1699098867" name="箭头: 下 1699098866">
            <a:extLst>
              <a:ext uri="{FF2B5EF4-FFF2-40B4-BE49-F238E27FC236}">
                <a16:creationId xmlns:a16="http://schemas.microsoft.com/office/drawing/2014/main" id="{5FAE3539-B444-8065-F82C-0ADFE88CFDB3}"/>
              </a:ext>
            </a:extLst>
          </p:cNvPr>
          <p:cNvSpPr/>
          <p:nvPr/>
        </p:nvSpPr>
        <p:spPr bwMode="auto">
          <a:xfrm>
            <a:off x="4728358" y="2816364"/>
            <a:ext cx="644620" cy="1029468"/>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a:t>RTL实现</a:t>
            </a:r>
            <a:endParaRPr sz="1200"/>
          </a:p>
        </p:txBody>
      </p:sp>
      <p:sp>
        <p:nvSpPr>
          <p:cNvPr id="16112946" name="电路综合">
            <a:extLst>
              <a:ext uri="{FF2B5EF4-FFF2-40B4-BE49-F238E27FC236}">
                <a16:creationId xmlns:a16="http://schemas.microsoft.com/office/drawing/2014/main" id="{8FA8B24A-EC50-3850-96C7-FDE4BDD34613}"/>
              </a:ext>
            </a:extLst>
          </p:cNvPr>
          <p:cNvSpPr/>
          <p:nvPr/>
        </p:nvSpPr>
        <p:spPr bwMode="auto">
          <a:xfrm>
            <a:off x="4062470" y="4817104"/>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电路综合(Yosys)</a:t>
            </a:r>
            <a:endParaRPr/>
          </a:p>
        </p:txBody>
      </p:sp>
      <p:sp>
        <p:nvSpPr>
          <p:cNvPr id="813212810" name="布局布线">
            <a:extLst>
              <a:ext uri="{FF2B5EF4-FFF2-40B4-BE49-F238E27FC236}">
                <a16:creationId xmlns:a16="http://schemas.microsoft.com/office/drawing/2014/main" id="{B2DBBA3E-7F72-60B9-C823-A782EDE99969}"/>
              </a:ext>
            </a:extLst>
          </p:cNvPr>
          <p:cNvSpPr/>
          <p:nvPr/>
        </p:nvSpPr>
        <p:spPr bwMode="auto">
          <a:xfrm>
            <a:off x="4062470" y="5218648"/>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布局布线(iEDA)</a:t>
            </a:r>
            <a:endParaRPr/>
          </a:p>
        </p:txBody>
      </p:sp>
      <p:sp>
        <p:nvSpPr>
          <p:cNvPr id="1835667885" name="嵌合分析">
            <a:extLst>
              <a:ext uri="{FF2B5EF4-FFF2-40B4-BE49-F238E27FC236}">
                <a16:creationId xmlns:a16="http://schemas.microsoft.com/office/drawing/2014/main" id="{DFAE83C5-4EE0-64C9-D3FD-610542C0D959}"/>
              </a:ext>
            </a:extLst>
          </p:cNvPr>
          <p:cNvSpPr/>
          <p:nvPr/>
        </p:nvSpPr>
        <p:spPr bwMode="auto">
          <a:xfrm>
            <a:off x="4062470" y="5637036"/>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签核</a:t>
            </a:r>
            <a:r>
              <a:rPr lang="en-US"/>
              <a:t>分析</a:t>
            </a:r>
            <a:endParaRPr/>
          </a:p>
        </p:txBody>
      </p:sp>
      <p:sp>
        <p:nvSpPr>
          <p:cNvPr id="127215868" name="流片制造">
            <a:extLst>
              <a:ext uri="{FF2B5EF4-FFF2-40B4-BE49-F238E27FC236}">
                <a16:creationId xmlns:a16="http://schemas.microsoft.com/office/drawing/2014/main" id="{E60E6317-DA90-28E3-81DE-24F64C054694}"/>
              </a:ext>
            </a:extLst>
          </p:cNvPr>
          <p:cNvSpPr/>
          <p:nvPr/>
        </p:nvSpPr>
        <p:spPr bwMode="auto">
          <a:xfrm>
            <a:off x="4062470" y="6055425"/>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流片制造</a:t>
            </a:r>
          </a:p>
        </p:txBody>
      </p:sp>
      <p:sp>
        <p:nvSpPr>
          <p:cNvPr id="328657211" name="文本框 NavyLib" hidden="1">
            <a:extLst>
              <a:ext uri="{FF2B5EF4-FFF2-40B4-BE49-F238E27FC236}">
                <a16:creationId xmlns:a16="http://schemas.microsoft.com/office/drawing/2014/main" id="{6D0B297A-B3F8-6EEE-953C-45BFFF086F68}"/>
              </a:ext>
            </a:extLst>
          </p:cNvPr>
          <p:cNvSpPr txBox="1"/>
          <p:nvPr/>
        </p:nvSpPr>
        <p:spPr bwMode="auto">
          <a:xfrm>
            <a:off x="7524362" y="3520663"/>
            <a:ext cx="3927777" cy="211637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dirty="0" err="1"/>
              <a:t>基于Nanos内核的程序库环境支持</a:t>
            </a:r>
            <a:r>
              <a:rPr lang="en-US" dirty="0"/>
              <a:t>/</a:t>
            </a:r>
            <a:r>
              <a:rPr lang="en-US" dirty="0" err="1"/>
              <a:t>适配，可编写</a:t>
            </a:r>
            <a:r>
              <a:rPr lang="en-US" dirty="0"/>
              <a:t>/</a:t>
            </a:r>
            <a:r>
              <a:rPr lang="en-US" dirty="0" err="1"/>
              <a:t>移植更强大丰富的应用程序</a:t>
            </a:r>
            <a:r>
              <a:rPr lang="en-US" dirty="0"/>
              <a:t>。</a:t>
            </a:r>
          </a:p>
          <a:p>
            <a:pPr marL="283878" indent="-283878">
              <a:buAutoNum type="arabicPeriod"/>
              <a:defRPr/>
            </a:pPr>
            <a:r>
              <a:rPr lang="en-US" dirty="0" err="1"/>
              <a:t>Nanos系统调用库</a:t>
            </a:r>
            <a:endParaRPr lang="en-US" dirty="0"/>
          </a:p>
          <a:p>
            <a:pPr>
              <a:defRPr/>
            </a:pPr>
            <a:r>
              <a:rPr lang="en-US" sz="1800" b="0" i="0" u="none" strike="noStrike" cap="none" spc="0" dirty="0">
                <a:solidFill>
                  <a:schemeClr val="tx1"/>
                </a:solidFill>
                <a:latin typeface="Arial"/>
                <a:ea typeface="微软雅黑"/>
                <a:cs typeface="Arial"/>
              </a:rPr>
              <a:t>2. </a:t>
            </a:r>
            <a:r>
              <a:rPr lang="en-US" sz="1800" b="0" i="0" u="none" strike="noStrike" cap="none" spc="0" dirty="0" err="1">
                <a:solidFill>
                  <a:schemeClr val="tx1"/>
                </a:solidFill>
                <a:latin typeface="Arial"/>
                <a:ea typeface="微软雅黑"/>
                <a:cs typeface="Arial"/>
              </a:rPr>
              <a:t>运行环境库</a:t>
            </a:r>
            <a:endParaRPr lang="en-US" dirty="0"/>
          </a:p>
          <a:p>
            <a:pPr>
              <a:defRPr/>
            </a:pPr>
            <a:r>
              <a:rPr lang="en-US" sz="1800" b="0" i="0" u="none" strike="noStrike" cap="none" spc="0" dirty="0">
                <a:solidFill>
                  <a:schemeClr val="tx1"/>
                </a:solidFill>
                <a:latin typeface="Arial"/>
                <a:ea typeface="微软雅黑"/>
                <a:cs typeface="Arial"/>
              </a:rPr>
              <a:t>3. </a:t>
            </a:r>
            <a:r>
              <a:rPr lang="en-US" sz="1800" b="0" i="0" u="none" strike="noStrike" cap="none" spc="0" dirty="0" err="1">
                <a:solidFill>
                  <a:schemeClr val="tx1"/>
                </a:solidFill>
                <a:latin typeface="Arial"/>
                <a:ea typeface="微软雅黑"/>
                <a:cs typeface="Arial"/>
              </a:rPr>
              <a:t>媒体硬件库</a:t>
            </a:r>
            <a:r>
              <a:rPr lang="en-US" dirty="0"/>
              <a:t>/</a:t>
            </a:r>
            <a:r>
              <a:rPr lang="en-US" dirty="0" err="1"/>
              <a:t>资源解析库</a:t>
            </a:r>
            <a:endParaRPr sz="1800" dirty="0"/>
          </a:p>
          <a:p>
            <a:pPr>
              <a:defRPr/>
            </a:pPr>
            <a:r>
              <a:rPr lang="en-US" dirty="0"/>
              <a:t>4. </a:t>
            </a:r>
            <a:r>
              <a:rPr lang="en-US" dirty="0" err="1"/>
              <a:t>应用镜像文件打包</a:t>
            </a:r>
            <a:endParaRPr lang="en-US" dirty="0"/>
          </a:p>
        </p:txBody>
      </p:sp>
      <p:sp>
        <p:nvSpPr>
          <p:cNvPr id="3" name="矩形 2">
            <a:extLst>
              <a:ext uri="{FF2B5EF4-FFF2-40B4-BE49-F238E27FC236}">
                <a16:creationId xmlns:a16="http://schemas.microsoft.com/office/drawing/2014/main" id="{156D5773-F326-D985-3AD9-0F3C38ABAB4A}"/>
              </a:ext>
            </a:extLst>
          </p:cNvPr>
          <p:cNvSpPr/>
          <p:nvPr/>
        </p:nvSpPr>
        <p:spPr>
          <a:xfrm>
            <a:off x="1040265" y="5115660"/>
            <a:ext cx="270456" cy="248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A97855CB-09A6-0EF6-E0CB-DF00A132AEA5}"/>
              </a:ext>
            </a:extLst>
          </p:cNvPr>
          <p:cNvSpPr txBox="1"/>
          <p:nvPr/>
        </p:nvSpPr>
        <p:spPr>
          <a:xfrm>
            <a:off x="1547495" y="5050824"/>
            <a:ext cx="940157" cy="369332"/>
          </a:xfrm>
          <a:prstGeom prst="rect">
            <a:avLst/>
          </a:prstGeom>
          <a:noFill/>
        </p:spPr>
        <p:txBody>
          <a:bodyPr wrap="square" rtlCol="0">
            <a:spAutoFit/>
          </a:bodyPr>
          <a:lstStyle/>
          <a:p>
            <a:r>
              <a:rPr lang="zh-CN" altLang="en-US" dirty="0"/>
              <a:t>软件层</a:t>
            </a:r>
          </a:p>
        </p:txBody>
      </p:sp>
      <p:sp>
        <p:nvSpPr>
          <p:cNvPr id="5" name="矩形 4">
            <a:extLst>
              <a:ext uri="{FF2B5EF4-FFF2-40B4-BE49-F238E27FC236}">
                <a16:creationId xmlns:a16="http://schemas.microsoft.com/office/drawing/2014/main" id="{5E0D5811-45D6-A20B-751E-30AF1F32F22D}"/>
              </a:ext>
            </a:extLst>
          </p:cNvPr>
          <p:cNvSpPr/>
          <p:nvPr/>
        </p:nvSpPr>
        <p:spPr>
          <a:xfrm>
            <a:off x="1046284" y="5508222"/>
            <a:ext cx="270456" cy="2489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00"/>
              </a:solidFill>
            </a:endParaRPr>
          </a:p>
        </p:txBody>
      </p:sp>
      <p:sp>
        <p:nvSpPr>
          <p:cNvPr id="6" name="文本框 5">
            <a:extLst>
              <a:ext uri="{FF2B5EF4-FFF2-40B4-BE49-F238E27FC236}">
                <a16:creationId xmlns:a16="http://schemas.microsoft.com/office/drawing/2014/main" id="{355B64E9-C7D4-6397-AA84-59B4D4EB2F8A}"/>
              </a:ext>
            </a:extLst>
          </p:cNvPr>
          <p:cNvSpPr txBox="1"/>
          <p:nvPr/>
        </p:nvSpPr>
        <p:spPr>
          <a:xfrm>
            <a:off x="1553514" y="5443386"/>
            <a:ext cx="1423537" cy="369332"/>
          </a:xfrm>
          <a:prstGeom prst="rect">
            <a:avLst/>
          </a:prstGeom>
          <a:noFill/>
        </p:spPr>
        <p:txBody>
          <a:bodyPr wrap="square" rtlCol="0">
            <a:spAutoFit/>
          </a:bodyPr>
          <a:lstStyle/>
          <a:p>
            <a:r>
              <a:rPr lang="zh-CN" altLang="en-US" dirty="0"/>
              <a:t>硬件模拟层</a:t>
            </a:r>
          </a:p>
        </p:txBody>
      </p:sp>
      <p:sp>
        <p:nvSpPr>
          <p:cNvPr id="7" name="矩形 6">
            <a:extLst>
              <a:ext uri="{FF2B5EF4-FFF2-40B4-BE49-F238E27FC236}">
                <a16:creationId xmlns:a16="http://schemas.microsoft.com/office/drawing/2014/main" id="{D72ABA46-9F9F-275C-76C5-5919BEEE3361}"/>
              </a:ext>
            </a:extLst>
          </p:cNvPr>
          <p:cNvSpPr/>
          <p:nvPr/>
        </p:nvSpPr>
        <p:spPr>
          <a:xfrm>
            <a:off x="1046284" y="5889925"/>
            <a:ext cx="270456" cy="248991"/>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BF30117A-8399-396B-ECE1-AF64735891F3}"/>
              </a:ext>
            </a:extLst>
          </p:cNvPr>
          <p:cNvSpPr txBox="1"/>
          <p:nvPr/>
        </p:nvSpPr>
        <p:spPr>
          <a:xfrm>
            <a:off x="1553514" y="5825089"/>
            <a:ext cx="1423537" cy="369332"/>
          </a:xfrm>
          <a:prstGeom prst="rect">
            <a:avLst/>
          </a:prstGeom>
          <a:noFill/>
        </p:spPr>
        <p:txBody>
          <a:bodyPr wrap="square" rtlCol="0">
            <a:spAutoFit/>
          </a:bodyPr>
          <a:lstStyle/>
          <a:p>
            <a:r>
              <a:rPr lang="zh-CN" altLang="en-US" dirty="0"/>
              <a:t>硬件实现层</a:t>
            </a:r>
          </a:p>
        </p:txBody>
      </p:sp>
      <p:sp>
        <p:nvSpPr>
          <p:cNvPr id="9" name="箭头: 下 8">
            <a:extLst>
              <a:ext uri="{FF2B5EF4-FFF2-40B4-BE49-F238E27FC236}">
                <a16:creationId xmlns:a16="http://schemas.microsoft.com/office/drawing/2014/main" id="{17FBED66-0CE6-BD0B-845D-DD93ED0A10E9}"/>
              </a:ext>
            </a:extLst>
          </p:cNvPr>
          <p:cNvSpPr/>
          <p:nvPr/>
        </p:nvSpPr>
        <p:spPr>
          <a:xfrm>
            <a:off x="4728358" y="4439496"/>
            <a:ext cx="767204" cy="352379"/>
          </a:xfrm>
          <a:prstGeom prst="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C8C6C4AC-A0BD-09F4-7CBF-0EBAB521DA67}"/>
              </a:ext>
            </a:extLst>
          </p:cNvPr>
          <p:cNvSpPr txBox="1"/>
          <p:nvPr/>
        </p:nvSpPr>
        <p:spPr>
          <a:xfrm>
            <a:off x="5495562" y="4414267"/>
            <a:ext cx="1650381" cy="369332"/>
          </a:xfrm>
          <a:prstGeom prst="rect">
            <a:avLst/>
          </a:prstGeom>
          <a:noFill/>
        </p:spPr>
        <p:txBody>
          <a:bodyPr wrap="square" rtlCol="0">
            <a:spAutoFit/>
          </a:bodyPr>
          <a:lstStyle/>
          <a:p>
            <a:r>
              <a:rPr lang="zh-CN" altLang="en-US" dirty="0"/>
              <a:t>行为仿真通过</a:t>
            </a:r>
          </a:p>
        </p:txBody>
      </p:sp>
      <p:sp>
        <p:nvSpPr>
          <p:cNvPr id="11" name="矩形 10">
            <a:extLst>
              <a:ext uri="{FF2B5EF4-FFF2-40B4-BE49-F238E27FC236}">
                <a16:creationId xmlns:a16="http://schemas.microsoft.com/office/drawing/2014/main" id="{12774538-089B-9B21-526B-C94059FD4157}"/>
              </a:ext>
            </a:extLst>
          </p:cNvPr>
          <p:cNvSpPr/>
          <p:nvPr/>
        </p:nvSpPr>
        <p:spPr>
          <a:xfrm>
            <a:off x="1040265" y="4687302"/>
            <a:ext cx="270456" cy="24899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E9FD21FF-80FE-8A1B-68FD-376449AD6A82}"/>
              </a:ext>
            </a:extLst>
          </p:cNvPr>
          <p:cNvSpPr txBox="1"/>
          <p:nvPr/>
        </p:nvSpPr>
        <p:spPr>
          <a:xfrm>
            <a:off x="1547495" y="4622466"/>
            <a:ext cx="1124337" cy="369332"/>
          </a:xfrm>
          <a:prstGeom prst="rect">
            <a:avLst/>
          </a:prstGeom>
          <a:noFill/>
        </p:spPr>
        <p:txBody>
          <a:bodyPr wrap="square" rtlCol="0">
            <a:spAutoFit/>
          </a:bodyPr>
          <a:lstStyle/>
          <a:p>
            <a:r>
              <a:rPr lang="zh-CN" altLang="en-US" dirty="0"/>
              <a:t>当前演示</a:t>
            </a:r>
          </a:p>
        </p:txBody>
      </p:sp>
      <p:sp>
        <p:nvSpPr>
          <p:cNvPr id="496486137" name="文本框 496486136"/>
          <p:cNvSpPr txBox="1"/>
          <p:nvPr/>
        </p:nvSpPr>
        <p:spPr bwMode="auto">
          <a:xfrm>
            <a:off x="7451548" y="1108226"/>
            <a:ext cx="4133337" cy="246875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dirty="0" err="1"/>
              <a:t>RTL设计被verilatort编译后的电路级仿真cpp程序</a:t>
            </a:r>
            <a:endParaRPr lang="en-US" dirty="0"/>
          </a:p>
          <a:p>
            <a:pPr marL="283878" indent="-283878">
              <a:buAutoNum type="arabicPeriod"/>
              <a:defRPr/>
            </a:pPr>
            <a:r>
              <a:rPr lang="en-US" dirty="0" err="1"/>
              <a:t>SoC的RTL实现+Verilator编译产物</a:t>
            </a:r>
            <a:endParaRPr lang="en-US" dirty="0"/>
          </a:p>
          <a:p>
            <a:pPr marL="283878" indent="-283878">
              <a:buAutoNum type="arabicPeriod"/>
              <a:defRPr/>
            </a:pPr>
            <a:r>
              <a:rPr lang="en-US" dirty="0" err="1"/>
              <a:t>CPP仿真主程序及其Testbench</a:t>
            </a:r>
            <a:endParaRPr lang="en-US" dirty="0"/>
          </a:p>
          <a:p>
            <a:pPr marL="283878" indent="-283878">
              <a:buAutoNum type="arabicPeriod"/>
              <a:defRPr/>
            </a:pPr>
            <a:r>
              <a:rPr lang="zh-CN" altLang="en-US" dirty="0"/>
              <a:t>平台可执行程序镜像载入与运行</a:t>
            </a:r>
            <a:endParaRPr lang="en-US" dirty="0"/>
          </a:p>
          <a:p>
            <a:pPr marL="283878" indent="-283878">
              <a:buAutoNum type="arabicPeriod"/>
              <a:defRPr/>
            </a:pPr>
            <a:r>
              <a:rPr lang="en-US" dirty="0" err="1"/>
              <a:t>基础调试设施Monitor</a:t>
            </a:r>
            <a:r>
              <a:rPr lang="en-US" dirty="0"/>
              <a:t>/</a:t>
            </a:r>
            <a:r>
              <a:rPr lang="en-US" dirty="0" err="1"/>
              <a:t>DiffTest</a:t>
            </a:r>
            <a:endParaRPr lang="en-US" dirty="0"/>
          </a:p>
        </p:txBody>
      </p:sp>
      <p:sp>
        <p:nvSpPr>
          <p:cNvPr id="2" name="powerpoint template design by DAJU_PPT正版来源小红书大橘PPT微信DAJU_PPT请勿抄袭搬运！盗版必究！">
            <a:extLst>
              <a:ext uri="{FF2B5EF4-FFF2-40B4-BE49-F238E27FC236}">
                <a16:creationId xmlns:a16="http://schemas.microsoft.com/office/drawing/2014/main" id="{55CADE52-BC29-3DD2-11BB-4341DFB70E42}"/>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13" name="powerpoint template design by DAJU_PPT正版来源小红书大橘PPT微信DAJU_PPT请勿抄袭搬运！盗版必究！">
            <a:extLst>
              <a:ext uri="{FF2B5EF4-FFF2-40B4-BE49-F238E27FC236}">
                <a16:creationId xmlns:a16="http://schemas.microsoft.com/office/drawing/2014/main" id="{970A0F46-6C4B-3BC7-1593-047A0A1E3E8D}"/>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14" name="powerpoint template design by DAJU_PPT正版来源小红书大橘PPT微信DAJU_PPT请勿抄袭搬运！盗版必究！">
            <a:extLst>
              <a:ext uri="{FF2B5EF4-FFF2-40B4-BE49-F238E27FC236}">
                <a16:creationId xmlns:a16="http://schemas.microsoft.com/office/drawing/2014/main" id="{0083E461-FBBF-E092-237A-1F976815E7D9}"/>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000" i="0" u="none" strike="noStrike" cap="none" spc="0" dirty="0">
                <a:ln>
                  <a:noFill/>
                </a:ln>
                <a:solidFill>
                  <a:schemeClr val="bg1">
                    <a:alpha val="70000"/>
                  </a:schemeClr>
                </a:solidFill>
                <a:cs typeface="+mn-ea"/>
              </a:rPr>
              <a:t>考核题目讲解</a:t>
            </a:r>
            <a:endParaRPr lang="en-US" sz="2000" i="0" u="none" strike="noStrike" cap="none" spc="0" dirty="0">
              <a:ln>
                <a:noFill/>
              </a:ln>
              <a:solidFill>
                <a:schemeClr val="bg1">
                  <a:alpha val="70000"/>
                </a:schemeClr>
              </a:solidFill>
              <a:cs typeface="+mn-ea"/>
            </a:endParaRPr>
          </a:p>
        </p:txBody>
      </p:sp>
      <p:cxnSp>
        <p:nvCxnSpPr>
          <p:cNvPr id="15" name="powerpoint template design by DAJU_PPT正版来源小红书大橘PPT微信DAJU_PPT请勿抄袭搬运！盗版必究！">
            <a:extLst>
              <a:ext uri="{FF2B5EF4-FFF2-40B4-BE49-F238E27FC236}">
                <a16:creationId xmlns:a16="http://schemas.microsoft.com/office/drawing/2014/main" id="{65F74D33-19C9-E7D5-0AC5-FD3786920F15}"/>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powerpoint template design by DAJU_PPT正版来源小红书大橘PPT微信DAJU_PPT请勿抄袭搬运！盗版必究！">
            <a:extLst>
              <a:ext uri="{FF2B5EF4-FFF2-40B4-BE49-F238E27FC236}">
                <a16:creationId xmlns:a16="http://schemas.microsoft.com/office/drawing/2014/main" id="{D30DA44D-4C86-BF99-A6EE-9F3676C4C22C}"/>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powerpoint template design by DAJU_PPT正版来源小红书大橘PPT微信DAJU_PPT请勿抄袭搬运！盗版必究！">
            <a:extLst>
              <a:ext uri="{FF2B5EF4-FFF2-40B4-BE49-F238E27FC236}">
                <a16:creationId xmlns:a16="http://schemas.microsoft.com/office/drawing/2014/main" id="{8DE32D3C-4693-3447-42A1-18B64D74B3A1}"/>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18" name="图片 3">
            <a:extLst>
              <a:ext uri="{FF2B5EF4-FFF2-40B4-BE49-F238E27FC236}">
                <a16:creationId xmlns:a16="http://schemas.microsoft.com/office/drawing/2014/main" id="{B43513A5-3D83-D73F-8A9B-B14F59BB23EA}"/>
              </a:ext>
            </a:extLst>
          </p:cNvPr>
          <p:cNvPicPr>
            <a:picLocks noChangeAspect="1"/>
          </p:cNvPicPr>
          <p:nvPr/>
        </p:nvPicPr>
        <p:blipFill rotWithShape="1">
          <a:blip r:embed="rId3"/>
          <a:stretch/>
        </p:blipFill>
        <p:spPr bwMode="auto">
          <a:xfrm>
            <a:off x="0" y="0"/>
            <a:ext cx="778510" cy="720090"/>
          </a:xfrm>
          <a:prstGeom prst="rect">
            <a:avLst/>
          </a:prstGeom>
        </p:spPr>
      </p:pic>
      <p:sp>
        <p:nvSpPr>
          <p:cNvPr id="19" name="powerpoint template design by DAJU_PPT正版来源小红书大橘PPT微信DAJU_PPT请勿抄袭搬运！盗版必究！">
            <a:extLst>
              <a:ext uri="{FF2B5EF4-FFF2-40B4-BE49-F238E27FC236}">
                <a16:creationId xmlns:a16="http://schemas.microsoft.com/office/drawing/2014/main" id="{9848628C-C7DB-4839-4B82-FE0093C7880A}"/>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20" name="powerpoint template design by DAJU_PPT正版来源小红书大橘PPT微信DAJU_PPT请勿抄袭搬运！盗版必究！">
            <a:extLst>
              <a:ext uri="{FF2B5EF4-FFF2-40B4-BE49-F238E27FC236}">
                <a16:creationId xmlns:a16="http://schemas.microsoft.com/office/drawing/2014/main" id="{64FC1237-2CCB-48C4-AA9A-11DEAD62F0DF}"/>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dirty="0" err="1">
                <a:solidFill>
                  <a:schemeClr val="bg1">
                    <a:alpha val="70000"/>
                  </a:schemeClr>
                </a:solidFill>
                <a:cs typeface="+mn-ea"/>
              </a:rPr>
              <a:t>Makefile</a:t>
            </a:r>
            <a:r>
              <a:rPr lang="zh-CN" altLang="en-US" sz="2000" dirty="0">
                <a:solidFill>
                  <a:schemeClr val="bg1">
                    <a:alpha val="70000"/>
                  </a:schemeClr>
                </a:solidFill>
                <a:cs typeface="+mn-ea"/>
              </a:rPr>
              <a:t>调用链</a:t>
            </a:r>
            <a:endParaRPr lang="en-US" sz="2000" i="0" u="none" strike="noStrike" cap="none" spc="0" dirty="0">
              <a:ln>
                <a:noFill/>
              </a:ln>
              <a:solidFill>
                <a:schemeClr val="bg1">
                  <a:alpha val="70000"/>
                </a:schemeClr>
              </a:solidFill>
              <a:cs typeface="+mn-ea"/>
            </a:endParaRPr>
          </a:p>
        </p:txBody>
      </p:sp>
      <p:sp>
        <p:nvSpPr>
          <p:cNvPr id="21" name="powerpoint template design by DAJU_PPT正版来源小红书大橘PPT微信DAJU_PPT请勿抄袭搬运！盗版必究！">
            <a:extLst>
              <a:ext uri="{FF2B5EF4-FFF2-40B4-BE49-F238E27FC236}">
                <a16:creationId xmlns:a16="http://schemas.microsoft.com/office/drawing/2014/main" id="{AFD18D8B-E988-E86D-E5D3-7B3C4734EC8C}"/>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800" b="1" i="0" u="none" strike="noStrike" cap="none" spc="0" dirty="0">
                <a:ln>
                  <a:noFill/>
                </a:ln>
                <a:solidFill>
                  <a:srgbClr val="00B050">
                    <a:alpha val="70000"/>
                  </a:srgbClr>
                </a:solidFill>
                <a:cs typeface="+mn-ea"/>
              </a:rPr>
              <a:t>架构</a:t>
            </a:r>
            <a:r>
              <a:rPr lang="zh-CN" sz="2800" b="1" i="0" u="none" strike="noStrike" cap="none" spc="0" dirty="0">
                <a:ln>
                  <a:noFill/>
                </a:ln>
                <a:solidFill>
                  <a:srgbClr val="00B050">
                    <a:alpha val="70000"/>
                  </a:srgbClr>
                </a:solidFill>
                <a:cs typeface="+mn-ea"/>
              </a:rPr>
              <a:t>讲解</a:t>
            </a:r>
            <a:endParaRPr lang="en-US" sz="2800" b="1" i="0" u="none" strike="noStrike" cap="none" spc="0" dirty="0">
              <a:ln>
                <a:noFill/>
              </a:ln>
              <a:solidFill>
                <a:srgbClr val="00B050">
                  <a:alpha val="70000"/>
                </a:srgbClr>
              </a:solidFill>
              <a:cs typeface="+mn-ea"/>
            </a:endParaRPr>
          </a:p>
        </p:txBody>
      </p:sp>
      <p:cxnSp>
        <p:nvCxnSpPr>
          <p:cNvPr id="22" name="直接连接符 21">
            <a:extLst>
              <a:ext uri="{FF2B5EF4-FFF2-40B4-BE49-F238E27FC236}">
                <a16:creationId xmlns:a16="http://schemas.microsoft.com/office/drawing/2014/main" id="{9595C6C1-5C8A-8DC4-1F9E-2F87E9589E64}"/>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72A84813-15B8-763B-EF46-42ED66DE7E56}"/>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7433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D7215C4-7A68-9C0C-ED4B-9C4463330C6C}"/>
            </a:ext>
          </a:extLst>
        </p:cNvPr>
        <p:cNvGrpSpPr/>
        <p:nvPr/>
      </p:nvGrpSpPr>
      <p:grpSpPr bwMode="auto">
        <a:xfrm>
          <a:off x="0" y="0"/>
          <a:ext cx="0" cy="0"/>
          <a:chOff x="0" y="0"/>
          <a:chExt cx="0" cy="0"/>
        </a:xfrm>
      </p:grpSpPr>
      <p:sp>
        <p:nvSpPr>
          <p:cNvPr id="600543380" name="应用程序">
            <a:extLst>
              <a:ext uri="{FF2B5EF4-FFF2-40B4-BE49-F238E27FC236}">
                <a16:creationId xmlns:a16="http://schemas.microsoft.com/office/drawing/2014/main" id="{A00940B8-C2FA-1B47-9DC0-86382274DC61}"/>
              </a:ext>
            </a:extLst>
          </p:cNvPr>
          <p:cNvSpPr/>
          <p:nvPr/>
        </p:nvSpPr>
        <p:spPr bwMode="auto">
          <a:xfrm>
            <a:off x="2874117" y="1145183"/>
            <a:ext cx="3629855"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应用程序</a:t>
            </a:r>
            <a:r>
              <a:rPr lang="en-US" dirty="0"/>
              <a:t>(Navy apps)</a:t>
            </a:r>
            <a:endParaRPr dirty="0"/>
          </a:p>
        </p:txBody>
      </p:sp>
      <p:sp>
        <p:nvSpPr>
          <p:cNvPr id="806812025" name="系统库框架">
            <a:extLst>
              <a:ext uri="{FF2B5EF4-FFF2-40B4-BE49-F238E27FC236}">
                <a16:creationId xmlns:a16="http://schemas.microsoft.com/office/drawing/2014/main" id="{249C1DFC-3E9F-D7D9-FE62-62193AC7C4DA}"/>
              </a:ext>
            </a:extLst>
          </p:cNvPr>
          <p:cNvSpPr/>
          <p:nvPr/>
        </p:nvSpPr>
        <p:spPr bwMode="auto">
          <a:xfrm>
            <a:off x="2868489" y="1549562"/>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系统库框架层</a:t>
            </a:r>
            <a:r>
              <a:rPr lang="en-US" dirty="0"/>
              <a:t>(Navy libs)</a:t>
            </a:r>
            <a:endParaRPr dirty="0"/>
          </a:p>
        </p:txBody>
      </p:sp>
      <p:sp>
        <p:nvSpPr>
          <p:cNvPr id="971999399" name="系统内核">
            <a:extLst>
              <a:ext uri="{FF2B5EF4-FFF2-40B4-BE49-F238E27FC236}">
                <a16:creationId xmlns:a16="http://schemas.microsoft.com/office/drawing/2014/main" id="{278C01FA-4E77-819B-F7DF-08D9E55E18E1}"/>
              </a:ext>
            </a:extLst>
          </p:cNvPr>
          <p:cNvSpPr/>
          <p:nvPr/>
        </p:nvSpPr>
        <p:spPr bwMode="auto">
          <a:xfrm>
            <a:off x="2868489" y="1967950"/>
            <a:ext cx="3629855" cy="41838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系统内核</a:t>
            </a:r>
            <a:r>
              <a:rPr lang="en-US" dirty="0"/>
              <a:t>(Nanos)</a:t>
            </a:r>
            <a:endParaRPr dirty="0"/>
          </a:p>
        </p:txBody>
      </p:sp>
      <p:sp>
        <p:nvSpPr>
          <p:cNvPr id="1567425429" name="裸机程序">
            <a:extLst>
              <a:ext uri="{FF2B5EF4-FFF2-40B4-BE49-F238E27FC236}">
                <a16:creationId xmlns:a16="http://schemas.microsoft.com/office/drawing/2014/main" id="{C11453CC-2E3E-1BDC-DA26-F3D9E52402CB}"/>
              </a:ext>
            </a:extLst>
          </p:cNvPr>
          <p:cNvSpPr/>
          <p:nvPr/>
        </p:nvSpPr>
        <p:spPr bwMode="auto">
          <a:xfrm>
            <a:off x="1201735" y="1967949"/>
            <a:ext cx="1666755" cy="418386"/>
          </a:xfrm>
          <a:prstGeom prst="rect">
            <a:avLst/>
          </a:prstGeom>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AM程序</a:t>
            </a:r>
            <a:endParaRPr dirty="0"/>
          </a:p>
        </p:txBody>
      </p:sp>
      <p:sp>
        <p:nvSpPr>
          <p:cNvPr id="534821804" name="硬件抽象">
            <a:extLst>
              <a:ext uri="{FF2B5EF4-FFF2-40B4-BE49-F238E27FC236}">
                <a16:creationId xmlns:a16="http://schemas.microsoft.com/office/drawing/2014/main" id="{5CA0E1CA-7DE5-1161-E42A-2CF0E1409BC9}"/>
              </a:ext>
            </a:extLst>
          </p:cNvPr>
          <p:cNvSpPr/>
          <p:nvPr/>
        </p:nvSpPr>
        <p:spPr bwMode="auto">
          <a:xfrm>
            <a:off x="1201735" y="2386337"/>
            <a:ext cx="5296610"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硬件抽象层</a:t>
            </a:r>
            <a:r>
              <a:rPr lang="en-US" dirty="0"/>
              <a:t>(AM)</a:t>
            </a:r>
            <a:endParaRPr dirty="0"/>
          </a:p>
        </p:txBody>
      </p:sp>
      <p:sp>
        <p:nvSpPr>
          <p:cNvPr id="40666242" name="NEMU虚拟机">
            <a:extLst>
              <a:ext uri="{FF2B5EF4-FFF2-40B4-BE49-F238E27FC236}">
                <a16:creationId xmlns:a16="http://schemas.microsoft.com/office/drawing/2014/main" id="{C13997D5-BA54-EE61-F4D8-9302D445C3C2}"/>
              </a:ext>
            </a:extLst>
          </p:cNvPr>
          <p:cNvSpPr/>
          <p:nvPr/>
        </p:nvSpPr>
        <p:spPr bwMode="auto">
          <a:xfrm>
            <a:off x="1092876" y="4021566"/>
            <a:ext cx="2675590"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虚拟机(NEMU)</a:t>
            </a:r>
            <a:endParaRPr/>
          </a:p>
        </p:txBody>
      </p:sp>
      <p:sp>
        <p:nvSpPr>
          <p:cNvPr id="743261972" name="NPC">
            <a:extLst>
              <a:ext uri="{FF2B5EF4-FFF2-40B4-BE49-F238E27FC236}">
                <a16:creationId xmlns:a16="http://schemas.microsoft.com/office/drawing/2014/main" id="{EB6D5B5C-C9B0-7D1E-9F83-9593DD6A6612}"/>
              </a:ext>
            </a:extLst>
          </p:cNvPr>
          <p:cNvSpPr/>
          <p:nvPr/>
        </p:nvSpPr>
        <p:spPr bwMode="auto">
          <a:xfrm>
            <a:off x="4062470" y="4021566"/>
            <a:ext cx="2621018"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NPC</a:t>
            </a:r>
            <a:endParaRPr/>
          </a:p>
        </p:txBody>
      </p:sp>
      <p:sp>
        <p:nvSpPr>
          <p:cNvPr id="1311028271" name="矩形 1311028270">
            <a:extLst>
              <a:ext uri="{FF2B5EF4-FFF2-40B4-BE49-F238E27FC236}">
                <a16:creationId xmlns:a16="http://schemas.microsoft.com/office/drawing/2014/main" id="{3B11A7E9-BD3F-95D5-1DBF-10D575746B61}"/>
              </a:ext>
            </a:extLst>
          </p:cNvPr>
          <p:cNvSpPr/>
          <p:nvPr/>
        </p:nvSpPr>
        <p:spPr bwMode="auto">
          <a:xfrm>
            <a:off x="3768466" y="2838398"/>
            <a:ext cx="414984" cy="957309"/>
          </a:xfrm>
          <a:prstGeom prst="rect">
            <a:avLst/>
          </a:prstGeom>
          <a:solidFill>
            <a:schemeClr val="bg2"/>
          </a:solidFill>
          <a:ln w="12700" cap="flat" cmpd="sng" algn="ctr">
            <a:solidFill>
              <a:schemeClr val="accent1">
                <a:shade val="50000"/>
                <a:alpha val="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600">
                <a:solidFill>
                  <a:schemeClr val="tx1"/>
                </a:solidFill>
              </a:rPr>
              <a:t>两种实现</a:t>
            </a:r>
            <a:endParaRPr>
              <a:solidFill>
                <a:schemeClr val="tx1"/>
              </a:solidFill>
            </a:endParaRPr>
          </a:p>
        </p:txBody>
      </p:sp>
      <p:sp>
        <p:nvSpPr>
          <p:cNvPr id="2328251" name="箭头: 下 2328250">
            <a:extLst>
              <a:ext uri="{FF2B5EF4-FFF2-40B4-BE49-F238E27FC236}">
                <a16:creationId xmlns:a16="http://schemas.microsoft.com/office/drawing/2014/main" id="{F03356E2-8964-8B28-8156-BADF7F6E135D}"/>
              </a:ext>
            </a:extLst>
          </p:cNvPr>
          <p:cNvSpPr/>
          <p:nvPr/>
        </p:nvSpPr>
        <p:spPr bwMode="auto">
          <a:xfrm>
            <a:off x="2378758" y="2804724"/>
            <a:ext cx="644620" cy="990983"/>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200"/>
              <a:t>软件实现</a:t>
            </a:r>
          </a:p>
        </p:txBody>
      </p:sp>
      <p:sp>
        <p:nvSpPr>
          <p:cNvPr id="1699098867" name="箭头: 下 1699098866">
            <a:extLst>
              <a:ext uri="{FF2B5EF4-FFF2-40B4-BE49-F238E27FC236}">
                <a16:creationId xmlns:a16="http://schemas.microsoft.com/office/drawing/2014/main" id="{AD9DA63B-8225-710D-4DA7-16451CF36743}"/>
              </a:ext>
            </a:extLst>
          </p:cNvPr>
          <p:cNvSpPr/>
          <p:nvPr/>
        </p:nvSpPr>
        <p:spPr bwMode="auto">
          <a:xfrm>
            <a:off x="4728358" y="2816364"/>
            <a:ext cx="644620" cy="1029468"/>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a:t>RTL实现</a:t>
            </a:r>
            <a:endParaRPr sz="1200"/>
          </a:p>
        </p:txBody>
      </p:sp>
      <p:sp>
        <p:nvSpPr>
          <p:cNvPr id="16112946" name="电路综合">
            <a:extLst>
              <a:ext uri="{FF2B5EF4-FFF2-40B4-BE49-F238E27FC236}">
                <a16:creationId xmlns:a16="http://schemas.microsoft.com/office/drawing/2014/main" id="{748A26C4-63E9-7893-7C9F-4CCD6CCA5CF4}"/>
              </a:ext>
            </a:extLst>
          </p:cNvPr>
          <p:cNvSpPr/>
          <p:nvPr/>
        </p:nvSpPr>
        <p:spPr bwMode="auto">
          <a:xfrm>
            <a:off x="4062470" y="4817104"/>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电路综合(Yosys)</a:t>
            </a:r>
            <a:endParaRPr/>
          </a:p>
        </p:txBody>
      </p:sp>
      <p:sp>
        <p:nvSpPr>
          <p:cNvPr id="813212810" name="布局布线">
            <a:extLst>
              <a:ext uri="{FF2B5EF4-FFF2-40B4-BE49-F238E27FC236}">
                <a16:creationId xmlns:a16="http://schemas.microsoft.com/office/drawing/2014/main" id="{3D6FE407-F6D7-C538-1C07-DB799A621983}"/>
              </a:ext>
            </a:extLst>
          </p:cNvPr>
          <p:cNvSpPr/>
          <p:nvPr/>
        </p:nvSpPr>
        <p:spPr bwMode="auto">
          <a:xfrm>
            <a:off x="4062470" y="5218648"/>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布局布线(iEDA)</a:t>
            </a:r>
            <a:endParaRPr/>
          </a:p>
        </p:txBody>
      </p:sp>
      <p:sp>
        <p:nvSpPr>
          <p:cNvPr id="1835667885" name="嵌合分析">
            <a:extLst>
              <a:ext uri="{FF2B5EF4-FFF2-40B4-BE49-F238E27FC236}">
                <a16:creationId xmlns:a16="http://schemas.microsoft.com/office/drawing/2014/main" id="{96F157FF-32E4-DE5D-5C08-FF0BD271A84A}"/>
              </a:ext>
            </a:extLst>
          </p:cNvPr>
          <p:cNvSpPr/>
          <p:nvPr/>
        </p:nvSpPr>
        <p:spPr bwMode="auto">
          <a:xfrm>
            <a:off x="4062470" y="5637036"/>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签核</a:t>
            </a:r>
            <a:r>
              <a:rPr lang="en-US"/>
              <a:t>分析</a:t>
            </a:r>
            <a:endParaRPr/>
          </a:p>
        </p:txBody>
      </p:sp>
      <p:sp>
        <p:nvSpPr>
          <p:cNvPr id="127215868" name="流片制造">
            <a:extLst>
              <a:ext uri="{FF2B5EF4-FFF2-40B4-BE49-F238E27FC236}">
                <a16:creationId xmlns:a16="http://schemas.microsoft.com/office/drawing/2014/main" id="{89E20307-CFFB-0CD7-9EAD-EE779116B7FA}"/>
              </a:ext>
            </a:extLst>
          </p:cNvPr>
          <p:cNvSpPr/>
          <p:nvPr/>
        </p:nvSpPr>
        <p:spPr bwMode="auto">
          <a:xfrm>
            <a:off x="4062470" y="6055425"/>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流片制造</a:t>
            </a:r>
          </a:p>
        </p:txBody>
      </p:sp>
      <p:sp>
        <p:nvSpPr>
          <p:cNvPr id="328657211" name="文本框 NavyLib" hidden="1">
            <a:extLst>
              <a:ext uri="{FF2B5EF4-FFF2-40B4-BE49-F238E27FC236}">
                <a16:creationId xmlns:a16="http://schemas.microsoft.com/office/drawing/2014/main" id="{8BE67668-861B-58BF-2521-8285189F1AE9}"/>
              </a:ext>
            </a:extLst>
          </p:cNvPr>
          <p:cNvSpPr txBox="1"/>
          <p:nvPr/>
        </p:nvSpPr>
        <p:spPr bwMode="auto">
          <a:xfrm>
            <a:off x="7524362" y="3520663"/>
            <a:ext cx="3927777" cy="211637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dirty="0" err="1"/>
              <a:t>基于Nanos内核的程序库环境支持</a:t>
            </a:r>
            <a:r>
              <a:rPr lang="en-US" dirty="0"/>
              <a:t>/</a:t>
            </a:r>
            <a:r>
              <a:rPr lang="en-US" dirty="0" err="1"/>
              <a:t>适配，可编写</a:t>
            </a:r>
            <a:r>
              <a:rPr lang="en-US" dirty="0"/>
              <a:t>/</a:t>
            </a:r>
            <a:r>
              <a:rPr lang="en-US" dirty="0" err="1"/>
              <a:t>移植更强大丰富的应用程序</a:t>
            </a:r>
            <a:r>
              <a:rPr lang="en-US" dirty="0"/>
              <a:t>。</a:t>
            </a:r>
          </a:p>
          <a:p>
            <a:pPr marL="283878" indent="-283878">
              <a:buAutoNum type="arabicPeriod"/>
              <a:defRPr/>
            </a:pPr>
            <a:r>
              <a:rPr lang="en-US" dirty="0" err="1"/>
              <a:t>Nanos系统调用库</a:t>
            </a:r>
            <a:endParaRPr lang="en-US" dirty="0"/>
          </a:p>
          <a:p>
            <a:pPr>
              <a:defRPr/>
            </a:pPr>
            <a:r>
              <a:rPr lang="en-US" sz="1800" b="0" i="0" u="none" strike="noStrike" cap="none" spc="0" dirty="0">
                <a:solidFill>
                  <a:schemeClr val="tx1"/>
                </a:solidFill>
                <a:latin typeface="Arial"/>
                <a:ea typeface="微软雅黑"/>
                <a:cs typeface="Arial"/>
              </a:rPr>
              <a:t>2. </a:t>
            </a:r>
            <a:r>
              <a:rPr lang="en-US" sz="1800" b="0" i="0" u="none" strike="noStrike" cap="none" spc="0" dirty="0" err="1">
                <a:solidFill>
                  <a:schemeClr val="tx1"/>
                </a:solidFill>
                <a:latin typeface="Arial"/>
                <a:ea typeface="微软雅黑"/>
                <a:cs typeface="Arial"/>
              </a:rPr>
              <a:t>运行环境库</a:t>
            </a:r>
            <a:endParaRPr lang="en-US" dirty="0"/>
          </a:p>
          <a:p>
            <a:pPr>
              <a:defRPr/>
            </a:pPr>
            <a:r>
              <a:rPr lang="en-US" sz="1800" b="0" i="0" u="none" strike="noStrike" cap="none" spc="0" dirty="0">
                <a:solidFill>
                  <a:schemeClr val="tx1"/>
                </a:solidFill>
                <a:latin typeface="Arial"/>
                <a:ea typeface="微软雅黑"/>
                <a:cs typeface="Arial"/>
              </a:rPr>
              <a:t>3. </a:t>
            </a:r>
            <a:r>
              <a:rPr lang="en-US" sz="1800" b="0" i="0" u="none" strike="noStrike" cap="none" spc="0" dirty="0" err="1">
                <a:solidFill>
                  <a:schemeClr val="tx1"/>
                </a:solidFill>
                <a:latin typeface="Arial"/>
                <a:ea typeface="微软雅黑"/>
                <a:cs typeface="Arial"/>
              </a:rPr>
              <a:t>媒体硬件库</a:t>
            </a:r>
            <a:r>
              <a:rPr lang="en-US" dirty="0"/>
              <a:t>/</a:t>
            </a:r>
            <a:r>
              <a:rPr lang="en-US" dirty="0" err="1"/>
              <a:t>资源解析库</a:t>
            </a:r>
            <a:endParaRPr sz="1800" dirty="0"/>
          </a:p>
          <a:p>
            <a:pPr>
              <a:defRPr/>
            </a:pPr>
            <a:r>
              <a:rPr lang="en-US" dirty="0"/>
              <a:t>4. </a:t>
            </a:r>
            <a:r>
              <a:rPr lang="en-US" dirty="0" err="1"/>
              <a:t>应用镜像文件打包</a:t>
            </a:r>
            <a:endParaRPr lang="en-US" dirty="0"/>
          </a:p>
        </p:txBody>
      </p:sp>
      <p:sp>
        <p:nvSpPr>
          <p:cNvPr id="3" name="矩形 2">
            <a:extLst>
              <a:ext uri="{FF2B5EF4-FFF2-40B4-BE49-F238E27FC236}">
                <a16:creationId xmlns:a16="http://schemas.microsoft.com/office/drawing/2014/main" id="{55963D2B-E368-339C-19E4-C6B1F51B8DDD}"/>
              </a:ext>
            </a:extLst>
          </p:cNvPr>
          <p:cNvSpPr/>
          <p:nvPr/>
        </p:nvSpPr>
        <p:spPr>
          <a:xfrm>
            <a:off x="1040265" y="5115660"/>
            <a:ext cx="270456" cy="248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18EF52B7-3D3A-C947-C7B0-86B8264818AD}"/>
              </a:ext>
            </a:extLst>
          </p:cNvPr>
          <p:cNvSpPr txBox="1"/>
          <p:nvPr/>
        </p:nvSpPr>
        <p:spPr>
          <a:xfrm>
            <a:off x="1547495" y="5050824"/>
            <a:ext cx="940157" cy="369332"/>
          </a:xfrm>
          <a:prstGeom prst="rect">
            <a:avLst/>
          </a:prstGeom>
          <a:noFill/>
        </p:spPr>
        <p:txBody>
          <a:bodyPr wrap="square" rtlCol="0">
            <a:spAutoFit/>
          </a:bodyPr>
          <a:lstStyle/>
          <a:p>
            <a:r>
              <a:rPr lang="zh-CN" altLang="en-US" dirty="0"/>
              <a:t>软件层</a:t>
            </a:r>
          </a:p>
        </p:txBody>
      </p:sp>
      <p:sp>
        <p:nvSpPr>
          <p:cNvPr id="5" name="矩形 4">
            <a:extLst>
              <a:ext uri="{FF2B5EF4-FFF2-40B4-BE49-F238E27FC236}">
                <a16:creationId xmlns:a16="http://schemas.microsoft.com/office/drawing/2014/main" id="{C86D8368-60A2-66BC-EB87-6544486A58F0}"/>
              </a:ext>
            </a:extLst>
          </p:cNvPr>
          <p:cNvSpPr/>
          <p:nvPr/>
        </p:nvSpPr>
        <p:spPr>
          <a:xfrm>
            <a:off x="1046284" y="5508222"/>
            <a:ext cx="270456" cy="2489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00"/>
              </a:solidFill>
            </a:endParaRPr>
          </a:p>
        </p:txBody>
      </p:sp>
      <p:sp>
        <p:nvSpPr>
          <p:cNvPr id="6" name="文本框 5">
            <a:extLst>
              <a:ext uri="{FF2B5EF4-FFF2-40B4-BE49-F238E27FC236}">
                <a16:creationId xmlns:a16="http://schemas.microsoft.com/office/drawing/2014/main" id="{EA714968-7359-CADB-F0F6-CFEEAE29DBD2}"/>
              </a:ext>
            </a:extLst>
          </p:cNvPr>
          <p:cNvSpPr txBox="1"/>
          <p:nvPr/>
        </p:nvSpPr>
        <p:spPr>
          <a:xfrm>
            <a:off x="1553514" y="5443386"/>
            <a:ext cx="1423537" cy="369332"/>
          </a:xfrm>
          <a:prstGeom prst="rect">
            <a:avLst/>
          </a:prstGeom>
          <a:noFill/>
        </p:spPr>
        <p:txBody>
          <a:bodyPr wrap="square" rtlCol="0">
            <a:spAutoFit/>
          </a:bodyPr>
          <a:lstStyle/>
          <a:p>
            <a:r>
              <a:rPr lang="zh-CN" altLang="en-US" dirty="0"/>
              <a:t>硬件模拟层</a:t>
            </a:r>
          </a:p>
        </p:txBody>
      </p:sp>
      <p:sp>
        <p:nvSpPr>
          <p:cNvPr id="7" name="矩形 6">
            <a:extLst>
              <a:ext uri="{FF2B5EF4-FFF2-40B4-BE49-F238E27FC236}">
                <a16:creationId xmlns:a16="http://schemas.microsoft.com/office/drawing/2014/main" id="{8B98CC00-AC8E-D4B5-C4EF-57E74F88B1EE}"/>
              </a:ext>
            </a:extLst>
          </p:cNvPr>
          <p:cNvSpPr/>
          <p:nvPr/>
        </p:nvSpPr>
        <p:spPr>
          <a:xfrm>
            <a:off x="1046284" y="5889925"/>
            <a:ext cx="270456" cy="248991"/>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BFFA17EF-9EC9-A904-AD1F-F9A999DFB385}"/>
              </a:ext>
            </a:extLst>
          </p:cNvPr>
          <p:cNvSpPr txBox="1"/>
          <p:nvPr/>
        </p:nvSpPr>
        <p:spPr>
          <a:xfrm>
            <a:off x="1553514" y="5825089"/>
            <a:ext cx="1423537" cy="369332"/>
          </a:xfrm>
          <a:prstGeom prst="rect">
            <a:avLst/>
          </a:prstGeom>
          <a:noFill/>
        </p:spPr>
        <p:txBody>
          <a:bodyPr wrap="square" rtlCol="0">
            <a:spAutoFit/>
          </a:bodyPr>
          <a:lstStyle/>
          <a:p>
            <a:r>
              <a:rPr lang="zh-CN" altLang="en-US" dirty="0"/>
              <a:t>硬件实现层</a:t>
            </a:r>
          </a:p>
        </p:txBody>
      </p:sp>
      <p:sp>
        <p:nvSpPr>
          <p:cNvPr id="9" name="箭头: 下 8">
            <a:extLst>
              <a:ext uri="{FF2B5EF4-FFF2-40B4-BE49-F238E27FC236}">
                <a16:creationId xmlns:a16="http://schemas.microsoft.com/office/drawing/2014/main" id="{82DA5699-0870-261D-150F-EE3A3FC658BB}"/>
              </a:ext>
            </a:extLst>
          </p:cNvPr>
          <p:cNvSpPr/>
          <p:nvPr/>
        </p:nvSpPr>
        <p:spPr>
          <a:xfrm>
            <a:off x="4728358" y="4439496"/>
            <a:ext cx="767204" cy="352379"/>
          </a:xfrm>
          <a:prstGeom prst="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EAD8DD0F-9B85-D0E8-7230-EA1B66D88CBA}"/>
              </a:ext>
            </a:extLst>
          </p:cNvPr>
          <p:cNvSpPr txBox="1"/>
          <p:nvPr/>
        </p:nvSpPr>
        <p:spPr>
          <a:xfrm>
            <a:off x="5495562" y="4414267"/>
            <a:ext cx="1650381" cy="369332"/>
          </a:xfrm>
          <a:prstGeom prst="rect">
            <a:avLst/>
          </a:prstGeom>
          <a:noFill/>
        </p:spPr>
        <p:txBody>
          <a:bodyPr wrap="square" rtlCol="0">
            <a:spAutoFit/>
          </a:bodyPr>
          <a:lstStyle/>
          <a:p>
            <a:r>
              <a:rPr lang="zh-CN" altLang="en-US" dirty="0"/>
              <a:t>行为仿真通过</a:t>
            </a:r>
          </a:p>
        </p:txBody>
      </p:sp>
      <p:sp>
        <p:nvSpPr>
          <p:cNvPr id="11" name="矩形 10">
            <a:extLst>
              <a:ext uri="{FF2B5EF4-FFF2-40B4-BE49-F238E27FC236}">
                <a16:creationId xmlns:a16="http://schemas.microsoft.com/office/drawing/2014/main" id="{52D75BA1-4934-A1EC-D96E-DF72F1F9C53F}"/>
              </a:ext>
            </a:extLst>
          </p:cNvPr>
          <p:cNvSpPr/>
          <p:nvPr/>
        </p:nvSpPr>
        <p:spPr>
          <a:xfrm>
            <a:off x="1040265" y="4687302"/>
            <a:ext cx="270456" cy="24899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4BB30A29-1307-1B8B-40D4-46E2DDC7F5A7}"/>
              </a:ext>
            </a:extLst>
          </p:cNvPr>
          <p:cNvSpPr txBox="1"/>
          <p:nvPr/>
        </p:nvSpPr>
        <p:spPr>
          <a:xfrm>
            <a:off x="1547495" y="4622466"/>
            <a:ext cx="1124337" cy="369332"/>
          </a:xfrm>
          <a:prstGeom prst="rect">
            <a:avLst/>
          </a:prstGeom>
          <a:noFill/>
        </p:spPr>
        <p:txBody>
          <a:bodyPr wrap="square" rtlCol="0">
            <a:spAutoFit/>
          </a:bodyPr>
          <a:lstStyle/>
          <a:p>
            <a:r>
              <a:rPr lang="zh-CN" altLang="en-US" dirty="0"/>
              <a:t>当前演示</a:t>
            </a:r>
          </a:p>
        </p:txBody>
      </p:sp>
      <p:sp>
        <p:nvSpPr>
          <p:cNvPr id="711244237" name="文本框 711244236"/>
          <p:cNvSpPr txBox="1"/>
          <p:nvPr/>
        </p:nvSpPr>
        <p:spPr bwMode="auto">
          <a:xfrm>
            <a:off x="7333795" y="1109017"/>
            <a:ext cx="4541069" cy="32608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zh-CN" altLang="en-US" dirty="0">
                <a:latin typeface="Arial"/>
                <a:ea typeface="微软雅黑"/>
                <a:cs typeface="Arial"/>
              </a:rPr>
              <a:t>一个运行程序的</a:t>
            </a:r>
            <a:r>
              <a:rPr lang="en-US" altLang="zh-CN" dirty="0" err="1">
                <a:latin typeface="Arial"/>
                <a:ea typeface="微软雅黑"/>
                <a:cs typeface="Arial"/>
              </a:rPr>
              <a:t>AM</a:t>
            </a:r>
            <a:r>
              <a:rPr lang="en-US" sz="1800" b="0" i="0" u="none" strike="noStrike" cap="none" spc="0" dirty="0" err="1">
                <a:solidFill>
                  <a:schemeClr val="tx1"/>
                </a:solidFill>
                <a:latin typeface="Arial"/>
                <a:ea typeface="微软雅黑"/>
                <a:cs typeface="Arial"/>
              </a:rPr>
              <a:t>程序，响应并处理硬件中断异常是它的本质特征</a:t>
            </a:r>
            <a:endParaRPr lang="en-US" dirty="0"/>
          </a:p>
          <a:p>
            <a:pPr marL="283878" indent="-283878">
              <a:buAutoNum type="arabicPeriod"/>
              <a:defRPr/>
            </a:pPr>
            <a:r>
              <a:rPr lang="zh-CN" altLang="en-US" dirty="0"/>
              <a:t>程序加载</a:t>
            </a:r>
            <a:endParaRPr lang="en-US" altLang="zh-CN" dirty="0"/>
          </a:p>
          <a:p>
            <a:pPr>
              <a:defRPr/>
            </a:pPr>
            <a:r>
              <a:rPr lang="en-US" dirty="0"/>
              <a:t>2. </a:t>
            </a:r>
            <a:r>
              <a:rPr lang="en-US" dirty="0" err="1"/>
              <a:t>系统调用</a:t>
            </a:r>
            <a:endParaRPr lang="en-US" dirty="0"/>
          </a:p>
          <a:p>
            <a:pPr>
              <a:defRPr/>
            </a:pPr>
            <a:r>
              <a:rPr lang="en-US" dirty="0"/>
              <a:t>3. </a:t>
            </a:r>
            <a:r>
              <a:rPr lang="en-US" dirty="0" err="1"/>
              <a:t>进程</a:t>
            </a:r>
            <a:r>
              <a:rPr lang="zh-CN" altLang="en-US" dirty="0"/>
              <a:t>线程</a:t>
            </a:r>
            <a:r>
              <a:rPr lang="en-US" dirty="0" err="1"/>
              <a:t>抽象</a:t>
            </a:r>
            <a:r>
              <a:rPr lang="en-US" dirty="0"/>
              <a:t>/</a:t>
            </a:r>
            <a:r>
              <a:rPr lang="en-US" dirty="0" err="1"/>
              <a:t>调度</a:t>
            </a:r>
            <a:endParaRPr lang="en-US" dirty="0"/>
          </a:p>
          <a:p>
            <a:pPr>
              <a:defRPr/>
            </a:pPr>
            <a:r>
              <a:rPr lang="en-US" dirty="0"/>
              <a:t>4. </a:t>
            </a:r>
            <a:r>
              <a:rPr lang="en-US" dirty="0" err="1"/>
              <a:t>内存管理</a:t>
            </a:r>
            <a:endParaRPr lang="en-US" dirty="0"/>
          </a:p>
          <a:p>
            <a:pPr>
              <a:defRPr/>
            </a:pPr>
            <a:r>
              <a:rPr lang="en-US" dirty="0"/>
              <a:t>5. </a:t>
            </a:r>
            <a:r>
              <a:rPr lang="en-US" dirty="0" err="1"/>
              <a:t>文件系统</a:t>
            </a:r>
            <a:endParaRPr lang="en-US" dirty="0"/>
          </a:p>
          <a:p>
            <a:pPr>
              <a:defRPr/>
            </a:pPr>
            <a:r>
              <a:rPr lang="en-US" altLang="zh-CN" dirty="0"/>
              <a:t>6. </a:t>
            </a:r>
            <a:r>
              <a:rPr lang="zh-CN" altLang="en-US" dirty="0"/>
              <a:t>外设驱动</a:t>
            </a:r>
          </a:p>
        </p:txBody>
      </p:sp>
      <p:sp>
        <p:nvSpPr>
          <p:cNvPr id="13" name="powerpoint template design by DAJU_PPT正版来源小红书大橘PPT微信DAJU_PPT请勿抄袭搬运！盗版必究！">
            <a:extLst>
              <a:ext uri="{FF2B5EF4-FFF2-40B4-BE49-F238E27FC236}">
                <a16:creationId xmlns:a16="http://schemas.microsoft.com/office/drawing/2014/main" id="{3EE51982-01DB-DA54-09D3-343A083D7F46}"/>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14" name="powerpoint template design by DAJU_PPT正版来源小红书大橘PPT微信DAJU_PPT请勿抄袭搬运！盗版必究！">
            <a:extLst>
              <a:ext uri="{FF2B5EF4-FFF2-40B4-BE49-F238E27FC236}">
                <a16:creationId xmlns:a16="http://schemas.microsoft.com/office/drawing/2014/main" id="{B610BF96-E61E-3C08-CDCB-27F9D81FE5A6}"/>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15" name="powerpoint template design by DAJU_PPT正版来源小红书大橘PPT微信DAJU_PPT请勿抄袭搬运！盗版必究！">
            <a:extLst>
              <a:ext uri="{FF2B5EF4-FFF2-40B4-BE49-F238E27FC236}">
                <a16:creationId xmlns:a16="http://schemas.microsoft.com/office/drawing/2014/main" id="{BF82B96F-1C4F-CA0F-1787-EE712F25EEEA}"/>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000" i="0" u="none" strike="noStrike" cap="none" spc="0" dirty="0">
                <a:ln>
                  <a:noFill/>
                </a:ln>
                <a:solidFill>
                  <a:schemeClr val="bg1">
                    <a:alpha val="70000"/>
                  </a:schemeClr>
                </a:solidFill>
                <a:cs typeface="+mn-ea"/>
              </a:rPr>
              <a:t>考核题目讲解</a:t>
            </a:r>
            <a:endParaRPr lang="en-US" sz="2000" i="0" u="none" strike="noStrike" cap="none" spc="0" dirty="0">
              <a:ln>
                <a:noFill/>
              </a:ln>
              <a:solidFill>
                <a:schemeClr val="bg1">
                  <a:alpha val="70000"/>
                </a:schemeClr>
              </a:solidFill>
              <a:cs typeface="+mn-ea"/>
            </a:endParaRPr>
          </a:p>
        </p:txBody>
      </p:sp>
      <p:cxnSp>
        <p:nvCxnSpPr>
          <p:cNvPr id="16" name="powerpoint template design by DAJU_PPT正版来源小红书大橘PPT微信DAJU_PPT请勿抄袭搬运！盗版必究！">
            <a:extLst>
              <a:ext uri="{FF2B5EF4-FFF2-40B4-BE49-F238E27FC236}">
                <a16:creationId xmlns:a16="http://schemas.microsoft.com/office/drawing/2014/main" id="{C7E61948-03B7-D2AA-66BE-242312936ECD}"/>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powerpoint template design by DAJU_PPT正版来源小红书大橘PPT微信DAJU_PPT请勿抄袭搬运！盗版必究！">
            <a:extLst>
              <a:ext uri="{FF2B5EF4-FFF2-40B4-BE49-F238E27FC236}">
                <a16:creationId xmlns:a16="http://schemas.microsoft.com/office/drawing/2014/main" id="{1DFDF8A2-EA04-8152-486C-361CF9779328}"/>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powerpoint template design by DAJU_PPT正版来源小红书大橘PPT微信DAJU_PPT请勿抄袭搬运！盗版必究！">
            <a:extLst>
              <a:ext uri="{FF2B5EF4-FFF2-40B4-BE49-F238E27FC236}">
                <a16:creationId xmlns:a16="http://schemas.microsoft.com/office/drawing/2014/main" id="{49AF9B4B-7852-5201-1308-B699199AAB6D}"/>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19" name="图片 3">
            <a:extLst>
              <a:ext uri="{FF2B5EF4-FFF2-40B4-BE49-F238E27FC236}">
                <a16:creationId xmlns:a16="http://schemas.microsoft.com/office/drawing/2014/main" id="{650604D8-4145-8C48-4015-FA9DD32072A1}"/>
              </a:ext>
            </a:extLst>
          </p:cNvPr>
          <p:cNvPicPr>
            <a:picLocks noChangeAspect="1"/>
          </p:cNvPicPr>
          <p:nvPr/>
        </p:nvPicPr>
        <p:blipFill rotWithShape="1">
          <a:blip r:embed="rId3"/>
          <a:stretch/>
        </p:blipFill>
        <p:spPr bwMode="auto">
          <a:xfrm>
            <a:off x="0" y="0"/>
            <a:ext cx="778510" cy="720090"/>
          </a:xfrm>
          <a:prstGeom prst="rect">
            <a:avLst/>
          </a:prstGeom>
        </p:spPr>
      </p:pic>
      <p:sp>
        <p:nvSpPr>
          <p:cNvPr id="20" name="powerpoint template design by DAJU_PPT正版来源小红书大橘PPT微信DAJU_PPT请勿抄袭搬运！盗版必究！">
            <a:extLst>
              <a:ext uri="{FF2B5EF4-FFF2-40B4-BE49-F238E27FC236}">
                <a16:creationId xmlns:a16="http://schemas.microsoft.com/office/drawing/2014/main" id="{A174C917-45A0-87BE-9299-B2C01055BFD3}"/>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21" name="powerpoint template design by DAJU_PPT正版来源小红书大橘PPT微信DAJU_PPT请勿抄袭搬运！盗版必究！">
            <a:extLst>
              <a:ext uri="{FF2B5EF4-FFF2-40B4-BE49-F238E27FC236}">
                <a16:creationId xmlns:a16="http://schemas.microsoft.com/office/drawing/2014/main" id="{6F333EEF-5BE1-8908-DA78-758604BBEC36}"/>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dirty="0" err="1">
                <a:solidFill>
                  <a:schemeClr val="bg1">
                    <a:alpha val="70000"/>
                  </a:schemeClr>
                </a:solidFill>
                <a:cs typeface="+mn-ea"/>
              </a:rPr>
              <a:t>Makefile</a:t>
            </a:r>
            <a:r>
              <a:rPr lang="zh-CN" altLang="en-US" sz="2000" dirty="0">
                <a:solidFill>
                  <a:schemeClr val="bg1">
                    <a:alpha val="70000"/>
                  </a:schemeClr>
                </a:solidFill>
                <a:cs typeface="+mn-ea"/>
              </a:rPr>
              <a:t>调用链</a:t>
            </a:r>
            <a:endParaRPr lang="en-US" sz="2000" i="0" u="none" strike="noStrike" cap="none" spc="0" dirty="0">
              <a:ln>
                <a:noFill/>
              </a:ln>
              <a:solidFill>
                <a:schemeClr val="bg1">
                  <a:alpha val="70000"/>
                </a:schemeClr>
              </a:solidFill>
              <a:cs typeface="+mn-ea"/>
            </a:endParaRPr>
          </a:p>
        </p:txBody>
      </p:sp>
      <p:sp>
        <p:nvSpPr>
          <p:cNvPr id="22" name="powerpoint template design by DAJU_PPT正版来源小红书大橘PPT微信DAJU_PPT请勿抄袭搬运！盗版必究！">
            <a:extLst>
              <a:ext uri="{FF2B5EF4-FFF2-40B4-BE49-F238E27FC236}">
                <a16:creationId xmlns:a16="http://schemas.microsoft.com/office/drawing/2014/main" id="{92D408F9-4194-CE99-E706-DF4E93ED86FA}"/>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800" b="1" i="0" u="none" strike="noStrike" cap="none" spc="0" dirty="0">
                <a:ln>
                  <a:noFill/>
                </a:ln>
                <a:solidFill>
                  <a:srgbClr val="00B050">
                    <a:alpha val="70000"/>
                  </a:srgbClr>
                </a:solidFill>
                <a:cs typeface="+mn-ea"/>
              </a:rPr>
              <a:t>架构</a:t>
            </a:r>
            <a:r>
              <a:rPr lang="zh-CN" sz="2800" b="1" i="0" u="none" strike="noStrike" cap="none" spc="0" dirty="0">
                <a:ln>
                  <a:noFill/>
                </a:ln>
                <a:solidFill>
                  <a:srgbClr val="00B050">
                    <a:alpha val="70000"/>
                  </a:srgbClr>
                </a:solidFill>
                <a:cs typeface="+mn-ea"/>
              </a:rPr>
              <a:t>讲解</a:t>
            </a:r>
            <a:endParaRPr lang="en-US" sz="2800" b="1" i="0" u="none" strike="noStrike" cap="none" spc="0" dirty="0">
              <a:ln>
                <a:noFill/>
              </a:ln>
              <a:solidFill>
                <a:srgbClr val="00B050">
                  <a:alpha val="70000"/>
                </a:srgbClr>
              </a:solidFill>
              <a:cs typeface="+mn-ea"/>
            </a:endParaRPr>
          </a:p>
        </p:txBody>
      </p:sp>
      <p:cxnSp>
        <p:nvCxnSpPr>
          <p:cNvPr id="23" name="直接连接符 22">
            <a:extLst>
              <a:ext uri="{FF2B5EF4-FFF2-40B4-BE49-F238E27FC236}">
                <a16:creationId xmlns:a16="http://schemas.microsoft.com/office/drawing/2014/main" id="{AD7B1011-F160-F2BD-79BC-A52FBBE21703}"/>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12B78C2B-43AC-D51E-88EB-FD09D541C102}"/>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69308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455503F-669C-5040-2E04-6265521326CE}"/>
            </a:ext>
          </a:extLst>
        </p:cNvPr>
        <p:cNvGrpSpPr/>
        <p:nvPr/>
      </p:nvGrpSpPr>
      <p:grpSpPr bwMode="auto">
        <a:xfrm>
          <a:off x="0" y="0"/>
          <a:ext cx="0" cy="0"/>
          <a:chOff x="0" y="0"/>
          <a:chExt cx="0" cy="0"/>
        </a:xfrm>
      </p:grpSpPr>
      <p:sp>
        <p:nvSpPr>
          <p:cNvPr id="600543380" name="应用程序">
            <a:extLst>
              <a:ext uri="{FF2B5EF4-FFF2-40B4-BE49-F238E27FC236}">
                <a16:creationId xmlns:a16="http://schemas.microsoft.com/office/drawing/2014/main" id="{CCF0920D-3704-4B1C-7F07-A84B1C37A457}"/>
              </a:ext>
            </a:extLst>
          </p:cNvPr>
          <p:cNvSpPr/>
          <p:nvPr/>
        </p:nvSpPr>
        <p:spPr bwMode="auto">
          <a:xfrm>
            <a:off x="2874117" y="1145183"/>
            <a:ext cx="3629855"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应用程序</a:t>
            </a:r>
            <a:r>
              <a:rPr lang="en-US" dirty="0"/>
              <a:t>(Navy apps)</a:t>
            </a:r>
            <a:endParaRPr dirty="0"/>
          </a:p>
        </p:txBody>
      </p:sp>
      <p:sp>
        <p:nvSpPr>
          <p:cNvPr id="806812025" name="系统库框架">
            <a:extLst>
              <a:ext uri="{FF2B5EF4-FFF2-40B4-BE49-F238E27FC236}">
                <a16:creationId xmlns:a16="http://schemas.microsoft.com/office/drawing/2014/main" id="{BDE28057-0875-440D-330D-8685D3F023C4}"/>
              </a:ext>
            </a:extLst>
          </p:cNvPr>
          <p:cNvSpPr/>
          <p:nvPr/>
        </p:nvSpPr>
        <p:spPr bwMode="auto">
          <a:xfrm>
            <a:off x="2868489" y="1549562"/>
            <a:ext cx="3629855" cy="41838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系统库框架层</a:t>
            </a:r>
            <a:r>
              <a:rPr lang="en-US" dirty="0"/>
              <a:t>(Navy libs)</a:t>
            </a:r>
            <a:endParaRPr dirty="0"/>
          </a:p>
        </p:txBody>
      </p:sp>
      <p:sp>
        <p:nvSpPr>
          <p:cNvPr id="971999399" name="系统内核">
            <a:extLst>
              <a:ext uri="{FF2B5EF4-FFF2-40B4-BE49-F238E27FC236}">
                <a16:creationId xmlns:a16="http://schemas.microsoft.com/office/drawing/2014/main" id="{EF6E573C-1B91-EE66-B092-7F151E28F25D}"/>
              </a:ext>
            </a:extLst>
          </p:cNvPr>
          <p:cNvSpPr/>
          <p:nvPr/>
        </p:nvSpPr>
        <p:spPr bwMode="auto">
          <a:xfrm>
            <a:off x="2868489" y="1967950"/>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系统内核</a:t>
            </a:r>
            <a:r>
              <a:rPr lang="en-US" dirty="0"/>
              <a:t>(Nanos)</a:t>
            </a:r>
            <a:endParaRPr dirty="0"/>
          </a:p>
        </p:txBody>
      </p:sp>
      <p:sp>
        <p:nvSpPr>
          <p:cNvPr id="1567425429" name="裸机程序">
            <a:extLst>
              <a:ext uri="{FF2B5EF4-FFF2-40B4-BE49-F238E27FC236}">
                <a16:creationId xmlns:a16="http://schemas.microsoft.com/office/drawing/2014/main" id="{8CE0D92D-58AF-A86D-9FD4-81D946281870}"/>
              </a:ext>
            </a:extLst>
          </p:cNvPr>
          <p:cNvSpPr/>
          <p:nvPr/>
        </p:nvSpPr>
        <p:spPr bwMode="auto">
          <a:xfrm>
            <a:off x="1201735" y="1967949"/>
            <a:ext cx="1666755" cy="418386"/>
          </a:xfrm>
          <a:prstGeom prst="rect">
            <a:avLst/>
          </a:prstGeom>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AM程序</a:t>
            </a:r>
            <a:endParaRPr dirty="0"/>
          </a:p>
        </p:txBody>
      </p:sp>
      <p:sp>
        <p:nvSpPr>
          <p:cNvPr id="534821804" name="硬件抽象">
            <a:extLst>
              <a:ext uri="{FF2B5EF4-FFF2-40B4-BE49-F238E27FC236}">
                <a16:creationId xmlns:a16="http://schemas.microsoft.com/office/drawing/2014/main" id="{3D01E5BC-CC3D-F140-73D7-3E17BEBDA9E2}"/>
              </a:ext>
            </a:extLst>
          </p:cNvPr>
          <p:cNvSpPr/>
          <p:nvPr/>
        </p:nvSpPr>
        <p:spPr bwMode="auto">
          <a:xfrm>
            <a:off x="1201735" y="2386337"/>
            <a:ext cx="5296610"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硬件抽象层</a:t>
            </a:r>
            <a:r>
              <a:rPr lang="en-US" dirty="0"/>
              <a:t>(AM)</a:t>
            </a:r>
            <a:endParaRPr dirty="0"/>
          </a:p>
        </p:txBody>
      </p:sp>
      <p:sp>
        <p:nvSpPr>
          <p:cNvPr id="40666242" name="NEMU虚拟机">
            <a:extLst>
              <a:ext uri="{FF2B5EF4-FFF2-40B4-BE49-F238E27FC236}">
                <a16:creationId xmlns:a16="http://schemas.microsoft.com/office/drawing/2014/main" id="{39FE4E32-AEA5-637C-9186-16BDA383E995}"/>
              </a:ext>
            </a:extLst>
          </p:cNvPr>
          <p:cNvSpPr/>
          <p:nvPr/>
        </p:nvSpPr>
        <p:spPr bwMode="auto">
          <a:xfrm>
            <a:off x="1092876" y="4021566"/>
            <a:ext cx="2675590"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虚拟机(NEMU)</a:t>
            </a:r>
            <a:endParaRPr/>
          </a:p>
        </p:txBody>
      </p:sp>
      <p:sp>
        <p:nvSpPr>
          <p:cNvPr id="743261972" name="NPC">
            <a:extLst>
              <a:ext uri="{FF2B5EF4-FFF2-40B4-BE49-F238E27FC236}">
                <a16:creationId xmlns:a16="http://schemas.microsoft.com/office/drawing/2014/main" id="{867B190B-4CBE-E200-CD08-680F0A9FA75D}"/>
              </a:ext>
            </a:extLst>
          </p:cNvPr>
          <p:cNvSpPr/>
          <p:nvPr/>
        </p:nvSpPr>
        <p:spPr bwMode="auto">
          <a:xfrm>
            <a:off x="4062470" y="4021566"/>
            <a:ext cx="2621018"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NPC</a:t>
            </a:r>
            <a:endParaRPr/>
          </a:p>
        </p:txBody>
      </p:sp>
      <p:sp>
        <p:nvSpPr>
          <p:cNvPr id="1311028271" name="矩形 1311028270">
            <a:extLst>
              <a:ext uri="{FF2B5EF4-FFF2-40B4-BE49-F238E27FC236}">
                <a16:creationId xmlns:a16="http://schemas.microsoft.com/office/drawing/2014/main" id="{2344B702-85B2-0462-8A3B-761FB38834C8}"/>
              </a:ext>
            </a:extLst>
          </p:cNvPr>
          <p:cNvSpPr/>
          <p:nvPr/>
        </p:nvSpPr>
        <p:spPr bwMode="auto">
          <a:xfrm>
            <a:off x="3768466" y="2838398"/>
            <a:ext cx="414984" cy="957309"/>
          </a:xfrm>
          <a:prstGeom prst="rect">
            <a:avLst/>
          </a:prstGeom>
          <a:solidFill>
            <a:schemeClr val="bg2"/>
          </a:solidFill>
          <a:ln w="12700" cap="flat" cmpd="sng" algn="ctr">
            <a:solidFill>
              <a:schemeClr val="accent1">
                <a:shade val="50000"/>
                <a:alpha val="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600">
                <a:solidFill>
                  <a:schemeClr val="tx1"/>
                </a:solidFill>
              </a:rPr>
              <a:t>两种实现</a:t>
            </a:r>
            <a:endParaRPr>
              <a:solidFill>
                <a:schemeClr val="tx1"/>
              </a:solidFill>
            </a:endParaRPr>
          </a:p>
        </p:txBody>
      </p:sp>
      <p:sp>
        <p:nvSpPr>
          <p:cNvPr id="2328251" name="箭头: 下 2328250">
            <a:extLst>
              <a:ext uri="{FF2B5EF4-FFF2-40B4-BE49-F238E27FC236}">
                <a16:creationId xmlns:a16="http://schemas.microsoft.com/office/drawing/2014/main" id="{ACD9D9B3-470C-B3A6-3DDF-B3EB196D00D6}"/>
              </a:ext>
            </a:extLst>
          </p:cNvPr>
          <p:cNvSpPr/>
          <p:nvPr/>
        </p:nvSpPr>
        <p:spPr bwMode="auto">
          <a:xfrm>
            <a:off x="2378758" y="2804724"/>
            <a:ext cx="644620" cy="990983"/>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200"/>
              <a:t>软件实现</a:t>
            </a:r>
          </a:p>
        </p:txBody>
      </p:sp>
      <p:sp>
        <p:nvSpPr>
          <p:cNvPr id="1699098867" name="箭头: 下 1699098866">
            <a:extLst>
              <a:ext uri="{FF2B5EF4-FFF2-40B4-BE49-F238E27FC236}">
                <a16:creationId xmlns:a16="http://schemas.microsoft.com/office/drawing/2014/main" id="{5DCB06A1-E121-32F2-5AF8-75C651C9D2B6}"/>
              </a:ext>
            </a:extLst>
          </p:cNvPr>
          <p:cNvSpPr/>
          <p:nvPr/>
        </p:nvSpPr>
        <p:spPr bwMode="auto">
          <a:xfrm>
            <a:off x="4728358" y="2816364"/>
            <a:ext cx="644620" cy="1029468"/>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a:t>RTL实现</a:t>
            </a:r>
            <a:endParaRPr sz="1200"/>
          </a:p>
        </p:txBody>
      </p:sp>
      <p:sp>
        <p:nvSpPr>
          <p:cNvPr id="16112946" name="电路综合">
            <a:extLst>
              <a:ext uri="{FF2B5EF4-FFF2-40B4-BE49-F238E27FC236}">
                <a16:creationId xmlns:a16="http://schemas.microsoft.com/office/drawing/2014/main" id="{CF18A89C-78B9-9940-6A77-5D2FBC08FFC8}"/>
              </a:ext>
            </a:extLst>
          </p:cNvPr>
          <p:cNvSpPr/>
          <p:nvPr/>
        </p:nvSpPr>
        <p:spPr bwMode="auto">
          <a:xfrm>
            <a:off x="4062470" y="4817104"/>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电路综合(Yosys)</a:t>
            </a:r>
            <a:endParaRPr/>
          </a:p>
        </p:txBody>
      </p:sp>
      <p:sp>
        <p:nvSpPr>
          <p:cNvPr id="813212810" name="布局布线">
            <a:extLst>
              <a:ext uri="{FF2B5EF4-FFF2-40B4-BE49-F238E27FC236}">
                <a16:creationId xmlns:a16="http://schemas.microsoft.com/office/drawing/2014/main" id="{0365A953-2050-82E5-A7BC-B51389B6FFD8}"/>
              </a:ext>
            </a:extLst>
          </p:cNvPr>
          <p:cNvSpPr/>
          <p:nvPr/>
        </p:nvSpPr>
        <p:spPr bwMode="auto">
          <a:xfrm>
            <a:off x="4062470" y="5218648"/>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布局布线(iEDA)</a:t>
            </a:r>
            <a:endParaRPr/>
          </a:p>
        </p:txBody>
      </p:sp>
      <p:sp>
        <p:nvSpPr>
          <p:cNvPr id="1835667885" name="嵌合分析">
            <a:extLst>
              <a:ext uri="{FF2B5EF4-FFF2-40B4-BE49-F238E27FC236}">
                <a16:creationId xmlns:a16="http://schemas.microsoft.com/office/drawing/2014/main" id="{D8F47B35-E75F-B533-19F8-0442AF32661B}"/>
              </a:ext>
            </a:extLst>
          </p:cNvPr>
          <p:cNvSpPr/>
          <p:nvPr/>
        </p:nvSpPr>
        <p:spPr bwMode="auto">
          <a:xfrm>
            <a:off x="4062470" y="5637036"/>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签核</a:t>
            </a:r>
            <a:r>
              <a:rPr lang="en-US"/>
              <a:t>分析</a:t>
            </a:r>
            <a:endParaRPr/>
          </a:p>
        </p:txBody>
      </p:sp>
      <p:sp>
        <p:nvSpPr>
          <p:cNvPr id="127215868" name="流片制造">
            <a:extLst>
              <a:ext uri="{FF2B5EF4-FFF2-40B4-BE49-F238E27FC236}">
                <a16:creationId xmlns:a16="http://schemas.microsoft.com/office/drawing/2014/main" id="{879145D7-2EC4-144F-6DD9-359FD47F1606}"/>
              </a:ext>
            </a:extLst>
          </p:cNvPr>
          <p:cNvSpPr/>
          <p:nvPr/>
        </p:nvSpPr>
        <p:spPr bwMode="auto">
          <a:xfrm>
            <a:off x="4062470" y="6055425"/>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流片制造</a:t>
            </a:r>
          </a:p>
        </p:txBody>
      </p:sp>
      <p:sp>
        <p:nvSpPr>
          <p:cNvPr id="328657211" name="文本框 NavyLib" hidden="1">
            <a:extLst>
              <a:ext uri="{FF2B5EF4-FFF2-40B4-BE49-F238E27FC236}">
                <a16:creationId xmlns:a16="http://schemas.microsoft.com/office/drawing/2014/main" id="{B08BA035-1585-58E2-9A85-6FE1AAEB879C}"/>
              </a:ext>
            </a:extLst>
          </p:cNvPr>
          <p:cNvSpPr txBox="1"/>
          <p:nvPr/>
        </p:nvSpPr>
        <p:spPr bwMode="auto">
          <a:xfrm>
            <a:off x="7524362" y="3520663"/>
            <a:ext cx="3927777" cy="211637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dirty="0" err="1"/>
              <a:t>基于Nanos内核的程序库环境支持</a:t>
            </a:r>
            <a:r>
              <a:rPr lang="en-US" dirty="0"/>
              <a:t>/</a:t>
            </a:r>
            <a:r>
              <a:rPr lang="en-US" dirty="0" err="1"/>
              <a:t>适配，可编写</a:t>
            </a:r>
            <a:r>
              <a:rPr lang="en-US" dirty="0"/>
              <a:t>/</a:t>
            </a:r>
            <a:r>
              <a:rPr lang="en-US" dirty="0" err="1"/>
              <a:t>移植更强大丰富的应用程序</a:t>
            </a:r>
            <a:r>
              <a:rPr lang="en-US" dirty="0"/>
              <a:t>。</a:t>
            </a:r>
          </a:p>
          <a:p>
            <a:pPr marL="283878" indent="-283878">
              <a:buAutoNum type="arabicPeriod"/>
              <a:defRPr/>
            </a:pPr>
            <a:r>
              <a:rPr lang="en-US" dirty="0" err="1"/>
              <a:t>Nanos系统调用库</a:t>
            </a:r>
            <a:endParaRPr lang="en-US" dirty="0"/>
          </a:p>
          <a:p>
            <a:pPr>
              <a:defRPr/>
            </a:pPr>
            <a:r>
              <a:rPr lang="en-US" sz="1800" b="0" i="0" u="none" strike="noStrike" cap="none" spc="0" dirty="0">
                <a:solidFill>
                  <a:schemeClr val="tx1"/>
                </a:solidFill>
                <a:latin typeface="Arial"/>
                <a:ea typeface="微软雅黑"/>
                <a:cs typeface="Arial"/>
              </a:rPr>
              <a:t>2. </a:t>
            </a:r>
            <a:r>
              <a:rPr lang="en-US" sz="1800" b="0" i="0" u="none" strike="noStrike" cap="none" spc="0" dirty="0" err="1">
                <a:solidFill>
                  <a:schemeClr val="tx1"/>
                </a:solidFill>
                <a:latin typeface="Arial"/>
                <a:ea typeface="微软雅黑"/>
                <a:cs typeface="Arial"/>
              </a:rPr>
              <a:t>运行环境库</a:t>
            </a:r>
            <a:endParaRPr lang="en-US" dirty="0"/>
          </a:p>
          <a:p>
            <a:pPr>
              <a:defRPr/>
            </a:pPr>
            <a:r>
              <a:rPr lang="en-US" sz="1800" b="0" i="0" u="none" strike="noStrike" cap="none" spc="0" dirty="0">
                <a:solidFill>
                  <a:schemeClr val="tx1"/>
                </a:solidFill>
                <a:latin typeface="Arial"/>
                <a:ea typeface="微软雅黑"/>
                <a:cs typeface="Arial"/>
              </a:rPr>
              <a:t>3. </a:t>
            </a:r>
            <a:r>
              <a:rPr lang="en-US" sz="1800" b="0" i="0" u="none" strike="noStrike" cap="none" spc="0" dirty="0" err="1">
                <a:solidFill>
                  <a:schemeClr val="tx1"/>
                </a:solidFill>
                <a:latin typeface="Arial"/>
                <a:ea typeface="微软雅黑"/>
                <a:cs typeface="Arial"/>
              </a:rPr>
              <a:t>媒体硬件库</a:t>
            </a:r>
            <a:r>
              <a:rPr lang="en-US" dirty="0"/>
              <a:t>/</a:t>
            </a:r>
            <a:r>
              <a:rPr lang="en-US" dirty="0" err="1"/>
              <a:t>资源解析库</a:t>
            </a:r>
            <a:endParaRPr sz="1800" dirty="0"/>
          </a:p>
          <a:p>
            <a:pPr>
              <a:defRPr/>
            </a:pPr>
            <a:r>
              <a:rPr lang="en-US" dirty="0"/>
              <a:t>4. </a:t>
            </a:r>
            <a:r>
              <a:rPr lang="en-US" dirty="0" err="1"/>
              <a:t>应用镜像文件打包</a:t>
            </a:r>
            <a:endParaRPr lang="en-US" dirty="0"/>
          </a:p>
        </p:txBody>
      </p:sp>
      <p:sp>
        <p:nvSpPr>
          <p:cNvPr id="2" name="文本框 1">
            <a:extLst>
              <a:ext uri="{FF2B5EF4-FFF2-40B4-BE49-F238E27FC236}">
                <a16:creationId xmlns:a16="http://schemas.microsoft.com/office/drawing/2014/main" id="{C2436BA4-BFDE-35CB-157C-70BF81F5F943}"/>
              </a:ext>
            </a:extLst>
          </p:cNvPr>
          <p:cNvSpPr txBox="1"/>
          <p:nvPr/>
        </p:nvSpPr>
        <p:spPr bwMode="auto">
          <a:xfrm>
            <a:off x="7468637" y="1469090"/>
            <a:ext cx="4401418" cy="286482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dirty="0" err="1"/>
              <a:t>基于Nanos内核的</a:t>
            </a:r>
            <a:r>
              <a:rPr lang="zh-CN" altLang="en-US" dirty="0"/>
              <a:t>用户</a:t>
            </a:r>
            <a:r>
              <a:rPr lang="en-US" dirty="0" err="1"/>
              <a:t>程序库环境支持</a:t>
            </a:r>
            <a:r>
              <a:rPr lang="en-US" dirty="0"/>
              <a:t>/</a:t>
            </a:r>
            <a:r>
              <a:rPr lang="en-US" dirty="0" err="1"/>
              <a:t>适配</a:t>
            </a:r>
            <a:r>
              <a:rPr lang="en-US" dirty="0"/>
              <a:t>，</a:t>
            </a:r>
            <a:r>
              <a:rPr lang="zh-CN" altLang="en-US" dirty="0"/>
              <a:t>完备的系统库</a:t>
            </a:r>
            <a:r>
              <a:rPr lang="en-US" dirty="0" err="1"/>
              <a:t>可编写</a:t>
            </a:r>
            <a:r>
              <a:rPr lang="en-US" dirty="0"/>
              <a:t>/</a:t>
            </a:r>
            <a:r>
              <a:rPr lang="en-US" dirty="0" err="1"/>
              <a:t>移植更强大丰富的应用程序</a:t>
            </a:r>
            <a:r>
              <a:rPr lang="en-US" dirty="0"/>
              <a:t>。</a:t>
            </a:r>
          </a:p>
          <a:p>
            <a:pPr marL="283878" indent="-283878">
              <a:buAutoNum type="arabicPeriod"/>
              <a:defRPr/>
            </a:pPr>
            <a:r>
              <a:rPr lang="en-US" altLang="zh-CN" dirty="0"/>
              <a:t>Nanos</a:t>
            </a:r>
            <a:r>
              <a:rPr lang="zh-CN" altLang="en-US" dirty="0"/>
              <a:t>系统调用库</a:t>
            </a:r>
          </a:p>
          <a:p>
            <a:pPr marL="283878" indent="-283878">
              <a:buAutoNum type="arabicPeriod"/>
              <a:defRPr/>
            </a:pPr>
            <a:r>
              <a:rPr lang="zh-CN" altLang="en-US" sz="1800" b="0" i="0" u="none" strike="noStrike" cap="none" spc="0" dirty="0">
                <a:solidFill>
                  <a:schemeClr val="tx1"/>
                </a:solidFill>
                <a:latin typeface="Arial"/>
                <a:ea typeface="微软雅黑"/>
                <a:cs typeface="Arial"/>
              </a:rPr>
              <a:t>运行时环境库</a:t>
            </a:r>
            <a:endParaRPr lang="zh-CN" altLang="en-US" dirty="0"/>
          </a:p>
          <a:p>
            <a:pPr>
              <a:defRPr/>
            </a:pPr>
            <a:r>
              <a:rPr lang="en-US" altLang="zh-CN" sz="1800" b="0" i="0" u="none" strike="noStrike" cap="none" spc="0" dirty="0">
                <a:solidFill>
                  <a:schemeClr val="tx1"/>
                </a:solidFill>
                <a:latin typeface="Arial"/>
                <a:ea typeface="微软雅黑"/>
                <a:cs typeface="Arial"/>
              </a:rPr>
              <a:t>3. </a:t>
            </a:r>
            <a:r>
              <a:rPr lang="zh-CN" altLang="en-US" sz="1800" b="0" i="0" u="none" strike="noStrike" cap="none" spc="0" dirty="0">
                <a:solidFill>
                  <a:schemeClr val="tx1"/>
                </a:solidFill>
                <a:latin typeface="Arial"/>
                <a:ea typeface="微软雅黑"/>
                <a:cs typeface="Arial"/>
              </a:rPr>
              <a:t>媒体硬件库</a:t>
            </a:r>
            <a:r>
              <a:rPr lang="en-US" altLang="zh-CN" dirty="0"/>
              <a:t>/</a:t>
            </a:r>
            <a:r>
              <a:rPr lang="zh-CN" altLang="en-US" dirty="0"/>
              <a:t>资源解析库</a:t>
            </a:r>
            <a:r>
              <a:rPr lang="en-US" altLang="zh-CN" dirty="0"/>
              <a:t>/</a:t>
            </a:r>
            <a:r>
              <a:rPr lang="zh-CN" altLang="en-US" dirty="0"/>
              <a:t>数学计算库</a:t>
            </a:r>
            <a:r>
              <a:rPr lang="en-US" altLang="zh-CN" dirty="0"/>
              <a:t>…</a:t>
            </a:r>
            <a:endParaRPr lang="zh-CN" altLang="en-US" sz="1800" dirty="0"/>
          </a:p>
          <a:p>
            <a:pPr>
              <a:defRPr/>
            </a:pPr>
            <a:r>
              <a:rPr lang="en-US" altLang="zh-CN" dirty="0"/>
              <a:t>4. </a:t>
            </a:r>
            <a:r>
              <a:rPr lang="zh-CN" altLang="en-US" dirty="0"/>
              <a:t>系统镜像文件打包更新</a:t>
            </a:r>
          </a:p>
        </p:txBody>
      </p:sp>
      <p:sp>
        <p:nvSpPr>
          <p:cNvPr id="3" name="矩形 2">
            <a:extLst>
              <a:ext uri="{FF2B5EF4-FFF2-40B4-BE49-F238E27FC236}">
                <a16:creationId xmlns:a16="http://schemas.microsoft.com/office/drawing/2014/main" id="{EB214D57-4F0F-DB6E-33C6-EC48E8383F67}"/>
              </a:ext>
            </a:extLst>
          </p:cNvPr>
          <p:cNvSpPr/>
          <p:nvPr/>
        </p:nvSpPr>
        <p:spPr>
          <a:xfrm>
            <a:off x="1040265" y="5115660"/>
            <a:ext cx="270456" cy="248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EF2CB769-E398-C904-8C3E-596CC283B6FF}"/>
              </a:ext>
            </a:extLst>
          </p:cNvPr>
          <p:cNvSpPr txBox="1"/>
          <p:nvPr/>
        </p:nvSpPr>
        <p:spPr>
          <a:xfrm>
            <a:off x="1547495" y="5050824"/>
            <a:ext cx="940157" cy="369332"/>
          </a:xfrm>
          <a:prstGeom prst="rect">
            <a:avLst/>
          </a:prstGeom>
          <a:noFill/>
        </p:spPr>
        <p:txBody>
          <a:bodyPr wrap="square" rtlCol="0">
            <a:spAutoFit/>
          </a:bodyPr>
          <a:lstStyle/>
          <a:p>
            <a:r>
              <a:rPr lang="zh-CN" altLang="en-US" dirty="0"/>
              <a:t>软件层</a:t>
            </a:r>
          </a:p>
        </p:txBody>
      </p:sp>
      <p:sp>
        <p:nvSpPr>
          <p:cNvPr id="5" name="矩形 4">
            <a:extLst>
              <a:ext uri="{FF2B5EF4-FFF2-40B4-BE49-F238E27FC236}">
                <a16:creationId xmlns:a16="http://schemas.microsoft.com/office/drawing/2014/main" id="{99DA3A11-5F62-F637-BD6C-E296450D7860}"/>
              </a:ext>
            </a:extLst>
          </p:cNvPr>
          <p:cNvSpPr/>
          <p:nvPr/>
        </p:nvSpPr>
        <p:spPr>
          <a:xfrm>
            <a:off x="1046284" y="5508222"/>
            <a:ext cx="270456" cy="2489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00"/>
              </a:solidFill>
            </a:endParaRPr>
          </a:p>
        </p:txBody>
      </p:sp>
      <p:sp>
        <p:nvSpPr>
          <p:cNvPr id="6" name="文本框 5">
            <a:extLst>
              <a:ext uri="{FF2B5EF4-FFF2-40B4-BE49-F238E27FC236}">
                <a16:creationId xmlns:a16="http://schemas.microsoft.com/office/drawing/2014/main" id="{EC680A1A-0013-5452-88AC-6C7E012241BE}"/>
              </a:ext>
            </a:extLst>
          </p:cNvPr>
          <p:cNvSpPr txBox="1"/>
          <p:nvPr/>
        </p:nvSpPr>
        <p:spPr>
          <a:xfrm>
            <a:off x="1553514" y="5443386"/>
            <a:ext cx="1423537" cy="369332"/>
          </a:xfrm>
          <a:prstGeom prst="rect">
            <a:avLst/>
          </a:prstGeom>
          <a:noFill/>
        </p:spPr>
        <p:txBody>
          <a:bodyPr wrap="square" rtlCol="0">
            <a:spAutoFit/>
          </a:bodyPr>
          <a:lstStyle/>
          <a:p>
            <a:r>
              <a:rPr lang="zh-CN" altLang="en-US" dirty="0"/>
              <a:t>硬件模拟层</a:t>
            </a:r>
          </a:p>
        </p:txBody>
      </p:sp>
      <p:sp>
        <p:nvSpPr>
          <p:cNvPr id="7" name="矩形 6">
            <a:extLst>
              <a:ext uri="{FF2B5EF4-FFF2-40B4-BE49-F238E27FC236}">
                <a16:creationId xmlns:a16="http://schemas.microsoft.com/office/drawing/2014/main" id="{15A54D27-3BF8-53EA-AA24-57D40C1715E6}"/>
              </a:ext>
            </a:extLst>
          </p:cNvPr>
          <p:cNvSpPr/>
          <p:nvPr/>
        </p:nvSpPr>
        <p:spPr>
          <a:xfrm>
            <a:off x="1046284" y="5889925"/>
            <a:ext cx="270456" cy="248991"/>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6D70BEC6-A18D-DCE9-6483-BCF97C41725B}"/>
              </a:ext>
            </a:extLst>
          </p:cNvPr>
          <p:cNvSpPr txBox="1"/>
          <p:nvPr/>
        </p:nvSpPr>
        <p:spPr>
          <a:xfrm>
            <a:off x="1553514" y="5825089"/>
            <a:ext cx="1423537" cy="369332"/>
          </a:xfrm>
          <a:prstGeom prst="rect">
            <a:avLst/>
          </a:prstGeom>
          <a:noFill/>
        </p:spPr>
        <p:txBody>
          <a:bodyPr wrap="square" rtlCol="0">
            <a:spAutoFit/>
          </a:bodyPr>
          <a:lstStyle/>
          <a:p>
            <a:r>
              <a:rPr lang="zh-CN" altLang="en-US" dirty="0"/>
              <a:t>硬件实现层</a:t>
            </a:r>
          </a:p>
        </p:txBody>
      </p:sp>
      <p:sp>
        <p:nvSpPr>
          <p:cNvPr id="9" name="箭头: 下 8">
            <a:extLst>
              <a:ext uri="{FF2B5EF4-FFF2-40B4-BE49-F238E27FC236}">
                <a16:creationId xmlns:a16="http://schemas.microsoft.com/office/drawing/2014/main" id="{77743E8F-4898-6707-9AAC-04896907AE0B}"/>
              </a:ext>
            </a:extLst>
          </p:cNvPr>
          <p:cNvSpPr/>
          <p:nvPr/>
        </p:nvSpPr>
        <p:spPr>
          <a:xfrm>
            <a:off x="4728358" y="4439496"/>
            <a:ext cx="767204" cy="352379"/>
          </a:xfrm>
          <a:prstGeom prst="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D7DE495F-A044-D5CC-D15D-1D4728710F2F}"/>
              </a:ext>
            </a:extLst>
          </p:cNvPr>
          <p:cNvSpPr txBox="1"/>
          <p:nvPr/>
        </p:nvSpPr>
        <p:spPr>
          <a:xfrm>
            <a:off x="5495562" y="4414267"/>
            <a:ext cx="1650381" cy="369332"/>
          </a:xfrm>
          <a:prstGeom prst="rect">
            <a:avLst/>
          </a:prstGeom>
          <a:noFill/>
        </p:spPr>
        <p:txBody>
          <a:bodyPr wrap="square" rtlCol="0">
            <a:spAutoFit/>
          </a:bodyPr>
          <a:lstStyle/>
          <a:p>
            <a:r>
              <a:rPr lang="zh-CN" altLang="en-US" dirty="0"/>
              <a:t>行为仿真通过</a:t>
            </a:r>
          </a:p>
        </p:txBody>
      </p:sp>
      <p:sp>
        <p:nvSpPr>
          <p:cNvPr id="11" name="矩形 10">
            <a:extLst>
              <a:ext uri="{FF2B5EF4-FFF2-40B4-BE49-F238E27FC236}">
                <a16:creationId xmlns:a16="http://schemas.microsoft.com/office/drawing/2014/main" id="{EF17EB45-418A-0685-0D38-394AC5918A62}"/>
              </a:ext>
            </a:extLst>
          </p:cNvPr>
          <p:cNvSpPr/>
          <p:nvPr/>
        </p:nvSpPr>
        <p:spPr>
          <a:xfrm>
            <a:off x="1040265" y="4687302"/>
            <a:ext cx="270456" cy="24899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521B957D-7744-48B1-B82A-AB913AFF81BA}"/>
              </a:ext>
            </a:extLst>
          </p:cNvPr>
          <p:cNvSpPr txBox="1"/>
          <p:nvPr/>
        </p:nvSpPr>
        <p:spPr>
          <a:xfrm>
            <a:off x="1547495" y="4622466"/>
            <a:ext cx="1124337" cy="369332"/>
          </a:xfrm>
          <a:prstGeom prst="rect">
            <a:avLst/>
          </a:prstGeom>
          <a:noFill/>
        </p:spPr>
        <p:txBody>
          <a:bodyPr wrap="square" rtlCol="0">
            <a:spAutoFit/>
          </a:bodyPr>
          <a:lstStyle/>
          <a:p>
            <a:r>
              <a:rPr lang="zh-CN" altLang="en-US" dirty="0"/>
              <a:t>当前演示</a:t>
            </a:r>
          </a:p>
        </p:txBody>
      </p:sp>
      <p:sp>
        <p:nvSpPr>
          <p:cNvPr id="16" name="powerpoint template design by DAJU_PPT正版来源小红书大橘PPT微信DAJU_PPT请勿抄袭搬运！盗版必究！">
            <a:extLst>
              <a:ext uri="{FF2B5EF4-FFF2-40B4-BE49-F238E27FC236}">
                <a16:creationId xmlns:a16="http://schemas.microsoft.com/office/drawing/2014/main" id="{B5172564-2B03-5CFF-3457-F0AB8633E5A0}"/>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17" name="powerpoint template design by DAJU_PPT正版来源小红书大橘PPT微信DAJU_PPT请勿抄袭搬运！盗版必究！">
            <a:extLst>
              <a:ext uri="{FF2B5EF4-FFF2-40B4-BE49-F238E27FC236}">
                <a16:creationId xmlns:a16="http://schemas.microsoft.com/office/drawing/2014/main" id="{189A8EF9-9C19-8EDA-7E23-8AC458255A3F}"/>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18" name="powerpoint template design by DAJU_PPT正版来源小红书大橘PPT微信DAJU_PPT请勿抄袭搬运！盗版必究！">
            <a:extLst>
              <a:ext uri="{FF2B5EF4-FFF2-40B4-BE49-F238E27FC236}">
                <a16:creationId xmlns:a16="http://schemas.microsoft.com/office/drawing/2014/main" id="{774A98FC-D540-2C4A-7558-0224F7D4F367}"/>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000" i="0" u="none" strike="noStrike" cap="none" spc="0" dirty="0">
                <a:ln>
                  <a:noFill/>
                </a:ln>
                <a:solidFill>
                  <a:schemeClr val="bg1">
                    <a:alpha val="70000"/>
                  </a:schemeClr>
                </a:solidFill>
                <a:cs typeface="+mn-ea"/>
              </a:rPr>
              <a:t>考核题目讲解</a:t>
            </a:r>
            <a:endParaRPr lang="en-US" sz="2000" i="0" u="none" strike="noStrike" cap="none" spc="0" dirty="0">
              <a:ln>
                <a:noFill/>
              </a:ln>
              <a:solidFill>
                <a:schemeClr val="bg1">
                  <a:alpha val="70000"/>
                </a:schemeClr>
              </a:solidFill>
              <a:cs typeface="+mn-ea"/>
            </a:endParaRPr>
          </a:p>
        </p:txBody>
      </p:sp>
      <p:cxnSp>
        <p:nvCxnSpPr>
          <p:cNvPr id="19" name="powerpoint template design by DAJU_PPT正版来源小红书大橘PPT微信DAJU_PPT请勿抄袭搬运！盗版必究！">
            <a:extLst>
              <a:ext uri="{FF2B5EF4-FFF2-40B4-BE49-F238E27FC236}">
                <a16:creationId xmlns:a16="http://schemas.microsoft.com/office/drawing/2014/main" id="{1A6E1697-7C98-F6B5-9682-C180635DC6FA}"/>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powerpoint template design by DAJU_PPT正版来源小红书大橘PPT微信DAJU_PPT请勿抄袭搬运！盗版必究！">
            <a:extLst>
              <a:ext uri="{FF2B5EF4-FFF2-40B4-BE49-F238E27FC236}">
                <a16:creationId xmlns:a16="http://schemas.microsoft.com/office/drawing/2014/main" id="{147B7076-A3CA-82CB-B3DE-0FFDA9C6FB7E}"/>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powerpoint template design by DAJU_PPT正版来源小红书大橘PPT微信DAJU_PPT请勿抄袭搬运！盗版必究！">
            <a:extLst>
              <a:ext uri="{FF2B5EF4-FFF2-40B4-BE49-F238E27FC236}">
                <a16:creationId xmlns:a16="http://schemas.microsoft.com/office/drawing/2014/main" id="{84AA6FA3-4897-DDBF-498A-0B194B783CFD}"/>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22" name="图片 3">
            <a:extLst>
              <a:ext uri="{FF2B5EF4-FFF2-40B4-BE49-F238E27FC236}">
                <a16:creationId xmlns:a16="http://schemas.microsoft.com/office/drawing/2014/main" id="{77FBDC27-8E33-E11A-9386-4739D40F8015}"/>
              </a:ext>
            </a:extLst>
          </p:cNvPr>
          <p:cNvPicPr>
            <a:picLocks noChangeAspect="1"/>
          </p:cNvPicPr>
          <p:nvPr/>
        </p:nvPicPr>
        <p:blipFill rotWithShape="1">
          <a:blip r:embed="rId3"/>
          <a:stretch/>
        </p:blipFill>
        <p:spPr bwMode="auto">
          <a:xfrm>
            <a:off x="0" y="0"/>
            <a:ext cx="778510" cy="720090"/>
          </a:xfrm>
          <a:prstGeom prst="rect">
            <a:avLst/>
          </a:prstGeom>
        </p:spPr>
      </p:pic>
      <p:sp>
        <p:nvSpPr>
          <p:cNvPr id="23" name="powerpoint template design by DAJU_PPT正版来源小红书大橘PPT微信DAJU_PPT请勿抄袭搬运！盗版必究！">
            <a:extLst>
              <a:ext uri="{FF2B5EF4-FFF2-40B4-BE49-F238E27FC236}">
                <a16:creationId xmlns:a16="http://schemas.microsoft.com/office/drawing/2014/main" id="{ACA06C69-D4C9-832F-8C9D-2294C97F0D93}"/>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24" name="powerpoint template design by DAJU_PPT正版来源小红书大橘PPT微信DAJU_PPT请勿抄袭搬运！盗版必究！">
            <a:extLst>
              <a:ext uri="{FF2B5EF4-FFF2-40B4-BE49-F238E27FC236}">
                <a16:creationId xmlns:a16="http://schemas.microsoft.com/office/drawing/2014/main" id="{85687594-EAAA-DC68-E2AA-EAE75F450AA7}"/>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dirty="0" err="1">
                <a:solidFill>
                  <a:schemeClr val="bg1">
                    <a:alpha val="70000"/>
                  </a:schemeClr>
                </a:solidFill>
                <a:cs typeface="+mn-ea"/>
              </a:rPr>
              <a:t>Makefile</a:t>
            </a:r>
            <a:r>
              <a:rPr lang="zh-CN" altLang="en-US" sz="2000" dirty="0">
                <a:solidFill>
                  <a:schemeClr val="bg1">
                    <a:alpha val="70000"/>
                  </a:schemeClr>
                </a:solidFill>
                <a:cs typeface="+mn-ea"/>
              </a:rPr>
              <a:t>调用链</a:t>
            </a:r>
            <a:endParaRPr lang="en-US" sz="2000" i="0" u="none" strike="noStrike" cap="none" spc="0" dirty="0">
              <a:ln>
                <a:noFill/>
              </a:ln>
              <a:solidFill>
                <a:schemeClr val="bg1">
                  <a:alpha val="70000"/>
                </a:schemeClr>
              </a:solidFill>
              <a:cs typeface="+mn-ea"/>
            </a:endParaRPr>
          </a:p>
        </p:txBody>
      </p:sp>
      <p:sp>
        <p:nvSpPr>
          <p:cNvPr id="25" name="powerpoint template design by DAJU_PPT正版来源小红书大橘PPT微信DAJU_PPT请勿抄袭搬运！盗版必究！">
            <a:extLst>
              <a:ext uri="{FF2B5EF4-FFF2-40B4-BE49-F238E27FC236}">
                <a16:creationId xmlns:a16="http://schemas.microsoft.com/office/drawing/2014/main" id="{DEEFA4A4-B490-9DED-4B98-E88DC314BC06}"/>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800" b="1" i="0" u="none" strike="noStrike" cap="none" spc="0" dirty="0">
                <a:ln>
                  <a:noFill/>
                </a:ln>
                <a:solidFill>
                  <a:srgbClr val="00B050">
                    <a:alpha val="70000"/>
                  </a:srgbClr>
                </a:solidFill>
                <a:cs typeface="+mn-ea"/>
              </a:rPr>
              <a:t>架构</a:t>
            </a:r>
            <a:r>
              <a:rPr lang="zh-CN" sz="2800" b="1" i="0" u="none" strike="noStrike" cap="none" spc="0" dirty="0">
                <a:ln>
                  <a:noFill/>
                </a:ln>
                <a:solidFill>
                  <a:srgbClr val="00B050">
                    <a:alpha val="70000"/>
                  </a:srgbClr>
                </a:solidFill>
                <a:cs typeface="+mn-ea"/>
              </a:rPr>
              <a:t>讲解</a:t>
            </a:r>
            <a:endParaRPr lang="en-US" sz="2800" b="1" i="0" u="none" strike="noStrike" cap="none" spc="0" dirty="0">
              <a:ln>
                <a:noFill/>
              </a:ln>
              <a:solidFill>
                <a:srgbClr val="00B050">
                  <a:alpha val="70000"/>
                </a:srgbClr>
              </a:solidFill>
              <a:cs typeface="+mn-ea"/>
            </a:endParaRPr>
          </a:p>
        </p:txBody>
      </p:sp>
      <p:cxnSp>
        <p:nvCxnSpPr>
          <p:cNvPr id="26" name="直接连接符 25">
            <a:extLst>
              <a:ext uri="{FF2B5EF4-FFF2-40B4-BE49-F238E27FC236}">
                <a16:creationId xmlns:a16="http://schemas.microsoft.com/office/drawing/2014/main" id="{D81B720D-60FE-9E48-F803-E3EB3E187521}"/>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26C700BC-52A4-071D-295D-9BB5D27EC953}"/>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15043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0D25EBC-FD91-E309-4CFE-CDCE96E3970B}"/>
            </a:ext>
          </a:extLst>
        </p:cNvPr>
        <p:cNvGrpSpPr/>
        <p:nvPr/>
      </p:nvGrpSpPr>
      <p:grpSpPr bwMode="auto">
        <a:xfrm>
          <a:off x="0" y="0"/>
          <a:ext cx="0" cy="0"/>
          <a:chOff x="0" y="0"/>
          <a:chExt cx="0" cy="0"/>
        </a:xfrm>
      </p:grpSpPr>
      <p:sp>
        <p:nvSpPr>
          <p:cNvPr id="600543380" name="应用程序">
            <a:extLst>
              <a:ext uri="{FF2B5EF4-FFF2-40B4-BE49-F238E27FC236}">
                <a16:creationId xmlns:a16="http://schemas.microsoft.com/office/drawing/2014/main" id="{047F5387-D070-DF50-178B-1576459D04BA}"/>
              </a:ext>
            </a:extLst>
          </p:cNvPr>
          <p:cNvSpPr/>
          <p:nvPr/>
        </p:nvSpPr>
        <p:spPr bwMode="auto">
          <a:xfrm>
            <a:off x="2874117" y="1145183"/>
            <a:ext cx="3629855" cy="41838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应用程序</a:t>
            </a:r>
            <a:r>
              <a:rPr lang="en-US" dirty="0"/>
              <a:t>(Navy apps)</a:t>
            </a:r>
            <a:endParaRPr dirty="0"/>
          </a:p>
        </p:txBody>
      </p:sp>
      <p:sp>
        <p:nvSpPr>
          <p:cNvPr id="806812025" name="系统库框架">
            <a:extLst>
              <a:ext uri="{FF2B5EF4-FFF2-40B4-BE49-F238E27FC236}">
                <a16:creationId xmlns:a16="http://schemas.microsoft.com/office/drawing/2014/main" id="{A2B7BC21-55BB-15B2-54D9-643ED2B72C3A}"/>
              </a:ext>
            </a:extLst>
          </p:cNvPr>
          <p:cNvSpPr/>
          <p:nvPr/>
        </p:nvSpPr>
        <p:spPr bwMode="auto">
          <a:xfrm>
            <a:off x="2868489" y="1549562"/>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系统库框架层</a:t>
            </a:r>
            <a:r>
              <a:rPr lang="en-US" dirty="0"/>
              <a:t>(Navy libs)</a:t>
            </a:r>
            <a:endParaRPr dirty="0"/>
          </a:p>
        </p:txBody>
      </p:sp>
      <p:sp>
        <p:nvSpPr>
          <p:cNvPr id="971999399" name="系统内核">
            <a:extLst>
              <a:ext uri="{FF2B5EF4-FFF2-40B4-BE49-F238E27FC236}">
                <a16:creationId xmlns:a16="http://schemas.microsoft.com/office/drawing/2014/main" id="{11FE43DC-AA29-DB75-7F3E-5506EA36BDCC}"/>
              </a:ext>
            </a:extLst>
          </p:cNvPr>
          <p:cNvSpPr/>
          <p:nvPr/>
        </p:nvSpPr>
        <p:spPr bwMode="auto">
          <a:xfrm>
            <a:off x="2868489" y="1967950"/>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系统内核</a:t>
            </a:r>
            <a:r>
              <a:rPr lang="en-US" dirty="0"/>
              <a:t>(Nanos)</a:t>
            </a:r>
            <a:endParaRPr dirty="0"/>
          </a:p>
        </p:txBody>
      </p:sp>
      <p:sp>
        <p:nvSpPr>
          <p:cNvPr id="1567425429" name="裸机程序">
            <a:extLst>
              <a:ext uri="{FF2B5EF4-FFF2-40B4-BE49-F238E27FC236}">
                <a16:creationId xmlns:a16="http://schemas.microsoft.com/office/drawing/2014/main" id="{E97254D9-D8D6-04EB-4DF8-0FA04C6DDAA5}"/>
              </a:ext>
            </a:extLst>
          </p:cNvPr>
          <p:cNvSpPr/>
          <p:nvPr/>
        </p:nvSpPr>
        <p:spPr bwMode="auto">
          <a:xfrm>
            <a:off x="1201735" y="1967949"/>
            <a:ext cx="1666755" cy="418386"/>
          </a:xfrm>
          <a:prstGeom prst="rect">
            <a:avLst/>
          </a:prstGeom>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AM程序</a:t>
            </a:r>
            <a:endParaRPr dirty="0"/>
          </a:p>
        </p:txBody>
      </p:sp>
      <p:sp>
        <p:nvSpPr>
          <p:cNvPr id="534821804" name="硬件抽象">
            <a:extLst>
              <a:ext uri="{FF2B5EF4-FFF2-40B4-BE49-F238E27FC236}">
                <a16:creationId xmlns:a16="http://schemas.microsoft.com/office/drawing/2014/main" id="{0A6713C6-33B7-7156-F1CE-C21E568643A4}"/>
              </a:ext>
            </a:extLst>
          </p:cNvPr>
          <p:cNvSpPr/>
          <p:nvPr/>
        </p:nvSpPr>
        <p:spPr bwMode="auto">
          <a:xfrm>
            <a:off x="1201735" y="2386337"/>
            <a:ext cx="5296610"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硬件抽象层</a:t>
            </a:r>
            <a:r>
              <a:rPr lang="en-US" dirty="0"/>
              <a:t>(AM)</a:t>
            </a:r>
            <a:endParaRPr dirty="0"/>
          </a:p>
        </p:txBody>
      </p:sp>
      <p:sp>
        <p:nvSpPr>
          <p:cNvPr id="40666242" name="NEMU虚拟机">
            <a:extLst>
              <a:ext uri="{FF2B5EF4-FFF2-40B4-BE49-F238E27FC236}">
                <a16:creationId xmlns:a16="http://schemas.microsoft.com/office/drawing/2014/main" id="{58D788BF-64AE-AC0A-8877-540006FFE60A}"/>
              </a:ext>
            </a:extLst>
          </p:cNvPr>
          <p:cNvSpPr/>
          <p:nvPr/>
        </p:nvSpPr>
        <p:spPr bwMode="auto">
          <a:xfrm>
            <a:off x="1092876" y="4021566"/>
            <a:ext cx="2675590"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虚拟机(NEMU)</a:t>
            </a:r>
            <a:endParaRPr/>
          </a:p>
        </p:txBody>
      </p:sp>
      <p:sp>
        <p:nvSpPr>
          <p:cNvPr id="743261972" name="NPC">
            <a:extLst>
              <a:ext uri="{FF2B5EF4-FFF2-40B4-BE49-F238E27FC236}">
                <a16:creationId xmlns:a16="http://schemas.microsoft.com/office/drawing/2014/main" id="{DA053F4E-C7AA-A374-C174-FD02DE7F173A}"/>
              </a:ext>
            </a:extLst>
          </p:cNvPr>
          <p:cNvSpPr/>
          <p:nvPr/>
        </p:nvSpPr>
        <p:spPr bwMode="auto">
          <a:xfrm>
            <a:off x="4062470" y="4021566"/>
            <a:ext cx="2621018"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NPC</a:t>
            </a:r>
            <a:endParaRPr/>
          </a:p>
        </p:txBody>
      </p:sp>
      <p:sp>
        <p:nvSpPr>
          <p:cNvPr id="1311028271" name="矩形 1311028270">
            <a:extLst>
              <a:ext uri="{FF2B5EF4-FFF2-40B4-BE49-F238E27FC236}">
                <a16:creationId xmlns:a16="http://schemas.microsoft.com/office/drawing/2014/main" id="{E1E9E30D-FA16-CBA5-8B19-E81F8CC86DE8}"/>
              </a:ext>
            </a:extLst>
          </p:cNvPr>
          <p:cNvSpPr/>
          <p:nvPr/>
        </p:nvSpPr>
        <p:spPr bwMode="auto">
          <a:xfrm>
            <a:off x="3768466" y="2838398"/>
            <a:ext cx="414984" cy="957309"/>
          </a:xfrm>
          <a:prstGeom prst="rect">
            <a:avLst/>
          </a:prstGeom>
          <a:solidFill>
            <a:schemeClr val="bg2"/>
          </a:solidFill>
          <a:ln w="12700" cap="flat" cmpd="sng" algn="ctr">
            <a:solidFill>
              <a:schemeClr val="accent1">
                <a:shade val="50000"/>
                <a:alpha val="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600">
                <a:solidFill>
                  <a:schemeClr val="tx1"/>
                </a:solidFill>
              </a:rPr>
              <a:t>两种实现</a:t>
            </a:r>
            <a:endParaRPr>
              <a:solidFill>
                <a:schemeClr val="tx1"/>
              </a:solidFill>
            </a:endParaRPr>
          </a:p>
        </p:txBody>
      </p:sp>
      <p:sp>
        <p:nvSpPr>
          <p:cNvPr id="2328251" name="箭头: 下 2328250">
            <a:extLst>
              <a:ext uri="{FF2B5EF4-FFF2-40B4-BE49-F238E27FC236}">
                <a16:creationId xmlns:a16="http://schemas.microsoft.com/office/drawing/2014/main" id="{0F214D06-8B85-396C-1342-974A123DE95A}"/>
              </a:ext>
            </a:extLst>
          </p:cNvPr>
          <p:cNvSpPr/>
          <p:nvPr/>
        </p:nvSpPr>
        <p:spPr bwMode="auto">
          <a:xfrm>
            <a:off x="2378758" y="2804724"/>
            <a:ext cx="644620" cy="990983"/>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200"/>
              <a:t>软件实现</a:t>
            </a:r>
          </a:p>
        </p:txBody>
      </p:sp>
      <p:sp>
        <p:nvSpPr>
          <p:cNvPr id="1699098867" name="箭头: 下 1699098866">
            <a:extLst>
              <a:ext uri="{FF2B5EF4-FFF2-40B4-BE49-F238E27FC236}">
                <a16:creationId xmlns:a16="http://schemas.microsoft.com/office/drawing/2014/main" id="{CF451138-AE2B-E3F1-E666-791DAC26EB6C}"/>
              </a:ext>
            </a:extLst>
          </p:cNvPr>
          <p:cNvSpPr/>
          <p:nvPr/>
        </p:nvSpPr>
        <p:spPr bwMode="auto">
          <a:xfrm>
            <a:off x="4728358" y="2816364"/>
            <a:ext cx="644620" cy="1029468"/>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a:t>RTL实现</a:t>
            </a:r>
            <a:endParaRPr sz="1200"/>
          </a:p>
        </p:txBody>
      </p:sp>
      <p:sp>
        <p:nvSpPr>
          <p:cNvPr id="16112946" name="电路综合">
            <a:extLst>
              <a:ext uri="{FF2B5EF4-FFF2-40B4-BE49-F238E27FC236}">
                <a16:creationId xmlns:a16="http://schemas.microsoft.com/office/drawing/2014/main" id="{90211488-BE10-58CB-A16F-54291A7A62BC}"/>
              </a:ext>
            </a:extLst>
          </p:cNvPr>
          <p:cNvSpPr/>
          <p:nvPr/>
        </p:nvSpPr>
        <p:spPr bwMode="auto">
          <a:xfrm>
            <a:off x="4062470" y="4817104"/>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电路综合(Yosys)</a:t>
            </a:r>
            <a:endParaRPr/>
          </a:p>
        </p:txBody>
      </p:sp>
      <p:sp>
        <p:nvSpPr>
          <p:cNvPr id="813212810" name="布局布线">
            <a:extLst>
              <a:ext uri="{FF2B5EF4-FFF2-40B4-BE49-F238E27FC236}">
                <a16:creationId xmlns:a16="http://schemas.microsoft.com/office/drawing/2014/main" id="{A1EB7F04-3241-8524-DDAC-95C96989C58B}"/>
              </a:ext>
            </a:extLst>
          </p:cNvPr>
          <p:cNvSpPr/>
          <p:nvPr/>
        </p:nvSpPr>
        <p:spPr bwMode="auto">
          <a:xfrm>
            <a:off x="4062470" y="5218648"/>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布局布线(iEDA)</a:t>
            </a:r>
            <a:endParaRPr/>
          </a:p>
        </p:txBody>
      </p:sp>
      <p:sp>
        <p:nvSpPr>
          <p:cNvPr id="1835667885" name="嵌合分析">
            <a:extLst>
              <a:ext uri="{FF2B5EF4-FFF2-40B4-BE49-F238E27FC236}">
                <a16:creationId xmlns:a16="http://schemas.microsoft.com/office/drawing/2014/main" id="{23F6298A-9FE1-3E0D-F4FD-ADE2F6EFC58C}"/>
              </a:ext>
            </a:extLst>
          </p:cNvPr>
          <p:cNvSpPr/>
          <p:nvPr/>
        </p:nvSpPr>
        <p:spPr bwMode="auto">
          <a:xfrm>
            <a:off x="4062470" y="5637036"/>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签核</a:t>
            </a:r>
            <a:r>
              <a:rPr lang="en-US"/>
              <a:t>分析</a:t>
            </a:r>
            <a:endParaRPr/>
          </a:p>
        </p:txBody>
      </p:sp>
      <p:sp>
        <p:nvSpPr>
          <p:cNvPr id="127215868" name="流片制造">
            <a:extLst>
              <a:ext uri="{FF2B5EF4-FFF2-40B4-BE49-F238E27FC236}">
                <a16:creationId xmlns:a16="http://schemas.microsoft.com/office/drawing/2014/main" id="{C252781D-5878-E060-7485-EF181DEDA19D}"/>
              </a:ext>
            </a:extLst>
          </p:cNvPr>
          <p:cNvSpPr/>
          <p:nvPr/>
        </p:nvSpPr>
        <p:spPr bwMode="auto">
          <a:xfrm>
            <a:off x="4062470" y="6055425"/>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流片制造</a:t>
            </a:r>
          </a:p>
        </p:txBody>
      </p:sp>
      <p:sp>
        <p:nvSpPr>
          <p:cNvPr id="328657211" name="文本框 NavyLib" hidden="1">
            <a:extLst>
              <a:ext uri="{FF2B5EF4-FFF2-40B4-BE49-F238E27FC236}">
                <a16:creationId xmlns:a16="http://schemas.microsoft.com/office/drawing/2014/main" id="{A9E7BEB1-36E8-C276-20C1-5DC3615E3D54}"/>
              </a:ext>
            </a:extLst>
          </p:cNvPr>
          <p:cNvSpPr txBox="1"/>
          <p:nvPr/>
        </p:nvSpPr>
        <p:spPr bwMode="auto">
          <a:xfrm>
            <a:off x="7524362" y="3520663"/>
            <a:ext cx="3927777" cy="211637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dirty="0" err="1"/>
              <a:t>基于Nanos内核的程序库环境支持</a:t>
            </a:r>
            <a:r>
              <a:rPr lang="en-US" dirty="0"/>
              <a:t>/</a:t>
            </a:r>
            <a:r>
              <a:rPr lang="en-US" dirty="0" err="1"/>
              <a:t>适配，可编写</a:t>
            </a:r>
            <a:r>
              <a:rPr lang="en-US" dirty="0"/>
              <a:t>/</a:t>
            </a:r>
            <a:r>
              <a:rPr lang="en-US" dirty="0" err="1"/>
              <a:t>移植更强大丰富的应用程序</a:t>
            </a:r>
            <a:r>
              <a:rPr lang="en-US" dirty="0"/>
              <a:t>。</a:t>
            </a:r>
          </a:p>
          <a:p>
            <a:pPr marL="283878" indent="-283878">
              <a:buAutoNum type="arabicPeriod"/>
              <a:defRPr/>
            </a:pPr>
            <a:r>
              <a:rPr lang="en-US" dirty="0" err="1"/>
              <a:t>Nanos系统调用库</a:t>
            </a:r>
            <a:endParaRPr lang="en-US" dirty="0"/>
          </a:p>
          <a:p>
            <a:pPr>
              <a:defRPr/>
            </a:pPr>
            <a:r>
              <a:rPr lang="en-US" sz="1800" b="0" i="0" u="none" strike="noStrike" cap="none" spc="0" dirty="0">
                <a:solidFill>
                  <a:schemeClr val="tx1"/>
                </a:solidFill>
                <a:latin typeface="Arial"/>
                <a:ea typeface="微软雅黑"/>
                <a:cs typeface="Arial"/>
              </a:rPr>
              <a:t>2. </a:t>
            </a:r>
            <a:r>
              <a:rPr lang="en-US" sz="1800" b="0" i="0" u="none" strike="noStrike" cap="none" spc="0" dirty="0" err="1">
                <a:solidFill>
                  <a:schemeClr val="tx1"/>
                </a:solidFill>
                <a:latin typeface="Arial"/>
                <a:ea typeface="微软雅黑"/>
                <a:cs typeface="Arial"/>
              </a:rPr>
              <a:t>运行环境库</a:t>
            </a:r>
            <a:endParaRPr lang="en-US" dirty="0"/>
          </a:p>
          <a:p>
            <a:pPr>
              <a:defRPr/>
            </a:pPr>
            <a:r>
              <a:rPr lang="en-US" sz="1800" b="0" i="0" u="none" strike="noStrike" cap="none" spc="0" dirty="0">
                <a:solidFill>
                  <a:schemeClr val="tx1"/>
                </a:solidFill>
                <a:latin typeface="Arial"/>
                <a:ea typeface="微软雅黑"/>
                <a:cs typeface="Arial"/>
              </a:rPr>
              <a:t>3. </a:t>
            </a:r>
            <a:r>
              <a:rPr lang="en-US" sz="1800" b="0" i="0" u="none" strike="noStrike" cap="none" spc="0" dirty="0" err="1">
                <a:solidFill>
                  <a:schemeClr val="tx1"/>
                </a:solidFill>
                <a:latin typeface="Arial"/>
                <a:ea typeface="微软雅黑"/>
                <a:cs typeface="Arial"/>
              </a:rPr>
              <a:t>媒体硬件库</a:t>
            </a:r>
            <a:r>
              <a:rPr lang="en-US" dirty="0"/>
              <a:t>/</a:t>
            </a:r>
            <a:r>
              <a:rPr lang="en-US" dirty="0" err="1"/>
              <a:t>资源解析库</a:t>
            </a:r>
            <a:endParaRPr sz="1800" dirty="0"/>
          </a:p>
          <a:p>
            <a:pPr>
              <a:defRPr/>
            </a:pPr>
            <a:r>
              <a:rPr lang="en-US" dirty="0"/>
              <a:t>4. </a:t>
            </a:r>
            <a:r>
              <a:rPr lang="en-US" dirty="0" err="1"/>
              <a:t>应用镜像文件打包</a:t>
            </a:r>
            <a:endParaRPr lang="en-US" dirty="0"/>
          </a:p>
        </p:txBody>
      </p:sp>
      <p:sp>
        <p:nvSpPr>
          <p:cNvPr id="2" name="文本框 1">
            <a:extLst>
              <a:ext uri="{FF2B5EF4-FFF2-40B4-BE49-F238E27FC236}">
                <a16:creationId xmlns:a16="http://schemas.microsoft.com/office/drawing/2014/main" id="{313BA0D2-E8F6-33B8-5B76-13CB90290748}"/>
              </a:ext>
            </a:extLst>
          </p:cNvPr>
          <p:cNvSpPr txBox="1"/>
          <p:nvPr/>
        </p:nvSpPr>
        <p:spPr bwMode="auto">
          <a:xfrm>
            <a:off x="7580961" y="1433405"/>
            <a:ext cx="3927777" cy="405303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zh-CN" altLang="en-US" dirty="0"/>
              <a:t>应用程序是系统库环境</a:t>
            </a:r>
            <a:r>
              <a:rPr lang="en-US" altLang="zh-CN" dirty="0"/>
              <a:t>+</a:t>
            </a:r>
            <a:r>
              <a:rPr lang="zh-CN" altLang="en-US" dirty="0"/>
              <a:t>内核</a:t>
            </a:r>
            <a:r>
              <a:rPr lang="en-US" altLang="zh-CN" dirty="0"/>
              <a:t>+</a:t>
            </a:r>
            <a:r>
              <a:rPr lang="zh-CN" altLang="en-US" dirty="0"/>
              <a:t>底层硬件等一系列软硬件协同的呈现结果。一个应用程序的完整调用链路为：</a:t>
            </a:r>
            <a:endParaRPr lang="en-US" altLang="zh-CN" dirty="0"/>
          </a:p>
          <a:p>
            <a:pPr marL="342900" indent="-342900">
              <a:buAutoNum type="arabicPeriod"/>
              <a:defRPr/>
            </a:pPr>
            <a:r>
              <a:rPr lang="zh-CN" altLang="en-US" dirty="0"/>
              <a:t>应用层调用系统库</a:t>
            </a:r>
            <a:endParaRPr lang="en-US" altLang="zh-CN" dirty="0"/>
          </a:p>
          <a:p>
            <a:pPr marL="342900" indent="-342900">
              <a:buAutoNum type="arabicPeriod"/>
              <a:defRPr/>
            </a:pPr>
            <a:r>
              <a:rPr lang="zh-CN" altLang="en-US" dirty="0"/>
              <a:t>系统库发起系统调用</a:t>
            </a:r>
            <a:endParaRPr lang="en-US" altLang="zh-CN" dirty="0"/>
          </a:p>
          <a:p>
            <a:pPr marL="342900" indent="-342900">
              <a:buAutoNum type="arabicPeriod"/>
              <a:defRPr/>
            </a:pPr>
            <a:r>
              <a:rPr lang="zh-CN" altLang="en-US" dirty="0"/>
              <a:t>内核自陷进入异常处理流程</a:t>
            </a:r>
            <a:endParaRPr lang="en-US" altLang="zh-CN" dirty="0"/>
          </a:p>
          <a:p>
            <a:pPr marL="342900" indent="-342900">
              <a:buAutoNum type="arabicPeriod"/>
              <a:defRPr/>
            </a:pPr>
            <a:r>
              <a:rPr lang="zh-CN" altLang="en-US" dirty="0"/>
              <a:t>内核调用</a:t>
            </a:r>
            <a:r>
              <a:rPr lang="en-US" altLang="zh-CN" dirty="0"/>
              <a:t>HAL</a:t>
            </a:r>
            <a:r>
              <a:rPr lang="zh-CN" altLang="en-US" dirty="0"/>
              <a:t>向外设读写数据</a:t>
            </a:r>
            <a:endParaRPr lang="en-US" altLang="zh-CN" dirty="0"/>
          </a:p>
          <a:p>
            <a:pPr marL="342900" indent="-342900">
              <a:buAutoNum type="arabicPeriod"/>
              <a:defRPr/>
            </a:pPr>
            <a:r>
              <a:rPr lang="en-US" altLang="zh-CN" dirty="0"/>
              <a:t>HAL</a:t>
            </a:r>
            <a:r>
              <a:rPr lang="zh-CN" altLang="en-US" dirty="0"/>
              <a:t>调用外设驱动改变硬件状态。</a:t>
            </a:r>
            <a:endParaRPr lang="en-US" altLang="zh-CN" dirty="0"/>
          </a:p>
          <a:p>
            <a:pPr marL="342900" indent="-342900">
              <a:buAutoNum type="arabicPeriod"/>
              <a:defRPr/>
            </a:pPr>
            <a:r>
              <a:rPr lang="zh-CN" altLang="en-US" dirty="0"/>
              <a:t>硬件状态使</a:t>
            </a:r>
            <a:r>
              <a:rPr lang="en-US" altLang="zh-CN" dirty="0"/>
              <a:t>CPU</a:t>
            </a:r>
            <a:r>
              <a:rPr lang="zh-CN" altLang="en-US" dirty="0"/>
              <a:t>总线数据变化</a:t>
            </a:r>
            <a:endParaRPr lang="en-US" altLang="zh-CN" dirty="0"/>
          </a:p>
          <a:p>
            <a:pPr marL="342900" indent="-342900">
              <a:buAutoNum type="arabicPeriod"/>
              <a:defRPr/>
            </a:pPr>
            <a:r>
              <a:rPr lang="zh-CN" altLang="en-US" dirty="0"/>
              <a:t>外设响应总线请求并刷新结果</a:t>
            </a:r>
            <a:endParaRPr lang="en-US" altLang="zh-CN" dirty="0"/>
          </a:p>
        </p:txBody>
      </p:sp>
      <p:sp>
        <p:nvSpPr>
          <p:cNvPr id="3" name="矩形 2">
            <a:extLst>
              <a:ext uri="{FF2B5EF4-FFF2-40B4-BE49-F238E27FC236}">
                <a16:creationId xmlns:a16="http://schemas.microsoft.com/office/drawing/2014/main" id="{8BA774E8-DD91-016D-A072-DB84703D7E6B}"/>
              </a:ext>
            </a:extLst>
          </p:cNvPr>
          <p:cNvSpPr/>
          <p:nvPr/>
        </p:nvSpPr>
        <p:spPr>
          <a:xfrm>
            <a:off x="1040265" y="5115660"/>
            <a:ext cx="270456" cy="248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0BD50AB-4D05-9A97-DF58-9DB283AA4408}"/>
              </a:ext>
            </a:extLst>
          </p:cNvPr>
          <p:cNvSpPr txBox="1"/>
          <p:nvPr/>
        </p:nvSpPr>
        <p:spPr>
          <a:xfrm>
            <a:off x="1547495" y="5050824"/>
            <a:ext cx="940157" cy="369332"/>
          </a:xfrm>
          <a:prstGeom prst="rect">
            <a:avLst/>
          </a:prstGeom>
          <a:noFill/>
        </p:spPr>
        <p:txBody>
          <a:bodyPr wrap="square" rtlCol="0">
            <a:spAutoFit/>
          </a:bodyPr>
          <a:lstStyle/>
          <a:p>
            <a:r>
              <a:rPr lang="zh-CN" altLang="en-US" dirty="0"/>
              <a:t>软件层</a:t>
            </a:r>
          </a:p>
        </p:txBody>
      </p:sp>
      <p:sp>
        <p:nvSpPr>
          <p:cNvPr id="5" name="矩形 4">
            <a:extLst>
              <a:ext uri="{FF2B5EF4-FFF2-40B4-BE49-F238E27FC236}">
                <a16:creationId xmlns:a16="http://schemas.microsoft.com/office/drawing/2014/main" id="{1F405318-970C-1CA7-A3F8-415CFCB13C9B}"/>
              </a:ext>
            </a:extLst>
          </p:cNvPr>
          <p:cNvSpPr/>
          <p:nvPr/>
        </p:nvSpPr>
        <p:spPr>
          <a:xfrm>
            <a:off x="1046284" y="5508222"/>
            <a:ext cx="270456" cy="2489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00"/>
              </a:solidFill>
            </a:endParaRPr>
          </a:p>
        </p:txBody>
      </p:sp>
      <p:sp>
        <p:nvSpPr>
          <p:cNvPr id="6" name="文本框 5">
            <a:extLst>
              <a:ext uri="{FF2B5EF4-FFF2-40B4-BE49-F238E27FC236}">
                <a16:creationId xmlns:a16="http://schemas.microsoft.com/office/drawing/2014/main" id="{13760F81-5194-3F93-636A-DE8F85B3AED2}"/>
              </a:ext>
            </a:extLst>
          </p:cNvPr>
          <p:cNvSpPr txBox="1"/>
          <p:nvPr/>
        </p:nvSpPr>
        <p:spPr>
          <a:xfrm>
            <a:off x="1553514" y="5443386"/>
            <a:ext cx="1423537" cy="369332"/>
          </a:xfrm>
          <a:prstGeom prst="rect">
            <a:avLst/>
          </a:prstGeom>
          <a:noFill/>
        </p:spPr>
        <p:txBody>
          <a:bodyPr wrap="square" rtlCol="0">
            <a:spAutoFit/>
          </a:bodyPr>
          <a:lstStyle/>
          <a:p>
            <a:r>
              <a:rPr lang="zh-CN" altLang="en-US" dirty="0"/>
              <a:t>硬件模拟层</a:t>
            </a:r>
          </a:p>
        </p:txBody>
      </p:sp>
      <p:sp>
        <p:nvSpPr>
          <p:cNvPr id="7" name="矩形 6">
            <a:extLst>
              <a:ext uri="{FF2B5EF4-FFF2-40B4-BE49-F238E27FC236}">
                <a16:creationId xmlns:a16="http://schemas.microsoft.com/office/drawing/2014/main" id="{4EAF0D39-C4FA-033E-F652-0CD461E25ABF}"/>
              </a:ext>
            </a:extLst>
          </p:cNvPr>
          <p:cNvSpPr/>
          <p:nvPr/>
        </p:nvSpPr>
        <p:spPr>
          <a:xfrm>
            <a:off x="1046284" y="5889925"/>
            <a:ext cx="270456" cy="248991"/>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5C00D67A-CF4A-5790-1987-49BA0F5DE443}"/>
              </a:ext>
            </a:extLst>
          </p:cNvPr>
          <p:cNvSpPr txBox="1"/>
          <p:nvPr/>
        </p:nvSpPr>
        <p:spPr>
          <a:xfrm>
            <a:off x="1553514" y="5825089"/>
            <a:ext cx="1423537" cy="369332"/>
          </a:xfrm>
          <a:prstGeom prst="rect">
            <a:avLst/>
          </a:prstGeom>
          <a:noFill/>
        </p:spPr>
        <p:txBody>
          <a:bodyPr wrap="square" rtlCol="0">
            <a:spAutoFit/>
          </a:bodyPr>
          <a:lstStyle/>
          <a:p>
            <a:r>
              <a:rPr lang="zh-CN" altLang="en-US" dirty="0"/>
              <a:t>硬件实现层</a:t>
            </a:r>
          </a:p>
        </p:txBody>
      </p:sp>
      <p:sp>
        <p:nvSpPr>
          <p:cNvPr id="9" name="箭头: 下 8">
            <a:extLst>
              <a:ext uri="{FF2B5EF4-FFF2-40B4-BE49-F238E27FC236}">
                <a16:creationId xmlns:a16="http://schemas.microsoft.com/office/drawing/2014/main" id="{D73BAA2A-4F36-D329-FCB6-F1B5F51AF387}"/>
              </a:ext>
            </a:extLst>
          </p:cNvPr>
          <p:cNvSpPr/>
          <p:nvPr/>
        </p:nvSpPr>
        <p:spPr>
          <a:xfrm>
            <a:off x="4728358" y="4439496"/>
            <a:ext cx="767204" cy="352379"/>
          </a:xfrm>
          <a:prstGeom prst="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D2751BC7-7A0B-F38C-2F0C-DB735E5EE593}"/>
              </a:ext>
            </a:extLst>
          </p:cNvPr>
          <p:cNvSpPr txBox="1"/>
          <p:nvPr/>
        </p:nvSpPr>
        <p:spPr>
          <a:xfrm>
            <a:off x="5495562" y="4414267"/>
            <a:ext cx="1650381" cy="369332"/>
          </a:xfrm>
          <a:prstGeom prst="rect">
            <a:avLst/>
          </a:prstGeom>
          <a:noFill/>
        </p:spPr>
        <p:txBody>
          <a:bodyPr wrap="square" rtlCol="0">
            <a:spAutoFit/>
          </a:bodyPr>
          <a:lstStyle/>
          <a:p>
            <a:r>
              <a:rPr lang="zh-CN" altLang="en-US" dirty="0"/>
              <a:t>行为仿真通过</a:t>
            </a:r>
          </a:p>
        </p:txBody>
      </p:sp>
      <p:sp>
        <p:nvSpPr>
          <p:cNvPr id="11" name="矩形 10">
            <a:extLst>
              <a:ext uri="{FF2B5EF4-FFF2-40B4-BE49-F238E27FC236}">
                <a16:creationId xmlns:a16="http://schemas.microsoft.com/office/drawing/2014/main" id="{CEDE8B5B-4D99-05E0-0231-D0F9DC6BC43D}"/>
              </a:ext>
            </a:extLst>
          </p:cNvPr>
          <p:cNvSpPr/>
          <p:nvPr/>
        </p:nvSpPr>
        <p:spPr>
          <a:xfrm>
            <a:off x="1040265" y="4687302"/>
            <a:ext cx="270456" cy="24899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4332C6AE-7551-33CD-8A11-D9A4032F99C8}"/>
              </a:ext>
            </a:extLst>
          </p:cNvPr>
          <p:cNvSpPr txBox="1"/>
          <p:nvPr/>
        </p:nvSpPr>
        <p:spPr>
          <a:xfrm>
            <a:off x="1547495" y="4622466"/>
            <a:ext cx="1124337" cy="369332"/>
          </a:xfrm>
          <a:prstGeom prst="rect">
            <a:avLst/>
          </a:prstGeom>
          <a:noFill/>
        </p:spPr>
        <p:txBody>
          <a:bodyPr wrap="square" rtlCol="0">
            <a:spAutoFit/>
          </a:bodyPr>
          <a:lstStyle/>
          <a:p>
            <a:r>
              <a:rPr lang="zh-CN" altLang="en-US" dirty="0"/>
              <a:t>当前演示</a:t>
            </a:r>
          </a:p>
        </p:txBody>
      </p:sp>
      <p:sp>
        <p:nvSpPr>
          <p:cNvPr id="25" name="powerpoint template design by DAJU_PPT正版来源小红书大橘PPT微信DAJU_PPT请勿抄袭搬运！盗版必究！">
            <a:extLst>
              <a:ext uri="{FF2B5EF4-FFF2-40B4-BE49-F238E27FC236}">
                <a16:creationId xmlns:a16="http://schemas.microsoft.com/office/drawing/2014/main" id="{263C2E42-6003-C6C7-032C-3927AEEA5C9E}"/>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26" name="powerpoint template design by DAJU_PPT正版来源小红书大橘PPT微信DAJU_PPT请勿抄袭搬运！盗版必究！">
            <a:extLst>
              <a:ext uri="{FF2B5EF4-FFF2-40B4-BE49-F238E27FC236}">
                <a16:creationId xmlns:a16="http://schemas.microsoft.com/office/drawing/2014/main" id="{9E545CA6-DB53-3E17-B5B2-671F3E620C5C}"/>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27" name="powerpoint template design by DAJU_PPT正版来源小红书大橘PPT微信DAJU_PPT请勿抄袭搬运！盗版必究！">
            <a:extLst>
              <a:ext uri="{FF2B5EF4-FFF2-40B4-BE49-F238E27FC236}">
                <a16:creationId xmlns:a16="http://schemas.microsoft.com/office/drawing/2014/main" id="{CF4C47E5-9666-A454-756D-7AF4092FAA7C}"/>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000" i="0" u="none" strike="noStrike" cap="none" spc="0" dirty="0">
                <a:ln>
                  <a:noFill/>
                </a:ln>
                <a:solidFill>
                  <a:schemeClr val="bg1">
                    <a:alpha val="70000"/>
                  </a:schemeClr>
                </a:solidFill>
                <a:cs typeface="+mn-ea"/>
              </a:rPr>
              <a:t>考核题目讲解</a:t>
            </a:r>
            <a:endParaRPr lang="en-US" sz="2000" i="0" u="none" strike="noStrike" cap="none" spc="0" dirty="0">
              <a:ln>
                <a:noFill/>
              </a:ln>
              <a:solidFill>
                <a:schemeClr val="bg1">
                  <a:alpha val="70000"/>
                </a:schemeClr>
              </a:solidFill>
              <a:cs typeface="+mn-ea"/>
            </a:endParaRPr>
          </a:p>
        </p:txBody>
      </p:sp>
      <p:cxnSp>
        <p:nvCxnSpPr>
          <p:cNvPr id="28" name="powerpoint template design by DAJU_PPT正版来源小红书大橘PPT微信DAJU_PPT请勿抄袭搬运！盗版必究！">
            <a:extLst>
              <a:ext uri="{FF2B5EF4-FFF2-40B4-BE49-F238E27FC236}">
                <a16:creationId xmlns:a16="http://schemas.microsoft.com/office/drawing/2014/main" id="{44D89700-9623-779B-1E28-685E565297E6}"/>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powerpoint template design by DAJU_PPT正版来源小红书大橘PPT微信DAJU_PPT请勿抄袭搬运！盗版必究！">
            <a:extLst>
              <a:ext uri="{FF2B5EF4-FFF2-40B4-BE49-F238E27FC236}">
                <a16:creationId xmlns:a16="http://schemas.microsoft.com/office/drawing/2014/main" id="{E90D936A-160A-753F-75F7-CEE02C6E2D3C}"/>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powerpoint template design by DAJU_PPT正版来源小红书大橘PPT微信DAJU_PPT请勿抄袭搬运！盗版必究！">
            <a:extLst>
              <a:ext uri="{FF2B5EF4-FFF2-40B4-BE49-F238E27FC236}">
                <a16:creationId xmlns:a16="http://schemas.microsoft.com/office/drawing/2014/main" id="{41243555-9A40-9450-D137-B41AF805A3D5}"/>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31" name="图片 3">
            <a:extLst>
              <a:ext uri="{FF2B5EF4-FFF2-40B4-BE49-F238E27FC236}">
                <a16:creationId xmlns:a16="http://schemas.microsoft.com/office/drawing/2014/main" id="{1B6A3E66-E9E1-102F-2CC7-934BCF1EFA5A}"/>
              </a:ext>
            </a:extLst>
          </p:cNvPr>
          <p:cNvPicPr>
            <a:picLocks noChangeAspect="1"/>
          </p:cNvPicPr>
          <p:nvPr/>
        </p:nvPicPr>
        <p:blipFill rotWithShape="1">
          <a:blip r:embed="rId3"/>
          <a:stretch/>
        </p:blipFill>
        <p:spPr bwMode="auto">
          <a:xfrm>
            <a:off x="0" y="0"/>
            <a:ext cx="778510" cy="720090"/>
          </a:xfrm>
          <a:prstGeom prst="rect">
            <a:avLst/>
          </a:prstGeom>
        </p:spPr>
      </p:pic>
      <p:sp>
        <p:nvSpPr>
          <p:cNvPr id="32" name="powerpoint template design by DAJU_PPT正版来源小红书大橘PPT微信DAJU_PPT请勿抄袭搬运！盗版必究！">
            <a:extLst>
              <a:ext uri="{FF2B5EF4-FFF2-40B4-BE49-F238E27FC236}">
                <a16:creationId xmlns:a16="http://schemas.microsoft.com/office/drawing/2014/main" id="{1004CB33-E377-8484-BE4C-FAE282ECECED}"/>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33" name="powerpoint template design by DAJU_PPT正版来源小红书大橘PPT微信DAJU_PPT请勿抄袭搬运！盗版必究！">
            <a:extLst>
              <a:ext uri="{FF2B5EF4-FFF2-40B4-BE49-F238E27FC236}">
                <a16:creationId xmlns:a16="http://schemas.microsoft.com/office/drawing/2014/main" id="{0ABCDB05-B64F-1438-4230-6848695C6093}"/>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dirty="0" err="1">
                <a:solidFill>
                  <a:schemeClr val="bg1">
                    <a:alpha val="70000"/>
                  </a:schemeClr>
                </a:solidFill>
                <a:cs typeface="+mn-ea"/>
              </a:rPr>
              <a:t>Makefile</a:t>
            </a:r>
            <a:r>
              <a:rPr lang="zh-CN" altLang="en-US" sz="2000" dirty="0">
                <a:solidFill>
                  <a:schemeClr val="bg1">
                    <a:alpha val="70000"/>
                  </a:schemeClr>
                </a:solidFill>
                <a:cs typeface="+mn-ea"/>
              </a:rPr>
              <a:t>调用链</a:t>
            </a:r>
            <a:endParaRPr lang="en-US" sz="2000" i="0" u="none" strike="noStrike" cap="none" spc="0" dirty="0">
              <a:ln>
                <a:noFill/>
              </a:ln>
              <a:solidFill>
                <a:schemeClr val="bg1">
                  <a:alpha val="70000"/>
                </a:schemeClr>
              </a:solidFill>
              <a:cs typeface="+mn-ea"/>
            </a:endParaRPr>
          </a:p>
        </p:txBody>
      </p:sp>
      <p:sp>
        <p:nvSpPr>
          <p:cNvPr id="34" name="powerpoint template design by DAJU_PPT正版来源小红书大橘PPT微信DAJU_PPT请勿抄袭搬运！盗版必究！">
            <a:extLst>
              <a:ext uri="{FF2B5EF4-FFF2-40B4-BE49-F238E27FC236}">
                <a16:creationId xmlns:a16="http://schemas.microsoft.com/office/drawing/2014/main" id="{26DFE943-527A-D270-8802-C72DC6C06B37}"/>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800" b="1" i="0" u="none" strike="noStrike" cap="none" spc="0" dirty="0">
                <a:ln>
                  <a:noFill/>
                </a:ln>
                <a:solidFill>
                  <a:srgbClr val="00B050">
                    <a:alpha val="70000"/>
                  </a:srgbClr>
                </a:solidFill>
                <a:cs typeface="+mn-ea"/>
              </a:rPr>
              <a:t>架构</a:t>
            </a:r>
            <a:r>
              <a:rPr lang="zh-CN" sz="2800" b="1" i="0" u="none" strike="noStrike" cap="none" spc="0" dirty="0">
                <a:ln>
                  <a:noFill/>
                </a:ln>
                <a:solidFill>
                  <a:srgbClr val="00B050">
                    <a:alpha val="70000"/>
                  </a:srgbClr>
                </a:solidFill>
                <a:cs typeface="+mn-ea"/>
              </a:rPr>
              <a:t>讲解</a:t>
            </a:r>
            <a:endParaRPr lang="en-US" sz="2800" b="1" i="0" u="none" strike="noStrike" cap="none" spc="0" dirty="0">
              <a:ln>
                <a:noFill/>
              </a:ln>
              <a:solidFill>
                <a:srgbClr val="00B050">
                  <a:alpha val="70000"/>
                </a:srgbClr>
              </a:solidFill>
              <a:cs typeface="+mn-ea"/>
            </a:endParaRPr>
          </a:p>
        </p:txBody>
      </p:sp>
      <p:cxnSp>
        <p:nvCxnSpPr>
          <p:cNvPr id="35" name="直接连接符 34">
            <a:extLst>
              <a:ext uri="{FF2B5EF4-FFF2-40B4-BE49-F238E27FC236}">
                <a16:creationId xmlns:a16="http://schemas.microsoft.com/office/drawing/2014/main" id="{D925F833-11D1-8E94-AA17-2DE99EF20504}"/>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73D83581-8EF0-FF4C-41AF-52E28999AF87}"/>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29862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B232647-D0C3-B8C2-44D5-295B0CB867D6}"/>
            </a:ext>
          </a:extLst>
        </p:cNvPr>
        <p:cNvGrpSpPr/>
        <p:nvPr/>
      </p:nvGrpSpPr>
      <p:grpSpPr bwMode="auto">
        <a:xfrm>
          <a:off x="0" y="0"/>
          <a:ext cx="0" cy="0"/>
          <a:chOff x="0" y="0"/>
          <a:chExt cx="0" cy="0"/>
        </a:xfrm>
      </p:grpSpPr>
      <p:sp>
        <p:nvSpPr>
          <p:cNvPr id="600543380" name="应用程序">
            <a:extLst>
              <a:ext uri="{FF2B5EF4-FFF2-40B4-BE49-F238E27FC236}">
                <a16:creationId xmlns:a16="http://schemas.microsoft.com/office/drawing/2014/main" id="{AFC9BBC6-996B-CA5A-6DE4-08B97CE45AD9}"/>
              </a:ext>
            </a:extLst>
          </p:cNvPr>
          <p:cNvSpPr/>
          <p:nvPr/>
        </p:nvSpPr>
        <p:spPr bwMode="auto">
          <a:xfrm>
            <a:off x="2874117" y="1145183"/>
            <a:ext cx="3629855"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应用程序</a:t>
            </a:r>
            <a:r>
              <a:rPr lang="en-US" dirty="0"/>
              <a:t>(Navy apps)</a:t>
            </a:r>
            <a:endParaRPr dirty="0"/>
          </a:p>
        </p:txBody>
      </p:sp>
      <p:sp>
        <p:nvSpPr>
          <p:cNvPr id="806812025" name="系统库框架">
            <a:extLst>
              <a:ext uri="{FF2B5EF4-FFF2-40B4-BE49-F238E27FC236}">
                <a16:creationId xmlns:a16="http://schemas.microsoft.com/office/drawing/2014/main" id="{49CE0BDA-00C3-B83F-41E0-73B60CB54526}"/>
              </a:ext>
            </a:extLst>
          </p:cNvPr>
          <p:cNvSpPr/>
          <p:nvPr/>
        </p:nvSpPr>
        <p:spPr bwMode="auto">
          <a:xfrm>
            <a:off x="2868489" y="1549562"/>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系统库框架层</a:t>
            </a:r>
            <a:r>
              <a:rPr lang="en-US" dirty="0"/>
              <a:t>(Navy libs)</a:t>
            </a:r>
            <a:endParaRPr dirty="0"/>
          </a:p>
        </p:txBody>
      </p:sp>
      <p:sp>
        <p:nvSpPr>
          <p:cNvPr id="971999399" name="系统内核">
            <a:extLst>
              <a:ext uri="{FF2B5EF4-FFF2-40B4-BE49-F238E27FC236}">
                <a16:creationId xmlns:a16="http://schemas.microsoft.com/office/drawing/2014/main" id="{E02920F9-962E-10FF-20FB-E595A0C363A9}"/>
              </a:ext>
            </a:extLst>
          </p:cNvPr>
          <p:cNvSpPr/>
          <p:nvPr/>
        </p:nvSpPr>
        <p:spPr bwMode="auto">
          <a:xfrm>
            <a:off x="2868489" y="1967950"/>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系统内核</a:t>
            </a:r>
            <a:r>
              <a:rPr lang="en-US" dirty="0"/>
              <a:t>(Nanos)</a:t>
            </a:r>
            <a:endParaRPr dirty="0"/>
          </a:p>
        </p:txBody>
      </p:sp>
      <p:sp>
        <p:nvSpPr>
          <p:cNvPr id="1567425429" name="裸机程序">
            <a:extLst>
              <a:ext uri="{FF2B5EF4-FFF2-40B4-BE49-F238E27FC236}">
                <a16:creationId xmlns:a16="http://schemas.microsoft.com/office/drawing/2014/main" id="{B22F968E-19C5-D368-89C6-CE2B3BE80709}"/>
              </a:ext>
            </a:extLst>
          </p:cNvPr>
          <p:cNvSpPr/>
          <p:nvPr/>
        </p:nvSpPr>
        <p:spPr bwMode="auto">
          <a:xfrm>
            <a:off x="1201735" y="1967949"/>
            <a:ext cx="1666755" cy="418386"/>
          </a:xfrm>
          <a:prstGeom prst="rect">
            <a:avLst/>
          </a:prstGeom>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AM</a:t>
            </a:r>
            <a:r>
              <a:rPr lang="zh-CN" altLang="en-US" dirty="0"/>
              <a:t>程序</a:t>
            </a:r>
            <a:endParaRPr dirty="0"/>
          </a:p>
        </p:txBody>
      </p:sp>
      <p:sp>
        <p:nvSpPr>
          <p:cNvPr id="534821804" name="硬件抽象">
            <a:extLst>
              <a:ext uri="{FF2B5EF4-FFF2-40B4-BE49-F238E27FC236}">
                <a16:creationId xmlns:a16="http://schemas.microsoft.com/office/drawing/2014/main" id="{8C462596-1666-2EDE-772F-65B111548014}"/>
              </a:ext>
            </a:extLst>
          </p:cNvPr>
          <p:cNvSpPr/>
          <p:nvPr/>
        </p:nvSpPr>
        <p:spPr bwMode="auto">
          <a:xfrm>
            <a:off x="1201735" y="2386337"/>
            <a:ext cx="5296610"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硬件抽象层</a:t>
            </a:r>
            <a:r>
              <a:rPr lang="en-US" dirty="0"/>
              <a:t>(AM)</a:t>
            </a:r>
            <a:endParaRPr dirty="0"/>
          </a:p>
        </p:txBody>
      </p:sp>
      <p:sp>
        <p:nvSpPr>
          <p:cNvPr id="40666242" name="NEMU虚拟机">
            <a:extLst>
              <a:ext uri="{FF2B5EF4-FFF2-40B4-BE49-F238E27FC236}">
                <a16:creationId xmlns:a16="http://schemas.microsoft.com/office/drawing/2014/main" id="{4D3A6C20-E41E-C1A6-07D8-1AC8C7FBA452}"/>
              </a:ext>
            </a:extLst>
          </p:cNvPr>
          <p:cNvSpPr/>
          <p:nvPr/>
        </p:nvSpPr>
        <p:spPr bwMode="auto">
          <a:xfrm>
            <a:off x="1092876" y="4021566"/>
            <a:ext cx="2675590"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虚拟机</a:t>
            </a:r>
            <a:r>
              <a:rPr lang="en-US" dirty="0"/>
              <a:t>(NEMU)</a:t>
            </a:r>
            <a:endParaRPr dirty="0"/>
          </a:p>
        </p:txBody>
      </p:sp>
      <p:sp>
        <p:nvSpPr>
          <p:cNvPr id="743261972" name="NPC">
            <a:extLst>
              <a:ext uri="{FF2B5EF4-FFF2-40B4-BE49-F238E27FC236}">
                <a16:creationId xmlns:a16="http://schemas.microsoft.com/office/drawing/2014/main" id="{7B23DA2C-0BDE-2A31-0BF8-EDD35F66458B}"/>
              </a:ext>
            </a:extLst>
          </p:cNvPr>
          <p:cNvSpPr/>
          <p:nvPr/>
        </p:nvSpPr>
        <p:spPr bwMode="auto">
          <a:xfrm>
            <a:off x="4062470" y="4021566"/>
            <a:ext cx="2621018"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NPC</a:t>
            </a:r>
            <a:endParaRPr/>
          </a:p>
        </p:txBody>
      </p:sp>
      <p:sp>
        <p:nvSpPr>
          <p:cNvPr id="1311028271" name="矩形 1311028270">
            <a:extLst>
              <a:ext uri="{FF2B5EF4-FFF2-40B4-BE49-F238E27FC236}">
                <a16:creationId xmlns:a16="http://schemas.microsoft.com/office/drawing/2014/main" id="{06D21EBB-0CDF-E3E7-7DF0-2CC59B877FB9}"/>
              </a:ext>
            </a:extLst>
          </p:cNvPr>
          <p:cNvSpPr/>
          <p:nvPr/>
        </p:nvSpPr>
        <p:spPr bwMode="auto">
          <a:xfrm>
            <a:off x="3768466" y="2838398"/>
            <a:ext cx="414984" cy="957309"/>
          </a:xfrm>
          <a:prstGeom prst="rect">
            <a:avLst/>
          </a:prstGeom>
          <a:solidFill>
            <a:schemeClr val="bg2"/>
          </a:solidFill>
          <a:ln w="12700" cap="flat" cmpd="sng" algn="ctr">
            <a:solidFill>
              <a:schemeClr val="accent1">
                <a:shade val="50000"/>
                <a:alpha val="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600">
                <a:solidFill>
                  <a:schemeClr val="tx1"/>
                </a:solidFill>
              </a:rPr>
              <a:t>两种实现</a:t>
            </a:r>
            <a:endParaRPr>
              <a:solidFill>
                <a:schemeClr val="tx1"/>
              </a:solidFill>
            </a:endParaRPr>
          </a:p>
        </p:txBody>
      </p:sp>
      <p:sp>
        <p:nvSpPr>
          <p:cNvPr id="2328251" name="箭头: 下 2328250">
            <a:extLst>
              <a:ext uri="{FF2B5EF4-FFF2-40B4-BE49-F238E27FC236}">
                <a16:creationId xmlns:a16="http://schemas.microsoft.com/office/drawing/2014/main" id="{B2F053B0-8806-E1E8-F5E1-84B9BBAE0703}"/>
              </a:ext>
            </a:extLst>
          </p:cNvPr>
          <p:cNvSpPr/>
          <p:nvPr/>
        </p:nvSpPr>
        <p:spPr bwMode="auto">
          <a:xfrm>
            <a:off x="2378758" y="2804724"/>
            <a:ext cx="644620" cy="990983"/>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200"/>
              <a:t>软件实现</a:t>
            </a:r>
          </a:p>
        </p:txBody>
      </p:sp>
      <p:sp>
        <p:nvSpPr>
          <p:cNvPr id="1699098867" name="箭头: 下 1699098866">
            <a:extLst>
              <a:ext uri="{FF2B5EF4-FFF2-40B4-BE49-F238E27FC236}">
                <a16:creationId xmlns:a16="http://schemas.microsoft.com/office/drawing/2014/main" id="{3D320723-465F-7751-B521-7A43B9B0F7E3}"/>
              </a:ext>
            </a:extLst>
          </p:cNvPr>
          <p:cNvSpPr/>
          <p:nvPr/>
        </p:nvSpPr>
        <p:spPr bwMode="auto">
          <a:xfrm>
            <a:off x="4728358" y="2816364"/>
            <a:ext cx="644620" cy="1029468"/>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a:t>RTL实现</a:t>
            </a:r>
            <a:endParaRPr sz="1200"/>
          </a:p>
        </p:txBody>
      </p:sp>
      <p:sp>
        <p:nvSpPr>
          <p:cNvPr id="16112946" name="电路综合">
            <a:extLst>
              <a:ext uri="{FF2B5EF4-FFF2-40B4-BE49-F238E27FC236}">
                <a16:creationId xmlns:a16="http://schemas.microsoft.com/office/drawing/2014/main" id="{71F88E68-839C-5264-1546-F102114615C9}"/>
              </a:ext>
            </a:extLst>
          </p:cNvPr>
          <p:cNvSpPr/>
          <p:nvPr/>
        </p:nvSpPr>
        <p:spPr bwMode="auto">
          <a:xfrm>
            <a:off x="4062470" y="4817104"/>
            <a:ext cx="2738705" cy="41838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电路综合(Yosys)</a:t>
            </a:r>
            <a:endParaRPr/>
          </a:p>
        </p:txBody>
      </p:sp>
      <p:sp>
        <p:nvSpPr>
          <p:cNvPr id="813212810" name="布局布线">
            <a:extLst>
              <a:ext uri="{FF2B5EF4-FFF2-40B4-BE49-F238E27FC236}">
                <a16:creationId xmlns:a16="http://schemas.microsoft.com/office/drawing/2014/main" id="{B1004998-1B9E-C164-8FE3-1DEB669B71DB}"/>
              </a:ext>
            </a:extLst>
          </p:cNvPr>
          <p:cNvSpPr/>
          <p:nvPr/>
        </p:nvSpPr>
        <p:spPr bwMode="auto">
          <a:xfrm>
            <a:off x="4062470" y="5218648"/>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布局布线(iEDA)</a:t>
            </a:r>
            <a:endParaRPr/>
          </a:p>
        </p:txBody>
      </p:sp>
      <p:sp>
        <p:nvSpPr>
          <p:cNvPr id="1835667885" name="嵌合分析">
            <a:extLst>
              <a:ext uri="{FF2B5EF4-FFF2-40B4-BE49-F238E27FC236}">
                <a16:creationId xmlns:a16="http://schemas.microsoft.com/office/drawing/2014/main" id="{734CC63A-7F10-7BD4-C345-4486D8C3BBC8}"/>
              </a:ext>
            </a:extLst>
          </p:cNvPr>
          <p:cNvSpPr/>
          <p:nvPr/>
        </p:nvSpPr>
        <p:spPr bwMode="auto">
          <a:xfrm>
            <a:off x="4062470" y="5637036"/>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签核</a:t>
            </a:r>
            <a:r>
              <a:rPr lang="en-US"/>
              <a:t>分析</a:t>
            </a:r>
            <a:endParaRPr/>
          </a:p>
        </p:txBody>
      </p:sp>
      <p:sp>
        <p:nvSpPr>
          <p:cNvPr id="127215868" name="流片制造">
            <a:extLst>
              <a:ext uri="{FF2B5EF4-FFF2-40B4-BE49-F238E27FC236}">
                <a16:creationId xmlns:a16="http://schemas.microsoft.com/office/drawing/2014/main" id="{FCBD1829-EEDB-3B70-D933-5DCB67F2F573}"/>
              </a:ext>
            </a:extLst>
          </p:cNvPr>
          <p:cNvSpPr/>
          <p:nvPr/>
        </p:nvSpPr>
        <p:spPr bwMode="auto">
          <a:xfrm>
            <a:off x="4062470" y="6055425"/>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流片制造</a:t>
            </a:r>
          </a:p>
        </p:txBody>
      </p:sp>
      <p:sp>
        <p:nvSpPr>
          <p:cNvPr id="328657211" name="文本框 NavyLib" hidden="1">
            <a:extLst>
              <a:ext uri="{FF2B5EF4-FFF2-40B4-BE49-F238E27FC236}">
                <a16:creationId xmlns:a16="http://schemas.microsoft.com/office/drawing/2014/main" id="{F5B2130C-6ADB-0825-0DF7-C5CE4A368E3A}"/>
              </a:ext>
            </a:extLst>
          </p:cNvPr>
          <p:cNvSpPr txBox="1"/>
          <p:nvPr/>
        </p:nvSpPr>
        <p:spPr bwMode="auto">
          <a:xfrm>
            <a:off x="7524362" y="3520663"/>
            <a:ext cx="3927777" cy="211637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dirty="0" err="1"/>
              <a:t>基于Nanos内核的程序库环境支持</a:t>
            </a:r>
            <a:r>
              <a:rPr lang="en-US" dirty="0"/>
              <a:t>/</a:t>
            </a:r>
            <a:r>
              <a:rPr lang="en-US" dirty="0" err="1"/>
              <a:t>适配，可编写</a:t>
            </a:r>
            <a:r>
              <a:rPr lang="en-US" dirty="0"/>
              <a:t>/</a:t>
            </a:r>
            <a:r>
              <a:rPr lang="en-US" dirty="0" err="1"/>
              <a:t>移植更强大丰富的应用程序</a:t>
            </a:r>
            <a:r>
              <a:rPr lang="en-US" dirty="0"/>
              <a:t>。</a:t>
            </a:r>
          </a:p>
          <a:p>
            <a:pPr marL="283878" indent="-283878">
              <a:buAutoNum type="arabicPeriod"/>
              <a:defRPr/>
            </a:pPr>
            <a:r>
              <a:rPr lang="en-US" dirty="0" err="1"/>
              <a:t>Nanos系统调用库</a:t>
            </a:r>
            <a:endParaRPr lang="en-US" dirty="0"/>
          </a:p>
          <a:p>
            <a:pPr>
              <a:defRPr/>
            </a:pPr>
            <a:r>
              <a:rPr lang="en-US" sz="1800" b="0" i="0" u="none" strike="noStrike" cap="none" spc="0" dirty="0">
                <a:solidFill>
                  <a:schemeClr val="tx1"/>
                </a:solidFill>
                <a:latin typeface="Arial"/>
                <a:ea typeface="微软雅黑"/>
                <a:cs typeface="Arial"/>
              </a:rPr>
              <a:t>2. </a:t>
            </a:r>
            <a:r>
              <a:rPr lang="en-US" sz="1800" b="0" i="0" u="none" strike="noStrike" cap="none" spc="0" dirty="0" err="1">
                <a:solidFill>
                  <a:schemeClr val="tx1"/>
                </a:solidFill>
                <a:latin typeface="Arial"/>
                <a:ea typeface="微软雅黑"/>
                <a:cs typeface="Arial"/>
              </a:rPr>
              <a:t>运行环境库</a:t>
            </a:r>
            <a:endParaRPr lang="en-US" dirty="0"/>
          </a:p>
          <a:p>
            <a:pPr>
              <a:defRPr/>
            </a:pPr>
            <a:r>
              <a:rPr lang="en-US" sz="1800" b="0" i="0" u="none" strike="noStrike" cap="none" spc="0" dirty="0">
                <a:solidFill>
                  <a:schemeClr val="tx1"/>
                </a:solidFill>
                <a:latin typeface="Arial"/>
                <a:ea typeface="微软雅黑"/>
                <a:cs typeface="Arial"/>
              </a:rPr>
              <a:t>3. </a:t>
            </a:r>
            <a:r>
              <a:rPr lang="en-US" sz="1800" b="0" i="0" u="none" strike="noStrike" cap="none" spc="0" dirty="0" err="1">
                <a:solidFill>
                  <a:schemeClr val="tx1"/>
                </a:solidFill>
                <a:latin typeface="Arial"/>
                <a:ea typeface="微软雅黑"/>
                <a:cs typeface="Arial"/>
              </a:rPr>
              <a:t>媒体硬件库</a:t>
            </a:r>
            <a:r>
              <a:rPr lang="en-US" dirty="0"/>
              <a:t>/</a:t>
            </a:r>
            <a:r>
              <a:rPr lang="en-US" dirty="0" err="1"/>
              <a:t>资源解析库</a:t>
            </a:r>
            <a:endParaRPr sz="1800" dirty="0"/>
          </a:p>
          <a:p>
            <a:pPr>
              <a:defRPr/>
            </a:pPr>
            <a:r>
              <a:rPr lang="en-US" dirty="0"/>
              <a:t>4. </a:t>
            </a:r>
            <a:r>
              <a:rPr lang="en-US" dirty="0" err="1"/>
              <a:t>应用镜像文件打包</a:t>
            </a:r>
            <a:endParaRPr lang="en-US" dirty="0"/>
          </a:p>
        </p:txBody>
      </p:sp>
      <p:sp>
        <p:nvSpPr>
          <p:cNvPr id="3" name="矩形 2">
            <a:extLst>
              <a:ext uri="{FF2B5EF4-FFF2-40B4-BE49-F238E27FC236}">
                <a16:creationId xmlns:a16="http://schemas.microsoft.com/office/drawing/2014/main" id="{61ECD6FA-0B28-AEC2-9C48-1AC267C0443F}"/>
              </a:ext>
            </a:extLst>
          </p:cNvPr>
          <p:cNvSpPr/>
          <p:nvPr/>
        </p:nvSpPr>
        <p:spPr>
          <a:xfrm>
            <a:off x="1040265" y="5115660"/>
            <a:ext cx="270456" cy="248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F47B5E45-91F8-C308-8036-0A144722E7FC}"/>
              </a:ext>
            </a:extLst>
          </p:cNvPr>
          <p:cNvSpPr txBox="1"/>
          <p:nvPr/>
        </p:nvSpPr>
        <p:spPr>
          <a:xfrm>
            <a:off x="1547495" y="5050824"/>
            <a:ext cx="940157" cy="369332"/>
          </a:xfrm>
          <a:prstGeom prst="rect">
            <a:avLst/>
          </a:prstGeom>
          <a:noFill/>
        </p:spPr>
        <p:txBody>
          <a:bodyPr wrap="square" rtlCol="0">
            <a:spAutoFit/>
          </a:bodyPr>
          <a:lstStyle/>
          <a:p>
            <a:r>
              <a:rPr lang="zh-CN" altLang="en-US" dirty="0"/>
              <a:t>软件层</a:t>
            </a:r>
          </a:p>
        </p:txBody>
      </p:sp>
      <p:sp>
        <p:nvSpPr>
          <p:cNvPr id="5" name="矩形 4">
            <a:extLst>
              <a:ext uri="{FF2B5EF4-FFF2-40B4-BE49-F238E27FC236}">
                <a16:creationId xmlns:a16="http://schemas.microsoft.com/office/drawing/2014/main" id="{53FE71EE-4B40-3E8F-BB49-63C8BA6CFC68}"/>
              </a:ext>
            </a:extLst>
          </p:cNvPr>
          <p:cNvSpPr/>
          <p:nvPr/>
        </p:nvSpPr>
        <p:spPr>
          <a:xfrm>
            <a:off x="1046284" y="5508222"/>
            <a:ext cx="270456" cy="2489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00"/>
              </a:solidFill>
            </a:endParaRPr>
          </a:p>
        </p:txBody>
      </p:sp>
      <p:sp>
        <p:nvSpPr>
          <p:cNvPr id="6" name="文本框 5">
            <a:extLst>
              <a:ext uri="{FF2B5EF4-FFF2-40B4-BE49-F238E27FC236}">
                <a16:creationId xmlns:a16="http://schemas.microsoft.com/office/drawing/2014/main" id="{9EB59ECE-B33B-E483-10C6-63CB21EADB6B}"/>
              </a:ext>
            </a:extLst>
          </p:cNvPr>
          <p:cNvSpPr txBox="1"/>
          <p:nvPr/>
        </p:nvSpPr>
        <p:spPr>
          <a:xfrm>
            <a:off x="1553514" y="5443386"/>
            <a:ext cx="1423537" cy="369332"/>
          </a:xfrm>
          <a:prstGeom prst="rect">
            <a:avLst/>
          </a:prstGeom>
          <a:noFill/>
        </p:spPr>
        <p:txBody>
          <a:bodyPr wrap="square" rtlCol="0">
            <a:spAutoFit/>
          </a:bodyPr>
          <a:lstStyle/>
          <a:p>
            <a:r>
              <a:rPr lang="zh-CN" altLang="en-US" dirty="0"/>
              <a:t>硬件模拟层</a:t>
            </a:r>
          </a:p>
        </p:txBody>
      </p:sp>
      <p:sp>
        <p:nvSpPr>
          <p:cNvPr id="7" name="矩形 6">
            <a:extLst>
              <a:ext uri="{FF2B5EF4-FFF2-40B4-BE49-F238E27FC236}">
                <a16:creationId xmlns:a16="http://schemas.microsoft.com/office/drawing/2014/main" id="{22C5A5DA-1C4F-86B1-2101-27BAD47A7504}"/>
              </a:ext>
            </a:extLst>
          </p:cNvPr>
          <p:cNvSpPr/>
          <p:nvPr/>
        </p:nvSpPr>
        <p:spPr>
          <a:xfrm>
            <a:off x="1046284" y="5889925"/>
            <a:ext cx="270456" cy="248991"/>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7031E618-DB35-B0F9-99D9-7DF9ECA949A8}"/>
              </a:ext>
            </a:extLst>
          </p:cNvPr>
          <p:cNvSpPr txBox="1"/>
          <p:nvPr/>
        </p:nvSpPr>
        <p:spPr>
          <a:xfrm>
            <a:off x="1553514" y="5825089"/>
            <a:ext cx="1423537" cy="369332"/>
          </a:xfrm>
          <a:prstGeom prst="rect">
            <a:avLst/>
          </a:prstGeom>
          <a:noFill/>
        </p:spPr>
        <p:txBody>
          <a:bodyPr wrap="square" rtlCol="0">
            <a:spAutoFit/>
          </a:bodyPr>
          <a:lstStyle/>
          <a:p>
            <a:r>
              <a:rPr lang="zh-CN" altLang="en-US" dirty="0"/>
              <a:t>硬件实现层</a:t>
            </a:r>
          </a:p>
        </p:txBody>
      </p:sp>
      <p:sp>
        <p:nvSpPr>
          <p:cNvPr id="9" name="箭头: 下 8">
            <a:extLst>
              <a:ext uri="{FF2B5EF4-FFF2-40B4-BE49-F238E27FC236}">
                <a16:creationId xmlns:a16="http://schemas.microsoft.com/office/drawing/2014/main" id="{723ABB0D-6F24-41C3-2601-9814F8465511}"/>
              </a:ext>
            </a:extLst>
          </p:cNvPr>
          <p:cNvSpPr/>
          <p:nvPr/>
        </p:nvSpPr>
        <p:spPr>
          <a:xfrm>
            <a:off x="4728358" y="4439496"/>
            <a:ext cx="767204" cy="352379"/>
          </a:xfrm>
          <a:prstGeom prst="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0B8FD6E2-A1F2-5A5B-2A49-F05F27F57277}"/>
              </a:ext>
            </a:extLst>
          </p:cNvPr>
          <p:cNvSpPr txBox="1"/>
          <p:nvPr/>
        </p:nvSpPr>
        <p:spPr>
          <a:xfrm>
            <a:off x="5495562" y="4414267"/>
            <a:ext cx="1650381" cy="369332"/>
          </a:xfrm>
          <a:prstGeom prst="rect">
            <a:avLst/>
          </a:prstGeom>
          <a:noFill/>
        </p:spPr>
        <p:txBody>
          <a:bodyPr wrap="square" rtlCol="0">
            <a:spAutoFit/>
          </a:bodyPr>
          <a:lstStyle/>
          <a:p>
            <a:r>
              <a:rPr lang="zh-CN" altLang="en-US" dirty="0"/>
              <a:t>行为仿真通过</a:t>
            </a:r>
          </a:p>
        </p:txBody>
      </p:sp>
      <p:sp>
        <p:nvSpPr>
          <p:cNvPr id="11" name="矩形 10">
            <a:extLst>
              <a:ext uri="{FF2B5EF4-FFF2-40B4-BE49-F238E27FC236}">
                <a16:creationId xmlns:a16="http://schemas.microsoft.com/office/drawing/2014/main" id="{09EB0FDD-92C9-4349-F506-59702AE8F76F}"/>
              </a:ext>
            </a:extLst>
          </p:cNvPr>
          <p:cNvSpPr/>
          <p:nvPr/>
        </p:nvSpPr>
        <p:spPr>
          <a:xfrm>
            <a:off x="1040265" y="4687302"/>
            <a:ext cx="270456" cy="24899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4DBD6539-D959-EDC9-5F70-FB3DE87076CA}"/>
              </a:ext>
            </a:extLst>
          </p:cNvPr>
          <p:cNvSpPr txBox="1"/>
          <p:nvPr/>
        </p:nvSpPr>
        <p:spPr>
          <a:xfrm>
            <a:off x="1547495" y="4622466"/>
            <a:ext cx="1124337" cy="369332"/>
          </a:xfrm>
          <a:prstGeom prst="rect">
            <a:avLst/>
          </a:prstGeom>
          <a:noFill/>
        </p:spPr>
        <p:txBody>
          <a:bodyPr wrap="square" rtlCol="0">
            <a:spAutoFit/>
          </a:bodyPr>
          <a:lstStyle/>
          <a:p>
            <a:r>
              <a:rPr lang="zh-CN" altLang="en-US" dirty="0"/>
              <a:t>当前演示</a:t>
            </a:r>
          </a:p>
        </p:txBody>
      </p:sp>
      <p:sp>
        <p:nvSpPr>
          <p:cNvPr id="496486137" name="文本框 496486136">
            <a:extLst>
              <a:ext uri="{FF2B5EF4-FFF2-40B4-BE49-F238E27FC236}">
                <a16:creationId xmlns:a16="http://schemas.microsoft.com/office/drawing/2014/main" id="{D91BC362-B2B6-E538-3ED1-29DD3949D2D2}"/>
              </a:ext>
            </a:extLst>
          </p:cNvPr>
          <p:cNvSpPr txBox="1"/>
          <p:nvPr/>
        </p:nvSpPr>
        <p:spPr bwMode="auto">
          <a:xfrm>
            <a:off x="7451548" y="1108226"/>
            <a:ext cx="4133337" cy="431849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altLang="zh-CN" dirty="0" err="1"/>
              <a:t>Yosys</a:t>
            </a:r>
            <a:r>
              <a:rPr lang="zh-CN" altLang="en-US" dirty="0"/>
              <a:t>综合全流程：</a:t>
            </a:r>
            <a:endParaRPr lang="en-US" altLang="zh-CN" dirty="0"/>
          </a:p>
          <a:p>
            <a:pPr marL="342900" indent="-342900">
              <a:buAutoNum type="arabicPeriod"/>
              <a:defRPr/>
            </a:pPr>
            <a:r>
              <a:rPr lang="en-US" altLang="zh-CN" dirty="0"/>
              <a:t>RTL</a:t>
            </a:r>
            <a:r>
              <a:rPr lang="zh-CN" altLang="en-US" dirty="0"/>
              <a:t>代码词法解析生成</a:t>
            </a:r>
            <a:r>
              <a:rPr lang="en-US" altLang="zh-CN" dirty="0"/>
              <a:t>AST</a:t>
            </a:r>
            <a:r>
              <a:rPr lang="zh-CN" altLang="en-US" dirty="0"/>
              <a:t>语法树</a:t>
            </a:r>
            <a:endParaRPr lang="en-US" altLang="zh-CN" dirty="0"/>
          </a:p>
          <a:p>
            <a:pPr marL="342900" indent="-342900">
              <a:buAutoNum type="arabicPeriod"/>
              <a:defRPr/>
            </a:pPr>
            <a:r>
              <a:rPr lang="zh-CN" altLang="en-US" dirty="0"/>
              <a:t>顶层模块例化展开为</a:t>
            </a:r>
            <a:r>
              <a:rPr lang="en-US" altLang="zh-CN" dirty="0"/>
              <a:t>RTLIL</a:t>
            </a:r>
            <a:r>
              <a:rPr lang="zh-CN" altLang="en-US" dirty="0"/>
              <a:t>中间码</a:t>
            </a:r>
            <a:endParaRPr lang="en-US" altLang="zh-CN" dirty="0"/>
          </a:p>
          <a:p>
            <a:pPr marL="342900" indent="-342900">
              <a:buAutoNum type="arabicPeriod"/>
              <a:defRPr/>
            </a:pPr>
            <a:r>
              <a:rPr lang="zh-CN" altLang="en-US" dirty="0"/>
              <a:t>粗粒度综合</a:t>
            </a:r>
            <a:endParaRPr lang="en-US" altLang="zh-CN" dirty="0"/>
          </a:p>
          <a:p>
            <a:pPr marL="342900" indent="-342900">
              <a:buAutoNum type="arabicPeriod"/>
              <a:defRPr/>
            </a:pPr>
            <a:r>
              <a:rPr lang="zh-CN" altLang="en-US" dirty="0"/>
              <a:t>网表优化</a:t>
            </a:r>
            <a:endParaRPr lang="en-US" altLang="zh-CN" dirty="0"/>
          </a:p>
          <a:p>
            <a:pPr marL="342900" indent="-342900">
              <a:buAutoNum type="arabicPeriod"/>
              <a:defRPr/>
            </a:pPr>
            <a:r>
              <a:rPr lang="zh-CN" altLang="en-US" dirty="0"/>
              <a:t>细粒度综合</a:t>
            </a:r>
            <a:endParaRPr lang="en-US" altLang="zh-CN" dirty="0"/>
          </a:p>
          <a:p>
            <a:pPr marL="342900" indent="-342900">
              <a:buAutoNum type="arabicPeriod"/>
              <a:defRPr/>
            </a:pPr>
            <a:r>
              <a:rPr lang="zh-CN" altLang="en-US" dirty="0"/>
              <a:t>工艺映射</a:t>
            </a:r>
            <a:endParaRPr lang="en-US" altLang="zh-CN" dirty="0"/>
          </a:p>
          <a:p>
            <a:pPr marL="342900" indent="-342900">
              <a:buAutoNum type="arabicPeriod"/>
              <a:defRPr/>
            </a:pPr>
            <a:endParaRPr lang="en-US" dirty="0"/>
          </a:p>
          <a:p>
            <a:pPr>
              <a:defRPr/>
            </a:pPr>
            <a:r>
              <a:rPr lang="zh-CN" altLang="en-US" dirty="0"/>
              <a:t>综合阶段就可以根据初步的</a:t>
            </a:r>
            <a:r>
              <a:rPr lang="en-US" altLang="zh-CN" dirty="0"/>
              <a:t>PPA</a:t>
            </a:r>
            <a:r>
              <a:rPr lang="zh-CN" altLang="en-US" dirty="0"/>
              <a:t>和</a:t>
            </a:r>
            <a:r>
              <a:rPr lang="en-US" altLang="zh-CN" dirty="0"/>
              <a:t>STA</a:t>
            </a:r>
            <a:r>
              <a:rPr lang="zh-CN" altLang="en-US" dirty="0"/>
              <a:t>分析，调整</a:t>
            </a:r>
            <a:r>
              <a:rPr lang="en-US" altLang="zh-CN" dirty="0"/>
              <a:t>RTL</a:t>
            </a:r>
            <a:r>
              <a:rPr lang="zh-CN" altLang="en-US" dirty="0"/>
              <a:t>代码和综合约束条件生成符合</a:t>
            </a:r>
            <a:r>
              <a:rPr lang="en-US" altLang="zh-CN" dirty="0"/>
              <a:t>spec</a:t>
            </a:r>
            <a:r>
              <a:rPr lang="zh-CN" altLang="en-US" dirty="0"/>
              <a:t>的</a:t>
            </a:r>
            <a:r>
              <a:rPr lang="en-US" altLang="zh-CN" dirty="0"/>
              <a:t>Netlist</a:t>
            </a:r>
            <a:r>
              <a:rPr lang="zh-CN" altLang="en-US" dirty="0"/>
              <a:t>文件。</a:t>
            </a:r>
            <a:endParaRPr lang="en-US" dirty="0"/>
          </a:p>
        </p:txBody>
      </p:sp>
      <p:sp>
        <p:nvSpPr>
          <p:cNvPr id="2" name="powerpoint template design by DAJU_PPT正版来源小红书大橘PPT微信DAJU_PPT请勿抄袭搬运！盗版必究！">
            <a:extLst>
              <a:ext uri="{FF2B5EF4-FFF2-40B4-BE49-F238E27FC236}">
                <a16:creationId xmlns:a16="http://schemas.microsoft.com/office/drawing/2014/main" id="{4AC95D1A-D1B8-7433-1077-2FA317F6EFAB}"/>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13" name="powerpoint template design by DAJU_PPT正版来源小红书大橘PPT微信DAJU_PPT请勿抄袭搬运！盗版必究！">
            <a:extLst>
              <a:ext uri="{FF2B5EF4-FFF2-40B4-BE49-F238E27FC236}">
                <a16:creationId xmlns:a16="http://schemas.microsoft.com/office/drawing/2014/main" id="{C10DCE8B-9758-94DA-0376-258B6E67E5B4}"/>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14" name="powerpoint template design by DAJU_PPT正版来源小红书大橘PPT微信DAJU_PPT请勿抄袭搬运！盗版必究！">
            <a:extLst>
              <a:ext uri="{FF2B5EF4-FFF2-40B4-BE49-F238E27FC236}">
                <a16:creationId xmlns:a16="http://schemas.microsoft.com/office/drawing/2014/main" id="{307B57F9-AE9B-0AD6-5149-252B6B543D67}"/>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000" i="0" u="none" strike="noStrike" cap="none" spc="0" dirty="0">
                <a:ln>
                  <a:noFill/>
                </a:ln>
                <a:solidFill>
                  <a:schemeClr val="bg1">
                    <a:alpha val="70000"/>
                  </a:schemeClr>
                </a:solidFill>
                <a:cs typeface="+mn-ea"/>
              </a:rPr>
              <a:t>考核题目讲解</a:t>
            </a:r>
            <a:endParaRPr lang="en-US" sz="2000" i="0" u="none" strike="noStrike" cap="none" spc="0" dirty="0">
              <a:ln>
                <a:noFill/>
              </a:ln>
              <a:solidFill>
                <a:schemeClr val="bg1">
                  <a:alpha val="70000"/>
                </a:schemeClr>
              </a:solidFill>
              <a:cs typeface="+mn-ea"/>
            </a:endParaRPr>
          </a:p>
        </p:txBody>
      </p:sp>
      <p:cxnSp>
        <p:nvCxnSpPr>
          <p:cNvPr id="15" name="powerpoint template design by DAJU_PPT正版来源小红书大橘PPT微信DAJU_PPT请勿抄袭搬运！盗版必究！">
            <a:extLst>
              <a:ext uri="{FF2B5EF4-FFF2-40B4-BE49-F238E27FC236}">
                <a16:creationId xmlns:a16="http://schemas.microsoft.com/office/drawing/2014/main" id="{C4C832EA-CA00-2C79-50A2-AD5E8C427714}"/>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powerpoint template design by DAJU_PPT正版来源小红书大橘PPT微信DAJU_PPT请勿抄袭搬运！盗版必究！">
            <a:extLst>
              <a:ext uri="{FF2B5EF4-FFF2-40B4-BE49-F238E27FC236}">
                <a16:creationId xmlns:a16="http://schemas.microsoft.com/office/drawing/2014/main" id="{BFEEFFCF-87C4-4792-5397-0E5584E7BFE9}"/>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powerpoint template design by DAJU_PPT正版来源小红书大橘PPT微信DAJU_PPT请勿抄袭搬运！盗版必究！">
            <a:extLst>
              <a:ext uri="{FF2B5EF4-FFF2-40B4-BE49-F238E27FC236}">
                <a16:creationId xmlns:a16="http://schemas.microsoft.com/office/drawing/2014/main" id="{74F0B58E-B4F2-7BB6-7FFF-8F5E16D97668}"/>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18" name="图片 3">
            <a:extLst>
              <a:ext uri="{FF2B5EF4-FFF2-40B4-BE49-F238E27FC236}">
                <a16:creationId xmlns:a16="http://schemas.microsoft.com/office/drawing/2014/main" id="{32CC2915-DCF1-59E6-76F8-177C00E7CC7A}"/>
              </a:ext>
            </a:extLst>
          </p:cNvPr>
          <p:cNvPicPr>
            <a:picLocks noChangeAspect="1"/>
          </p:cNvPicPr>
          <p:nvPr/>
        </p:nvPicPr>
        <p:blipFill rotWithShape="1">
          <a:blip r:embed="rId3"/>
          <a:stretch/>
        </p:blipFill>
        <p:spPr bwMode="auto">
          <a:xfrm>
            <a:off x="0" y="0"/>
            <a:ext cx="778510" cy="720090"/>
          </a:xfrm>
          <a:prstGeom prst="rect">
            <a:avLst/>
          </a:prstGeom>
        </p:spPr>
      </p:pic>
      <p:sp>
        <p:nvSpPr>
          <p:cNvPr id="19" name="powerpoint template design by DAJU_PPT正版来源小红书大橘PPT微信DAJU_PPT请勿抄袭搬运！盗版必究！">
            <a:extLst>
              <a:ext uri="{FF2B5EF4-FFF2-40B4-BE49-F238E27FC236}">
                <a16:creationId xmlns:a16="http://schemas.microsoft.com/office/drawing/2014/main" id="{9A83F0F4-10CA-8A3D-C75D-84467D8F1D14}"/>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20" name="powerpoint template design by DAJU_PPT正版来源小红书大橘PPT微信DAJU_PPT请勿抄袭搬运！盗版必究！">
            <a:extLst>
              <a:ext uri="{FF2B5EF4-FFF2-40B4-BE49-F238E27FC236}">
                <a16:creationId xmlns:a16="http://schemas.microsoft.com/office/drawing/2014/main" id="{4D895C4A-19CB-9627-3CD5-C70916AFB49F}"/>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dirty="0" err="1">
                <a:solidFill>
                  <a:schemeClr val="bg1">
                    <a:alpha val="70000"/>
                  </a:schemeClr>
                </a:solidFill>
                <a:cs typeface="+mn-ea"/>
              </a:rPr>
              <a:t>Makefile</a:t>
            </a:r>
            <a:r>
              <a:rPr lang="zh-CN" altLang="en-US" sz="2000" dirty="0">
                <a:solidFill>
                  <a:schemeClr val="bg1">
                    <a:alpha val="70000"/>
                  </a:schemeClr>
                </a:solidFill>
                <a:cs typeface="+mn-ea"/>
              </a:rPr>
              <a:t>调用链</a:t>
            </a:r>
            <a:endParaRPr lang="en-US" sz="2000" i="0" u="none" strike="noStrike" cap="none" spc="0" dirty="0">
              <a:ln>
                <a:noFill/>
              </a:ln>
              <a:solidFill>
                <a:schemeClr val="bg1">
                  <a:alpha val="70000"/>
                </a:schemeClr>
              </a:solidFill>
              <a:cs typeface="+mn-ea"/>
            </a:endParaRPr>
          </a:p>
        </p:txBody>
      </p:sp>
      <p:sp>
        <p:nvSpPr>
          <p:cNvPr id="21" name="powerpoint template design by DAJU_PPT正版来源小红书大橘PPT微信DAJU_PPT请勿抄袭搬运！盗版必究！">
            <a:extLst>
              <a:ext uri="{FF2B5EF4-FFF2-40B4-BE49-F238E27FC236}">
                <a16:creationId xmlns:a16="http://schemas.microsoft.com/office/drawing/2014/main" id="{E3CFD62C-55B8-D77A-4796-C755332E0AF6}"/>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800" b="1" i="0" u="none" strike="noStrike" cap="none" spc="0" dirty="0">
                <a:ln>
                  <a:noFill/>
                </a:ln>
                <a:solidFill>
                  <a:srgbClr val="00B050">
                    <a:alpha val="70000"/>
                  </a:srgbClr>
                </a:solidFill>
                <a:cs typeface="+mn-ea"/>
              </a:rPr>
              <a:t>架构</a:t>
            </a:r>
            <a:r>
              <a:rPr lang="zh-CN" sz="2800" b="1" i="0" u="none" strike="noStrike" cap="none" spc="0" dirty="0">
                <a:ln>
                  <a:noFill/>
                </a:ln>
                <a:solidFill>
                  <a:srgbClr val="00B050">
                    <a:alpha val="70000"/>
                  </a:srgbClr>
                </a:solidFill>
                <a:cs typeface="+mn-ea"/>
              </a:rPr>
              <a:t>讲解</a:t>
            </a:r>
            <a:endParaRPr lang="en-US" sz="2800" b="1" i="0" u="none" strike="noStrike" cap="none" spc="0" dirty="0">
              <a:ln>
                <a:noFill/>
              </a:ln>
              <a:solidFill>
                <a:srgbClr val="00B050">
                  <a:alpha val="70000"/>
                </a:srgbClr>
              </a:solidFill>
              <a:cs typeface="+mn-ea"/>
            </a:endParaRPr>
          </a:p>
        </p:txBody>
      </p:sp>
      <p:cxnSp>
        <p:nvCxnSpPr>
          <p:cNvPr id="22" name="直接连接符 21">
            <a:extLst>
              <a:ext uri="{FF2B5EF4-FFF2-40B4-BE49-F238E27FC236}">
                <a16:creationId xmlns:a16="http://schemas.microsoft.com/office/drawing/2014/main" id="{F16F09EB-EDFE-E2D2-4EDE-AF8D7C628F8E}"/>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BDD0E30C-2234-DB5D-C67A-23696B4F865F}"/>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84365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9D3D85B-C768-A17F-EA63-BBCB164E512C}"/>
            </a:ext>
          </a:extLst>
        </p:cNvPr>
        <p:cNvGrpSpPr/>
        <p:nvPr/>
      </p:nvGrpSpPr>
      <p:grpSpPr bwMode="auto">
        <a:xfrm>
          <a:off x="0" y="0"/>
          <a:ext cx="0" cy="0"/>
          <a:chOff x="0" y="0"/>
          <a:chExt cx="0" cy="0"/>
        </a:xfrm>
      </p:grpSpPr>
      <p:sp>
        <p:nvSpPr>
          <p:cNvPr id="600543380" name="应用程序">
            <a:extLst>
              <a:ext uri="{FF2B5EF4-FFF2-40B4-BE49-F238E27FC236}">
                <a16:creationId xmlns:a16="http://schemas.microsoft.com/office/drawing/2014/main" id="{4E4853F6-C838-BD52-B3B4-C56CBFBACC2C}"/>
              </a:ext>
            </a:extLst>
          </p:cNvPr>
          <p:cNvSpPr/>
          <p:nvPr/>
        </p:nvSpPr>
        <p:spPr bwMode="auto">
          <a:xfrm>
            <a:off x="2874117" y="1145183"/>
            <a:ext cx="3629855"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应用程序</a:t>
            </a:r>
            <a:r>
              <a:rPr lang="en-US" dirty="0"/>
              <a:t>(Navy apps)</a:t>
            </a:r>
            <a:endParaRPr dirty="0"/>
          </a:p>
        </p:txBody>
      </p:sp>
      <p:sp>
        <p:nvSpPr>
          <p:cNvPr id="806812025" name="系统库框架">
            <a:extLst>
              <a:ext uri="{FF2B5EF4-FFF2-40B4-BE49-F238E27FC236}">
                <a16:creationId xmlns:a16="http://schemas.microsoft.com/office/drawing/2014/main" id="{FEB909C1-BD57-B42E-3816-288A97B08BE7}"/>
              </a:ext>
            </a:extLst>
          </p:cNvPr>
          <p:cNvSpPr/>
          <p:nvPr/>
        </p:nvSpPr>
        <p:spPr bwMode="auto">
          <a:xfrm>
            <a:off x="2868489" y="1549562"/>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系统库框架层</a:t>
            </a:r>
            <a:r>
              <a:rPr lang="en-US" dirty="0"/>
              <a:t>(Navy libs)</a:t>
            </a:r>
            <a:endParaRPr dirty="0"/>
          </a:p>
        </p:txBody>
      </p:sp>
      <p:sp>
        <p:nvSpPr>
          <p:cNvPr id="971999399" name="系统内核">
            <a:extLst>
              <a:ext uri="{FF2B5EF4-FFF2-40B4-BE49-F238E27FC236}">
                <a16:creationId xmlns:a16="http://schemas.microsoft.com/office/drawing/2014/main" id="{360AC11C-A82C-3769-D86A-3E3E6C52741C}"/>
              </a:ext>
            </a:extLst>
          </p:cNvPr>
          <p:cNvSpPr/>
          <p:nvPr/>
        </p:nvSpPr>
        <p:spPr bwMode="auto">
          <a:xfrm>
            <a:off x="2868489" y="1967950"/>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系统内核</a:t>
            </a:r>
            <a:r>
              <a:rPr lang="en-US" dirty="0"/>
              <a:t>(Nanos)</a:t>
            </a:r>
            <a:endParaRPr dirty="0"/>
          </a:p>
        </p:txBody>
      </p:sp>
      <p:sp>
        <p:nvSpPr>
          <p:cNvPr id="1567425429" name="裸机程序">
            <a:extLst>
              <a:ext uri="{FF2B5EF4-FFF2-40B4-BE49-F238E27FC236}">
                <a16:creationId xmlns:a16="http://schemas.microsoft.com/office/drawing/2014/main" id="{03477210-FD22-24B8-4788-0960CBE507F4}"/>
              </a:ext>
            </a:extLst>
          </p:cNvPr>
          <p:cNvSpPr/>
          <p:nvPr/>
        </p:nvSpPr>
        <p:spPr bwMode="auto">
          <a:xfrm>
            <a:off x="1201735" y="1967949"/>
            <a:ext cx="1666755" cy="418386"/>
          </a:xfrm>
          <a:prstGeom prst="rect">
            <a:avLst/>
          </a:prstGeom>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AM</a:t>
            </a:r>
            <a:r>
              <a:rPr lang="zh-CN" altLang="en-US" dirty="0"/>
              <a:t>程序</a:t>
            </a:r>
            <a:endParaRPr dirty="0"/>
          </a:p>
        </p:txBody>
      </p:sp>
      <p:sp>
        <p:nvSpPr>
          <p:cNvPr id="534821804" name="硬件抽象">
            <a:extLst>
              <a:ext uri="{FF2B5EF4-FFF2-40B4-BE49-F238E27FC236}">
                <a16:creationId xmlns:a16="http://schemas.microsoft.com/office/drawing/2014/main" id="{D2CE6687-0C94-66D5-41E0-2DBB6987A409}"/>
              </a:ext>
            </a:extLst>
          </p:cNvPr>
          <p:cNvSpPr/>
          <p:nvPr/>
        </p:nvSpPr>
        <p:spPr bwMode="auto">
          <a:xfrm>
            <a:off x="1201735" y="2386337"/>
            <a:ext cx="5296610"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硬件抽象层</a:t>
            </a:r>
            <a:r>
              <a:rPr lang="en-US" dirty="0"/>
              <a:t>(AM)</a:t>
            </a:r>
            <a:endParaRPr dirty="0"/>
          </a:p>
        </p:txBody>
      </p:sp>
      <p:sp>
        <p:nvSpPr>
          <p:cNvPr id="40666242" name="NEMU虚拟机">
            <a:extLst>
              <a:ext uri="{FF2B5EF4-FFF2-40B4-BE49-F238E27FC236}">
                <a16:creationId xmlns:a16="http://schemas.microsoft.com/office/drawing/2014/main" id="{A3B8F99E-9325-8BEB-722F-B7E8B783AAD1}"/>
              </a:ext>
            </a:extLst>
          </p:cNvPr>
          <p:cNvSpPr/>
          <p:nvPr/>
        </p:nvSpPr>
        <p:spPr bwMode="auto">
          <a:xfrm>
            <a:off x="1092876" y="4021566"/>
            <a:ext cx="2675590"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虚拟机</a:t>
            </a:r>
            <a:r>
              <a:rPr lang="en-US" dirty="0"/>
              <a:t>(NEMU)</a:t>
            </a:r>
            <a:endParaRPr dirty="0"/>
          </a:p>
        </p:txBody>
      </p:sp>
      <p:sp>
        <p:nvSpPr>
          <p:cNvPr id="743261972" name="NPC">
            <a:extLst>
              <a:ext uri="{FF2B5EF4-FFF2-40B4-BE49-F238E27FC236}">
                <a16:creationId xmlns:a16="http://schemas.microsoft.com/office/drawing/2014/main" id="{70C5D2F7-8245-548D-045D-D08498124785}"/>
              </a:ext>
            </a:extLst>
          </p:cNvPr>
          <p:cNvSpPr/>
          <p:nvPr/>
        </p:nvSpPr>
        <p:spPr bwMode="auto">
          <a:xfrm>
            <a:off x="4062470" y="4021566"/>
            <a:ext cx="2621018"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NPC</a:t>
            </a:r>
            <a:endParaRPr/>
          </a:p>
        </p:txBody>
      </p:sp>
      <p:sp>
        <p:nvSpPr>
          <p:cNvPr id="1311028271" name="矩形 1311028270">
            <a:extLst>
              <a:ext uri="{FF2B5EF4-FFF2-40B4-BE49-F238E27FC236}">
                <a16:creationId xmlns:a16="http://schemas.microsoft.com/office/drawing/2014/main" id="{7210C10F-4565-7F15-4166-251B7DBB2FE3}"/>
              </a:ext>
            </a:extLst>
          </p:cNvPr>
          <p:cNvSpPr/>
          <p:nvPr/>
        </p:nvSpPr>
        <p:spPr bwMode="auto">
          <a:xfrm>
            <a:off x="3768466" y="2838398"/>
            <a:ext cx="414984" cy="957309"/>
          </a:xfrm>
          <a:prstGeom prst="rect">
            <a:avLst/>
          </a:prstGeom>
          <a:solidFill>
            <a:schemeClr val="bg2"/>
          </a:solidFill>
          <a:ln w="12700" cap="flat" cmpd="sng" algn="ctr">
            <a:solidFill>
              <a:schemeClr val="accent1">
                <a:shade val="50000"/>
                <a:alpha val="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600">
                <a:solidFill>
                  <a:schemeClr val="tx1"/>
                </a:solidFill>
              </a:rPr>
              <a:t>两种实现</a:t>
            </a:r>
            <a:endParaRPr>
              <a:solidFill>
                <a:schemeClr val="tx1"/>
              </a:solidFill>
            </a:endParaRPr>
          </a:p>
        </p:txBody>
      </p:sp>
      <p:sp>
        <p:nvSpPr>
          <p:cNvPr id="2328251" name="箭头: 下 2328250">
            <a:extLst>
              <a:ext uri="{FF2B5EF4-FFF2-40B4-BE49-F238E27FC236}">
                <a16:creationId xmlns:a16="http://schemas.microsoft.com/office/drawing/2014/main" id="{CF247D58-6251-A848-22C7-254626F92BB2}"/>
              </a:ext>
            </a:extLst>
          </p:cNvPr>
          <p:cNvSpPr/>
          <p:nvPr/>
        </p:nvSpPr>
        <p:spPr bwMode="auto">
          <a:xfrm>
            <a:off x="2378758" y="2804724"/>
            <a:ext cx="644620" cy="990983"/>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200"/>
              <a:t>软件实现</a:t>
            </a:r>
          </a:p>
        </p:txBody>
      </p:sp>
      <p:sp>
        <p:nvSpPr>
          <p:cNvPr id="1699098867" name="箭头: 下 1699098866">
            <a:extLst>
              <a:ext uri="{FF2B5EF4-FFF2-40B4-BE49-F238E27FC236}">
                <a16:creationId xmlns:a16="http://schemas.microsoft.com/office/drawing/2014/main" id="{33B1473D-633E-1B74-074E-86A847699C35}"/>
              </a:ext>
            </a:extLst>
          </p:cNvPr>
          <p:cNvSpPr/>
          <p:nvPr/>
        </p:nvSpPr>
        <p:spPr bwMode="auto">
          <a:xfrm>
            <a:off x="4728358" y="2816364"/>
            <a:ext cx="644620" cy="1029468"/>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a:t>RTL实现</a:t>
            </a:r>
            <a:endParaRPr sz="1200"/>
          </a:p>
        </p:txBody>
      </p:sp>
      <p:sp>
        <p:nvSpPr>
          <p:cNvPr id="16112946" name="电路综合">
            <a:extLst>
              <a:ext uri="{FF2B5EF4-FFF2-40B4-BE49-F238E27FC236}">
                <a16:creationId xmlns:a16="http://schemas.microsoft.com/office/drawing/2014/main" id="{2AE34FA0-1CED-79DB-A750-753CAA384EB5}"/>
              </a:ext>
            </a:extLst>
          </p:cNvPr>
          <p:cNvSpPr/>
          <p:nvPr/>
        </p:nvSpPr>
        <p:spPr bwMode="auto">
          <a:xfrm>
            <a:off x="4062470" y="4817104"/>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电路综合(Yosys)</a:t>
            </a:r>
            <a:endParaRPr/>
          </a:p>
        </p:txBody>
      </p:sp>
      <p:sp>
        <p:nvSpPr>
          <p:cNvPr id="813212810" name="布局布线">
            <a:extLst>
              <a:ext uri="{FF2B5EF4-FFF2-40B4-BE49-F238E27FC236}">
                <a16:creationId xmlns:a16="http://schemas.microsoft.com/office/drawing/2014/main" id="{DD40AA13-002D-17B1-AD09-5369105F94E7}"/>
              </a:ext>
            </a:extLst>
          </p:cNvPr>
          <p:cNvSpPr/>
          <p:nvPr/>
        </p:nvSpPr>
        <p:spPr bwMode="auto">
          <a:xfrm>
            <a:off x="4062470" y="5218648"/>
            <a:ext cx="2738705" cy="41838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布局布线(iEDA)</a:t>
            </a:r>
            <a:endParaRPr/>
          </a:p>
        </p:txBody>
      </p:sp>
      <p:sp>
        <p:nvSpPr>
          <p:cNvPr id="1835667885" name="嵌合分析">
            <a:extLst>
              <a:ext uri="{FF2B5EF4-FFF2-40B4-BE49-F238E27FC236}">
                <a16:creationId xmlns:a16="http://schemas.microsoft.com/office/drawing/2014/main" id="{CC153F96-9905-3BC5-DAAA-9933CA763F56}"/>
              </a:ext>
            </a:extLst>
          </p:cNvPr>
          <p:cNvSpPr/>
          <p:nvPr/>
        </p:nvSpPr>
        <p:spPr bwMode="auto">
          <a:xfrm>
            <a:off x="4062470" y="5637036"/>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签核</a:t>
            </a:r>
            <a:r>
              <a:rPr lang="en-US"/>
              <a:t>分析</a:t>
            </a:r>
            <a:endParaRPr/>
          </a:p>
        </p:txBody>
      </p:sp>
      <p:sp>
        <p:nvSpPr>
          <p:cNvPr id="127215868" name="流片制造">
            <a:extLst>
              <a:ext uri="{FF2B5EF4-FFF2-40B4-BE49-F238E27FC236}">
                <a16:creationId xmlns:a16="http://schemas.microsoft.com/office/drawing/2014/main" id="{98BEA67C-81F5-D137-20CB-85306878C9D2}"/>
              </a:ext>
            </a:extLst>
          </p:cNvPr>
          <p:cNvSpPr/>
          <p:nvPr/>
        </p:nvSpPr>
        <p:spPr bwMode="auto">
          <a:xfrm>
            <a:off x="4062470" y="6055425"/>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流片制造</a:t>
            </a:r>
          </a:p>
        </p:txBody>
      </p:sp>
      <p:sp>
        <p:nvSpPr>
          <p:cNvPr id="328657211" name="文本框 NavyLib" hidden="1">
            <a:extLst>
              <a:ext uri="{FF2B5EF4-FFF2-40B4-BE49-F238E27FC236}">
                <a16:creationId xmlns:a16="http://schemas.microsoft.com/office/drawing/2014/main" id="{5FA8D603-312C-4A96-1C13-30E67550B1D5}"/>
              </a:ext>
            </a:extLst>
          </p:cNvPr>
          <p:cNvSpPr txBox="1"/>
          <p:nvPr/>
        </p:nvSpPr>
        <p:spPr bwMode="auto">
          <a:xfrm>
            <a:off x="7524362" y="3520663"/>
            <a:ext cx="3927777" cy="211637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dirty="0" err="1"/>
              <a:t>基于Nanos内核的程序库环境支持</a:t>
            </a:r>
            <a:r>
              <a:rPr lang="en-US" dirty="0"/>
              <a:t>/</a:t>
            </a:r>
            <a:r>
              <a:rPr lang="en-US" dirty="0" err="1"/>
              <a:t>适配，可编写</a:t>
            </a:r>
            <a:r>
              <a:rPr lang="en-US" dirty="0"/>
              <a:t>/</a:t>
            </a:r>
            <a:r>
              <a:rPr lang="en-US" dirty="0" err="1"/>
              <a:t>移植更强大丰富的应用程序</a:t>
            </a:r>
            <a:r>
              <a:rPr lang="en-US" dirty="0"/>
              <a:t>。</a:t>
            </a:r>
          </a:p>
          <a:p>
            <a:pPr marL="283878" indent="-283878">
              <a:buAutoNum type="arabicPeriod"/>
              <a:defRPr/>
            </a:pPr>
            <a:r>
              <a:rPr lang="en-US" dirty="0" err="1"/>
              <a:t>Nanos系统调用库</a:t>
            </a:r>
            <a:endParaRPr lang="en-US" dirty="0"/>
          </a:p>
          <a:p>
            <a:pPr>
              <a:defRPr/>
            </a:pPr>
            <a:r>
              <a:rPr lang="en-US" sz="1800" b="0" i="0" u="none" strike="noStrike" cap="none" spc="0" dirty="0">
                <a:solidFill>
                  <a:schemeClr val="tx1"/>
                </a:solidFill>
                <a:latin typeface="Arial"/>
                <a:ea typeface="微软雅黑"/>
                <a:cs typeface="Arial"/>
              </a:rPr>
              <a:t>2. </a:t>
            </a:r>
            <a:r>
              <a:rPr lang="en-US" sz="1800" b="0" i="0" u="none" strike="noStrike" cap="none" spc="0" dirty="0" err="1">
                <a:solidFill>
                  <a:schemeClr val="tx1"/>
                </a:solidFill>
                <a:latin typeface="Arial"/>
                <a:ea typeface="微软雅黑"/>
                <a:cs typeface="Arial"/>
              </a:rPr>
              <a:t>运行环境库</a:t>
            </a:r>
            <a:endParaRPr lang="en-US" dirty="0"/>
          </a:p>
          <a:p>
            <a:pPr>
              <a:defRPr/>
            </a:pPr>
            <a:r>
              <a:rPr lang="en-US" sz="1800" b="0" i="0" u="none" strike="noStrike" cap="none" spc="0" dirty="0">
                <a:solidFill>
                  <a:schemeClr val="tx1"/>
                </a:solidFill>
                <a:latin typeface="Arial"/>
                <a:ea typeface="微软雅黑"/>
                <a:cs typeface="Arial"/>
              </a:rPr>
              <a:t>3. </a:t>
            </a:r>
            <a:r>
              <a:rPr lang="en-US" sz="1800" b="0" i="0" u="none" strike="noStrike" cap="none" spc="0" dirty="0" err="1">
                <a:solidFill>
                  <a:schemeClr val="tx1"/>
                </a:solidFill>
                <a:latin typeface="Arial"/>
                <a:ea typeface="微软雅黑"/>
                <a:cs typeface="Arial"/>
              </a:rPr>
              <a:t>媒体硬件库</a:t>
            </a:r>
            <a:r>
              <a:rPr lang="en-US" dirty="0"/>
              <a:t>/</a:t>
            </a:r>
            <a:r>
              <a:rPr lang="en-US" dirty="0" err="1"/>
              <a:t>资源解析库</a:t>
            </a:r>
            <a:endParaRPr sz="1800" dirty="0"/>
          </a:p>
          <a:p>
            <a:pPr>
              <a:defRPr/>
            </a:pPr>
            <a:r>
              <a:rPr lang="en-US" dirty="0"/>
              <a:t>4. </a:t>
            </a:r>
            <a:r>
              <a:rPr lang="en-US" dirty="0" err="1"/>
              <a:t>应用镜像文件打包</a:t>
            </a:r>
            <a:endParaRPr lang="en-US" dirty="0"/>
          </a:p>
        </p:txBody>
      </p:sp>
      <p:sp>
        <p:nvSpPr>
          <p:cNvPr id="3" name="矩形 2">
            <a:extLst>
              <a:ext uri="{FF2B5EF4-FFF2-40B4-BE49-F238E27FC236}">
                <a16:creationId xmlns:a16="http://schemas.microsoft.com/office/drawing/2014/main" id="{E42E15C5-FA50-0A57-FC89-0BA3A274E518}"/>
              </a:ext>
            </a:extLst>
          </p:cNvPr>
          <p:cNvSpPr/>
          <p:nvPr/>
        </p:nvSpPr>
        <p:spPr>
          <a:xfrm>
            <a:off x="1040265" y="5115660"/>
            <a:ext cx="270456" cy="248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F2908436-1F52-07E7-AF24-0D2E99FFF004}"/>
              </a:ext>
            </a:extLst>
          </p:cNvPr>
          <p:cNvSpPr txBox="1"/>
          <p:nvPr/>
        </p:nvSpPr>
        <p:spPr>
          <a:xfrm>
            <a:off x="1547495" y="5050824"/>
            <a:ext cx="940157" cy="369332"/>
          </a:xfrm>
          <a:prstGeom prst="rect">
            <a:avLst/>
          </a:prstGeom>
          <a:noFill/>
        </p:spPr>
        <p:txBody>
          <a:bodyPr wrap="square" rtlCol="0">
            <a:spAutoFit/>
          </a:bodyPr>
          <a:lstStyle/>
          <a:p>
            <a:r>
              <a:rPr lang="zh-CN" altLang="en-US" dirty="0"/>
              <a:t>软件层</a:t>
            </a:r>
          </a:p>
        </p:txBody>
      </p:sp>
      <p:sp>
        <p:nvSpPr>
          <p:cNvPr id="5" name="矩形 4">
            <a:extLst>
              <a:ext uri="{FF2B5EF4-FFF2-40B4-BE49-F238E27FC236}">
                <a16:creationId xmlns:a16="http://schemas.microsoft.com/office/drawing/2014/main" id="{6ADE21D3-CB15-04CD-EF02-D3BD1928FF47}"/>
              </a:ext>
            </a:extLst>
          </p:cNvPr>
          <p:cNvSpPr/>
          <p:nvPr/>
        </p:nvSpPr>
        <p:spPr>
          <a:xfrm>
            <a:off x="1046284" y="5508222"/>
            <a:ext cx="270456" cy="2489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00"/>
              </a:solidFill>
            </a:endParaRPr>
          </a:p>
        </p:txBody>
      </p:sp>
      <p:sp>
        <p:nvSpPr>
          <p:cNvPr id="6" name="文本框 5">
            <a:extLst>
              <a:ext uri="{FF2B5EF4-FFF2-40B4-BE49-F238E27FC236}">
                <a16:creationId xmlns:a16="http://schemas.microsoft.com/office/drawing/2014/main" id="{488FA1D1-CD8C-F60B-A274-433F49FD346F}"/>
              </a:ext>
            </a:extLst>
          </p:cNvPr>
          <p:cNvSpPr txBox="1"/>
          <p:nvPr/>
        </p:nvSpPr>
        <p:spPr>
          <a:xfrm>
            <a:off x="1553514" y="5443386"/>
            <a:ext cx="1423537" cy="369332"/>
          </a:xfrm>
          <a:prstGeom prst="rect">
            <a:avLst/>
          </a:prstGeom>
          <a:noFill/>
        </p:spPr>
        <p:txBody>
          <a:bodyPr wrap="square" rtlCol="0">
            <a:spAutoFit/>
          </a:bodyPr>
          <a:lstStyle/>
          <a:p>
            <a:r>
              <a:rPr lang="zh-CN" altLang="en-US" dirty="0"/>
              <a:t>硬件模拟层</a:t>
            </a:r>
          </a:p>
        </p:txBody>
      </p:sp>
      <p:sp>
        <p:nvSpPr>
          <p:cNvPr id="7" name="矩形 6">
            <a:extLst>
              <a:ext uri="{FF2B5EF4-FFF2-40B4-BE49-F238E27FC236}">
                <a16:creationId xmlns:a16="http://schemas.microsoft.com/office/drawing/2014/main" id="{5753AA27-53A6-8FD6-B4EE-B4164997FE43}"/>
              </a:ext>
            </a:extLst>
          </p:cNvPr>
          <p:cNvSpPr/>
          <p:nvPr/>
        </p:nvSpPr>
        <p:spPr>
          <a:xfrm>
            <a:off x="1046284" y="5889925"/>
            <a:ext cx="270456" cy="248991"/>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87481570-AD67-DF05-0F62-A34958248B19}"/>
              </a:ext>
            </a:extLst>
          </p:cNvPr>
          <p:cNvSpPr txBox="1"/>
          <p:nvPr/>
        </p:nvSpPr>
        <p:spPr>
          <a:xfrm>
            <a:off x="1553514" y="5825089"/>
            <a:ext cx="1423537" cy="369332"/>
          </a:xfrm>
          <a:prstGeom prst="rect">
            <a:avLst/>
          </a:prstGeom>
          <a:noFill/>
        </p:spPr>
        <p:txBody>
          <a:bodyPr wrap="square" rtlCol="0">
            <a:spAutoFit/>
          </a:bodyPr>
          <a:lstStyle/>
          <a:p>
            <a:r>
              <a:rPr lang="zh-CN" altLang="en-US" dirty="0"/>
              <a:t>硬件实现层</a:t>
            </a:r>
          </a:p>
        </p:txBody>
      </p:sp>
      <p:sp>
        <p:nvSpPr>
          <p:cNvPr id="9" name="箭头: 下 8">
            <a:extLst>
              <a:ext uri="{FF2B5EF4-FFF2-40B4-BE49-F238E27FC236}">
                <a16:creationId xmlns:a16="http://schemas.microsoft.com/office/drawing/2014/main" id="{5CD6AAFE-73B5-2968-05BF-323F19F90CDB}"/>
              </a:ext>
            </a:extLst>
          </p:cNvPr>
          <p:cNvSpPr/>
          <p:nvPr/>
        </p:nvSpPr>
        <p:spPr>
          <a:xfrm>
            <a:off x="4728358" y="4439496"/>
            <a:ext cx="767204" cy="352379"/>
          </a:xfrm>
          <a:prstGeom prst="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976F8C7B-B8C9-CDF6-91E5-AD1308EEAC45}"/>
              </a:ext>
            </a:extLst>
          </p:cNvPr>
          <p:cNvSpPr txBox="1"/>
          <p:nvPr/>
        </p:nvSpPr>
        <p:spPr>
          <a:xfrm>
            <a:off x="5495562" y="4414267"/>
            <a:ext cx="1650381" cy="369332"/>
          </a:xfrm>
          <a:prstGeom prst="rect">
            <a:avLst/>
          </a:prstGeom>
          <a:noFill/>
        </p:spPr>
        <p:txBody>
          <a:bodyPr wrap="square" rtlCol="0">
            <a:spAutoFit/>
          </a:bodyPr>
          <a:lstStyle/>
          <a:p>
            <a:r>
              <a:rPr lang="zh-CN" altLang="en-US" dirty="0"/>
              <a:t>行为仿真通过</a:t>
            </a:r>
          </a:p>
        </p:txBody>
      </p:sp>
      <p:sp>
        <p:nvSpPr>
          <p:cNvPr id="11" name="矩形 10">
            <a:extLst>
              <a:ext uri="{FF2B5EF4-FFF2-40B4-BE49-F238E27FC236}">
                <a16:creationId xmlns:a16="http://schemas.microsoft.com/office/drawing/2014/main" id="{CC3A091D-C28B-3CD0-F8CF-7F9FFC95B1B1}"/>
              </a:ext>
            </a:extLst>
          </p:cNvPr>
          <p:cNvSpPr/>
          <p:nvPr/>
        </p:nvSpPr>
        <p:spPr>
          <a:xfrm>
            <a:off x="1040265" y="4687302"/>
            <a:ext cx="270456" cy="24899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9412456D-64D0-AD1B-1940-BE84E911D16D}"/>
              </a:ext>
            </a:extLst>
          </p:cNvPr>
          <p:cNvSpPr txBox="1"/>
          <p:nvPr/>
        </p:nvSpPr>
        <p:spPr>
          <a:xfrm>
            <a:off x="1547495" y="4622466"/>
            <a:ext cx="1124337" cy="369332"/>
          </a:xfrm>
          <a:prstGeom prst="rect">
            <a:avLst/>
          </a:prstGeom>
          <a:noFill/>
        </p:spPr>
        <p:txBody>
          <a:bodyPr wrap="square" rtlCol="0">
            <a:spAutoFit/>
          </a:bodyPr>
          <a:lstStyle/>
          <a:p>
            <a:r>
              <a:rPr lang="zh-CN" altLang="en-US" dirty="0"/>
              <a:t>当前演示</a:t>
            </a:r>
          </a:p>
        </p:txBody>
      </p:sp>
      <p:sp>
        <p:nvSpPr>
          <p:cNvPr id="496486137" name="文本框 496486136">
            <a:extLst>
              <a:ext uri="{FF2B5EF4-FFF2-40B4-BE49-F238E27FC236}">
                <a16:creationId xmlns:a16="http://schemas.microsoft.com/office/drawing/2014/main" id="{B83A350F-216D-059B-28E4-4BD6C1ADA58C}"/>
              </a:ext>
            </a:extLst>
          </p:cNvPr>
          <p:cNvSpPr txBox="1"/>
          <p:nvPr/>
        </p:nvSpPr>
        <p:spPr bwMode="auto">
          <a:xfrm>
            <a:off x="7451548" y="1108226"/>
            <a:ext cx="4133337" cy="431849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342900" indent="-342900">
              <a:buAutoNum type="arabicPeriod"/>
              <a:defRPr/>
            </a:pPr>
            <a:r>
              <a:rPr lang="zh-CN" altLang="en-US" dirty="0"/>
              <a:t>电源与</a:t>
            </a:r>
            <a:r>
              <a:rPr lang="en-US" altLang="zh-CN" dirty="0"/>
              <a:t>IO</a:t>
            </a:r>
            <a:r>
              <a:rPr lang="zh-CN" altLang="en-US" dirty="0"/>
              <a:t>布局</a:t>
            </a:r>
            <a:endParaRPr lang="en-US" altLang="zh-CN" dirty="0"/>
          </a:p>
          <a:p>
            <a:pPr marL="342900" indent="-342900">
              <a:buAutoNum type="arabicPeriod"/>
              <a:defRPr/>
            </a:pPr>
            <a:r>
              <a:rPr lang="zh-CN" altLang="en-US" dirty="0"/>
              <a:t>电源与时钟网格规划</a:t>
            </a:r>
            <a:endParaRPr lang="en-US" altLang="zh-CN" dirty="0"/>
          </a:p>
          <a:p>
            <a:pPr marL="342900" indent="-342900">
              <a:buAutoNum type="arabicPeriod"/>
              <a:defRPr/>
            </a:pPr>
            <a:r>
              <a:rPr lang="zh-CN" altLang="en-US" dirty="0"/>
              <a:t>各种级别单元库的布局布线</a:t>
            </a:r>
            <a:endParaRPr lang="en-US" altLang="zh-CN" dirty="0"/>
          </a:p>
          <a:p>
            <a:pPr marL="342900" indent="-342900">
              <a:buAutoNum type="arabicPeriod"/>
              <a:defRPr/>
            </a:pPr>
            <a:r>
              <a:rPr lang="zh-CN" altLang="en-US" dirty="0"/>
              <a:t>时钟树综合</a:t>
            </a:r>
            <a:endParaRPr lang="en-US" altLang="zh-CN" dirty="0"/>
          </a:p>
          <a:p>
            <a:pPr marL="342900" indent="-342900">
              <a:buAutoNum type="arabicPeriod"/>
              <a:defRPr/>
            </a:pPr>
            <a:r>
              <a:rPr lang="zh-CN" altLang="en-US" dirty="0"/>
              <a:t>插入去耦、天线、空白、扫描单元</a:t>
            </a:r>
            <a:endParaRPr lang="en-US" altLang="zh-CN" dirty="0"/>
          </a:p>
          <a:p>
            <a:pPr marL="342900" indent="-342900">
              <a:buAutoNum type="arabicPeriod"/>
              <a:defRPr/>
            </a:pPr>
            <a:r>
              <a:rPr lang="zh-CN" altLang="en-US" dirty="0"/>
              <a:t>完整的后端</a:t>
            </a:r>
            <a:r>
              <a:rPr lang="en-US" altLang="zh-CN" dirty="0"/>
              <a:t>PPA</a:t>
            </a:r>
            <a:r>
              <a:rPr lang="zh-CN" altLang="en-US" dirty="0"/>
              <a:t>报告分析</a:t>
            </a:r>
            <a:endParaRPr lang="en-US" altLang="zh-CN" dirty="0"/>
          </a:p>
          <a:p>
            <a:pPr marL="342900" indent="-342900">
              <a:buAutoNum type="arabicPeriod"/>
              <a:defRPr/>
            </a:pPr>
            <a:r>
              <a:rPr lang="zh-CN" altLang="en-US" dirty="0"/>
              <a:t>各种一致性检查</a:t>
            </a:r>
            <a:endParaRPr lang="en-US" altLang="zh-CN" dirty="0"/>
          </a:p>
          <a:p>
            <a:pPr marL="342900" indent="-342900">
              <a:buAutoNum type="arabicPeriod"/>
              <a:defRPr/>
            </a:pPr>
            <a:endParaRPr lang="en-US" altLang="zh-CN" dirty="0"/>
          </a:p>
          <a:p>
            <a:pPr>
              <a:defRPr/>
            </a:pPr>
            <a:r>
              <a:rPr lang="zh-CN" altLang="en-US" dirty="0"/>
              <a:t>后端产出版图文件，物理上实现并对齐了上游的网表设计，但还要对齐下游的可制造。</a:t>
            </a:r>
            <a:endParaRPr lang="en-US" altLang="zh-CN" dirty="0"/>
          </a:p>
        </p:txBody>
      </p:sp>
      <p:sp>
        <p:nvSpPr>
          <p:cNvPr id="2" name="powerpoint template design by DAJU_PPT正版来源小红书大橘PPT微信DAJU_PPT请勿抄袭搬运！盗版必究！">
            <a:extLst>
              <a:ext uri="{FF2B5EF4-FFF2-40B4-BE49-F238E27FC236}">
                <a16:creationId xmlns:a16="http://schemas.microsoft.com/office/drawing/2014/main" id="{BA3C617E-8D30-73D7-37F7-75786F3471CF}"/>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13" name="powerpoint template design by DAJU_PPT正版来源小红书大橘PPT微信DAJU_PPT请勿抄袭搬运！盗版必究！">
            <a:extLst>
              <a:ext uri="{FF2B5EF4-FFF2-40B4-BE49-F238E27FC236}">
                <a16:creationId xmlns:a16="http://schemas.microsoft.com/office/drawing/2014/main" id="{907C5B8B-67E3-CA32-D059-46167186D9D6}"/>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14" name="powerpoint template design by DAJU_PPT正版来源小红书大橘PPT微信DAJU_PPT请勿抄袭搬运！盗版必究！">
            <a:extLst>
              <a:ext uri="{FF2B5EF4-FFF2-40B4-BE49-F238E27FC236}">
                <a16:creationId xmlns:a16="http://schemas.microsoft.com/office/drawing/2014/main" id="{3AE0D79B-8FB9-A9E2-DD6C-83CD03E953DB}"/>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000" i="0" u="none" strike="noStrike" cap="none" spc="0" dirty="0">
                <a:ln>
                  <a:noFill/>
                </a:ln>
                <a:solidFill>
                  <a:schemeClr val="bg1">
                    <a:alpha val="70000"/>
                  </a:schemeClr>
                </a:solidFill>
                <a:cs typeface="+mn-ea"/>
              </a:rPr>
              <a:t>考核题目讲解</a:t>
            </a:r>
            <a:endParaRPr lang="en-US" sz="2000" i="0" u="none" strike="noStrike" cap="none" spc="0" dirty="0">
              <a:ln>
                <a:noFill/>
              </a:ln>
              <a:solidFill>
                <a:schemeClr val="bg1">
                  <a:alpha val="70000"/>
                </a:schemeClr>
              </a:solidFill>
              <a:cs typeface="+mn-ea"/>
            </a:endParaRPr>
          </a:p>
        </p:txBody>
      </p:sp>
      <p:cxnSp>
        <p:nvCxnSpPr>
          <p:cNvPr id="15" name="powerpoint template design by DAJU_PPT正版来源小红书大橘PPT微信DAJU_PPT请勿抄袭搬运！盗版必究！">
            <a:extLst>
              <a:ext uri="{FF2B5EF4-FFF2-40B4-BE49-F238E27FC236}">
                <a16:creationId xmlns:a16="http://schemas.microsoft.com/office/drawing/2014/main" id="{0880DCC3-1DF6-B6E7-5332-43312F9F3C52}"/>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powerpoint template design by DAJU_PPT正版来源小红书大橘PPT微信DAJU_PPT请勿抄袭搬运！盗版必究！">
            <a:extLst>
              <a:ext uri="{FF2B5EF4-FFF2-40B4-BE49-F238E27FC236}">
                <a16:creationId xmlns:a16="http://schemas.microsoft.com/office/drawing/2014/main" id="{EA33A4E7-2B88-1A6B-1051-A0E2A3574163}"/>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powerpoint template design by DAJU_PPT正版来源小红书大橘PPT微信DAJU_PPT请勿抄袭搬运！盗版必究！">
            <a:extLst>
              <a:ext uri="{FF2B5EF4-FFF2-40B4-BE49-F238E27FC236}">
                <a16:creationId xmlns:a16="http://schemas.microsoft.com/office/drawing/2014/main" id="{FDF74944-A3D2-32A6-DBC4-81D8D072E374}"/>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18" name="图片 3">
            <a:extLst>
              <a:ext uri="{FF2B5EF4-FFF2-40B4-BE49-F238E27FC236}">
                <a16:creationId xmlns:a16="http://schemas.microsoft.com/office/drawing/2014/main" id="{B1D67035-4961-0C88-ADFC-3F3CEECDD3D3}"/>
              </a:ext>
            </a:extLst>
          </p:cNvPr>
          <p:cNvPicPr>
            <a:picLocks noChangeAspect="1"/>
          </p:cNvPicPr>
          <p:nvPr/>
        </p:nvPicPr>
        <p:blipFill rotWithShape="1">
          <a:blip r:embed="rId3"/>
          <a:stretch/>
        </p:blipFill>
        <p:spPr bwMode="auto">
          <a:xfrm>
            <a:off x="0" y="0"/>
            <a:ext cx="778510" cy="720090"/>
          </a:xfrm>
          <a:prstGeom prst="rect">
            <a:avLst/>
          </a:prstGeom>
        </p:spPr>
      </p:pic>
      <p:sp>
        <p:nvSpPr>
          <p:cNvPr id="19" name="powerpoint template design by DAJU_PPT正版来源小红书大橘PPT微信DAJU_PPT请勿抄袭搬运！盗版必究！">
            <a:extLst>
              <a:ext uri="{FF2B5EF4-FFF2-40B4-BE49-F238E27FC236}">
                <a16:creationId xmlns:a16="http://schemas.microsoft.com/office/drawing/2014/main" id="{235035C0-F75A-A033-1F90-19BF34A8501A}"/>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20" name="powerpoint template design by DAJU_PPT正版来源小红书大橘PPT微信DAJU_PPT请勿抄袭搬运！盗版必究！">
            <a:extLst>
              <a:ext uri="{FF2B5EF4-FFF2-40B4-BE49-F238E27FC236}">
                <a16:creationId xmlns:a16="http://schemas.microsoft.com/office/drawing/2014/main" id="{2A33438B-4AC5-EDC3-A317-AFBAEE064251}"/>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dirty="0" err="1">
                <a:solidFill>
                  <a:schemeClr val="bg1">
                    <a:alpha val="70000"/>
                  </a:schemeClr>
                </a:solidFill>
                <a:cs typeface="+mn-ea"/>
              </a:rPr>
              <a:t>Makefile</a:t>
            </a:r>
            <a:r>
              <a:rPr lang="zh-CN" altLang="en-US" sz="2000" dirty="0">
                <a:solidFill>
                  <a:schemeClr val="bg1">
                    <a:alpha val="70000"/>
                  </a:schemeClr>
                </a:solidFill>
                <a:cs typeface="+mn-ea"/>
              </a:rPr>
              <a:t>调用链</a:t>
            </a:r>
            <a:endParaRPr lang="en-US" sz="2000" i="0" u="none" strike="noStrike" cap="none" spc="0" dirty="0">
              <a:ln>
                <a:noFill/>
              </a:ln>
              <a:solidFill>
                <a:schemeClr val="bg1">
                  <a:alpha val="70000"/>
                </a:schemeClr>
              </a:solidFill>
              <a:cs typeface="+mn-ea"/>
            </a:endParaRPr>
          </a:p>
        </p:txBody>
      </p:sp>
      <p:sp>
        <p:nvSpPr>
          <p:cNvPr id="21" name="powerpoint template design by DAJU_PPT正版来源小红书大橘PPT微信DAJU_PPT请勿抄袭搬运！盗版必究！">
            <a:extLst>
              <a:ext uri="{FF2B5EF4-FFF2-40B4-BE49-F238E27FC236}">
                <a16:creationId xmlns:a16="http://schemas.microsoft.com/office/drawing/2014/main" id="{F6DD477A-E29C-7CA3-59D5-F8AD209706DF}"/>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800" b="1" i="0" u="none" strike="noStrike" cap="none" spc="0" dirty="0">
                <a:ln>
                  <a:noFill/>
                </a:ln>
                <a:solidFill>
                  <a:srgbClr val="00B050">
                    <a:alpha val="70000"/>
                  </a:srgbClr>
                </a:solidFill>
                <a:cs typeface="+mn-ea"/>
              </a:rPr>
              <a:t>架构</a:t>
            </a:r>
            <a:r>
              <a:rPr lang="zh-CN" sz="2800" b="1" i="0" u="none" strike="noStrike" cap="none" spc="0" dirty="0">
                <a:ln>
                  <a:noFill/>
                </a:ln>
                <a:solidFill>
                  <a:srgbClr val="00B050">
                    <a:alpha val="70000"/>
                  </a:srgbClr>
                </a:solidFill>
                <a:cs typeface="+mn-ea"/>
              </a:rPr>
              <a:t>讲解</a:t>
            </a:r>
            <a:endParaRPr lang="en-US" sz="2800" b="1" i="0" u="none" strike="noStrike" cap="none" spc="0" dirty="0">
              <a:ln>
                <a:noFill/>
              </a:ln>
              <a:solidFill>
                <a:srgbClr val="00B050">
                  <a:alpha val="70000"/>
                </a:srgbClr>
              </a:solidFill>
              <a:cs typeface="+mn-ea"/>
            </a:endParaRPr>
          </a:p>
        </p:txBody>
      </p:sp>
      <p:cxnSp>
        <p:nvCxnSpPr>
          <p:cNvPr id="22" name="直接连接符 21">
            <a:extLst>
              <a:ext uri="{FF2B5EF4-FFF2-40B4-BE49-F238E27FC236}">
                <a16:creationId xmlns:a16="http://schemas.microsoft.com/office/drawing/2014/main" id="{EA41801C-0B1D-524C-E786-198046BA4B3C}"/>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C33FA01C-4381-DDE4-2E40-95A00C6175B5}"/>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96021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2D4F565-8A16-CFE2-96A6-45A327C5F1F7}"/>
            </a:ext>
          </a:extLst>
        </p:cNvPr>
        <p:cNvGrpSpPr/>
        <p:nvPr/>
      </p:nvGrpSpPr>
      <p:grpSpPr bwMode="auto">
        <a:xfrm>
          <a:off x="0" y="0"/>
          <a:ext cx="0" cy="0"/>
          <a:chOff x="0" y="0"/>
          <a:chExt cx="0" cy="0"/>
        </a:xfrm>
      </p:grpSpPr>
      <p:sp>
        <p:nvSpPr>
          <p:cNvPr id="600543380" name="应用程序">
            <a:extLst>
              <a:ext uri="{FF2B5EF4-FFF2-40B4-BE49-F238E27FC236}">
                <a16:creationId xmlns:a16="http://schemas.microsoft.com/office/drawing/2014/main" id="{576CF888-F9D5-64F6-A154-DEB97902A720}"/>
              </a:ext>
            </a:extLst>
          </p:cNvPr>
          <p:cNvSpPr/>
          <p:nvPr/>
        </p:nvSpPr>
        <p:spPr bwMode="auto">
          <a:xfrm>
            <a:off x="2874117" y="1145183"/>
            <a:ext cx="3629855"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应用程序</a:t>
            </a:r>
            <a:r>
              <a:rPr lang="en-US" dirty="0"/>
              <a:t>(Navy apps)</a:t>
            </a:r>
            <a:endParaRPr dirty="0"/>
          </a:p>
        </p:txBody>
      </p:sp>
      <p:sp>
        <p:nvSpPr>
          <p:cNvPr id="806812025" name="系统库框架">
            <a:extLst>
              <a:ext uri="{FF2B5EF4-FFF2-40B4-BE49-F238E27FC236}">
                <a16:creationId xmlns:a16="http://schemas.microsoft.com/office/drawing/2014/main" id="{4C825AC5-4E12-1AF0-3C3E-62AFE14C6307}"/>
              </a:ext>
            </a:extLst>
          </p:cNvPr>
          <p:cNvSpPr/>
          <p:nvPr/>
        </p:nvSpPr>
        <p:spPr bwMode="auto">
          <a:xfrm>
            <a:off x="2868489" y="1549562"/>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系统库框架层</a:t>
            </a:r>
            <a:r>
              <a:rPr lang="en-US" dirty="0"/>
              <a:t>(Navy libs)</a:t>
            </a:r>
            <a:endParaRPr dirty="0"/>
          </a:p>
        </p:txBody>
      </p:sp>
      <p:sp>
        <p:nvSpPr>
          <p:cNvPr id="971999399" name="系统内核">
            <a:extLst>
              <a:ext uri="{FF2B5EF4-FFF2-40B4-BE49-F238E27FC236}">
                <a16:creationId xmlns:a16="http://schemas.microsoft.com/office/drawing/2014/main" id="{C2122011-1255-49B6-D285-4502C7C1694B}"/>
              </a:ext>
            </a:extLst>
          </p:cNvPr>
          <p:cNvSpPr/>
          <p:nvPr/>
        </p:nvSpPr>
        <p:spPr bwMode="auto">
          <a:xfrm>
            <a:off x="2868489" y="1967950"/>
            <a:ext cx="3629855" cy="418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系统内核</a:t>
            </a:r>
            <a:r>
              <a:rPr lang="en-US" dirty="0"/>
              <a:t>(Nanos)</a:t>
            </a:r>
            <a:endParaRPr dirty="0"/>
          </a:p>
        </p:txBody>
      </p:sp>
      <p:sp>
        <p:nvSpPr>
          <p:cNvPr id="1567425429" name="裸机程序">
            <a:extLst>
              <a:ext uri="{FF2B5EF4-FFF2-40B4-BE49-F238E27FC236}">
                <a16:creationId xmlns:a16="http://schemas.microsoft.com/office/drawing/2014/main" id="{228B2786-5B68-8AD8-08F0-839381C1DC60}"/>
              </a:ext>
            </a:extLst>
          </p:cNvPr>
          <p:cNvSpPr/>
          <p:nvPr/>
        </p:nvSpPr>
        <p:spPr bwMode="auto">
          <a:xfrm>
            <a:off x="1201735" y="1967949"/>
            <a:ext cx="1666755" cy="418386"/>
          </a:xfrm>
          <a:prstGeom prst="rect">
            <a:avLst/>
          </a:prstGeom>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AM</a:t>
            </a:r>
            <a:r>
              <a:rPr lang="zh-CN" altLang="en-US" dirty="0"/>
              <a:t>程序</a:t>
            </a:r>
            <a:endParaRPr dirty="0"/>
          </a:p>
        </p:txBody>
      </p:sp>
      <p:sp>
        <p:nvSpPr>
          <p:cNvPr id="534821804" name="硬件抽象">
            <a:extLst>
              <a:ext uri="{FF2B5EF4-FFF2-40B4-BE49-F238E27FC236}">
                <a16:creationId xmlns:a16="http://schemas.microsoft.com/office/drawing/2014/main" id="{C7896C86-D868-0098-3662-ECD1774423C0}"/>
              </a:ext>
            </a:extLst>
          </p:cNvPr>
          <p:cNvSpPr/>
          <p:nvPr/>
        </p:nvSpPr>
        <p:spPr bwMode="auto">
          <a:xfrm>
            <a:off x="1201735" y="2386337"/>
            <a:ext cx="5296610" cy="41838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硬件抽象层</a:t>
            </a:r>
            <a:r>
              <a:rPr lang="en-US" dirty="0"/>
              <a:t>(AM)</a:t>
            </a:r>
            <a:endParaRPr dirty="0"/>
          </a:p>
        </p:txBody>
      </p:sp>
      <p:sp>
        <p:nvSpPr>
          <p:cNvPr id="40666242" name="NEMU虚拟机">
            <a:extLst>
              <a:ext uri="{FF2B5EF4-FFF2-40B4-BE49-F238E27FC236}">
                <a16:creationId xmlns:a16="http://schemas.microsoft.com/office/drawing/2014/main" id="{C920F113-1AA0-F235-E6FA-75048D1C4484}"/>
              </a:ext>
            </a:extLst>
          </p:cNvPr>
          <p:cNvSpPr/>
          <p:nvPr/>
        </p:nvSpPr>
        <p:spPr bwMode="auto">
          <a:xfrm>
            <a:off x="1092876" y="4021566"/>
            <a:ext cx="2675590"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虚拟机</a:t>
            </a:r>
            <a:r>
              <a:rPr lang="en-US" dirty="0"/>
              <a:t>(NEMU)</a:t>
            </a:r>
            <a:endParaRPr dirty="0"/>
          </a:p>
        </p:txBody>
      </p:sp>
      <p:sp>
        <p:nvSpPr>
          <p:cNvPr id="743261972" name="NPC">
            <a:extLst>
              <a:ext uri="{FF2B5EF4-FFF2-40B4-BE49-F238E27FC236}">
                <a16:creationId xmlns:a16="http://schemas.microsoft.com/office/drawing/2014/main" id="{AE9F85B3-6771-B784-793C-5E4BAF8AB5C5}"/>
              </a:ext>
            </a:extLst>
          </p:cNvPr>
          <p:cNvSpPr/>
          <p:nvPr/>
        </p:nvSpPr>
        <p:spPr bwMode="auto">
          <a:xfrm>
            <a:off x="4062470" y="4021566"/>
            <a:ext cx="2621018" cy="4183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NPC</a:t>
            </a:r>
            <a:endParaRPr/>
          </a:p>
        </p:txBody>
      </p:sp>
      <p:sp>
        <p:nvSpPr>
          <p:cNvPr id="1311028271" name="矩形 1311028270">
            <a:extLst>
              <a:ext uri="{FF2B5EF4-FFF2-40B4-BE49-F238E27FC236}">
                <a16:creationId xmlns:a16="http://schemas.microsoft.com/office/drawing/2014/main" id="{4ADE7269-7FE3-B82E-A3DB-7723C6AAA89A}"/>
              </a:ext>
            </a:extLst>
          </p:cNvPr>
          <p:cNvSpPr/>
          <p:nvPr/>
        </p:nvSpPr>
        <p:spPr bwMode="auto">
          <a:xfrm>
            <a:off x="3768466" y="2838398"/>
            <a:ext cx="414984" cy="957309"/>
          </a:xfrm>
          <a:prstGeom prst="rect">
            <a:avLst/>
          </a:prstGeom>
          <a:solidFill>
            <a:schemeClr val="bg2"/>
          </a:solidFill>
          <a:ln w="12700" cap="flat" cmpd="sng" algn="ctr">
            <a:solidFill>
              <a:schemeClr val="accent1">
                <a:shade val="50000"/>
                <a:alpha val="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600">
                <a:solidFill>
                  <a:schemeClr val="tx1"/>
                </a:solidFill>
              </a:rPr>
              <a:t>两种实现</a:t>
            </a:r>
            <a:endParaRPr>
              <a:solidFill>
                <a:schemeClr val="tx1"/>
              </a:solidFill>
            </a:endParaRPr>
          </a:p>
        </p:txBody>
      </p:sp>
      <p:sp>
        <p:nvSpPr>
          <p:cNvPr id="2328251" name="箭头: 下 2328250">
            <a:extLst>
              <a:ext uri="{FF2B5EF4-FFF2-40B4-BE49-F238E27FC236}">
                <a16:creationId xmlns:a16="http://schemas.microsoft.com/office/drawing/2014/main" id="{1B788F87-50FD-7989-7173-0B3597E87429}"/>
              </a:ext>
            </a:extLst>
          </p:cNvPr>
          <p:cNvSpPr/>
          <p:nvPr/>
        </p:nvSpPr>
        <p:spPr bwMode="auto">
          <a:xfrm>
            <a:off x="2378758" y="2804724"/>
            <a:ext cx="644620" cy="990983"/>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1200"/>
              <a:t>软件实现</a:t>
            </a:r>
          </a:p>
        </p:txBody>
      </p:sp>
      <p:sp>
        <p:nvSpPr>
          <p:cNvPr id="1699098867" name="箭头: 下 1699098866">
            <a:extLst>
              <a:ext uri="{FF2B5EF4-FFF2-40B4-BE49-F238E27FC236}">
                <a16:creationId xmlns:a16="http://schemas.microsoft.com/office/drawing/2014/main" id="{E53EAD88-8714-E421-756D-471FFFA88779}"/>
              </a:ext>
            </a:extLst>
          </p:cNvPr>
          <p:cNvSpPr/>
          <p:nvPr/>
        </p:nvSpPr>
        <p:spPr bwMode="auto">
          <a:xfrm>
            <a:off x="4728358" y="2816364"/>
            <a:ext cx="644620" cy="1029468"/>
          </a:xfrm>
          <a:prstGeom prst="down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a:t>RTL实现</a:t>
            </a:r>
            <a:endParaRPr sz="1200"/>
          </a:p>
        </p:txBody>
      </p:sp>
      <p:sp>
        <p:nvSpPr>
          <p:cNvPr id="16112946" name="电路综合">
            <a:extLst>
              <a:ext uri="{FF2B5EF4-FFF2-40B4-BE49-F238E27FC236}">
                <a16:creationId xmlns:a16="http://schemas.microsoft.com/office/drawing/2014/main" id="{1ED0289B-94E9-A865-47DC-C09CDC518794}"/>
              </a:ext>
            </a:extLst>
          </p:cNvPr>
          <p:cNvSpPr/>
          <p:nvPr/>
        </p:nvSpPr>
        <p:spPr bwMode="auto">
          <a:xfrm>
            <a:off x="4062470" y="4817104"/>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电路综合(Yosys)</a:t>
            </a:r>
            <a:endParaRPr/>
          </a:p>
        </p:txBody>
      </p:sp>
      <p:sp>
        <p:nvSpPr>
          <p:cNvPr id="813212810" name="布局布线">
            <a:extLst>
              <a:ext uri="{FF2B5EF4-FFF2-40B4-BE49-F238E27FC236}">
                <a16:creationId xmlns:a16="http://schemas.microsoft.com/office/drawing/2014/main" id="{EDE63831-C38F-C2C2-D0AA-E5CD8BF1B38C}"/>
              </a:ext>
            </a:extLst>
          </p:cNvPr>
          <p:cNvSpPr/>
          <p:nvPr/>
        </p:nvSpPr>
        <p:spPr bwMode="auto">
          <a:xfrm>
            <a:off x="4062470" y="5218648"/>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布局布线</a:t>
            </a:r>
            <a:r>
              <a:rPr lang="en-US" dirty="0"/>
              <a:t>(</a:t>
            </a:r>
            <a:r>
              <a:rPr lang="en-US" dirty="0" err="1"/>
              <a:t>iEDA</a:t>
            </a:r>
            <a:r>
              <a:rPr lang="en-US" dirty="0"/>
              <a:t>)</a:t>
            </a:r>
            <a:endParaRPr dirty="0"/>
          </a:p>
        </p:txBody>
      </p:sp>
      <p:sp>
        <p:nvSpPr>
          <p:cNvPr id="1835667885" name="嵌合分析">
            <a:extLst>
              <a:ext uri="{FF2B5EF4-FFF2-40B4-BE49-F238E27FC236}">
                <a16:creationId xmlns:a16="http://schemas.microsoft.com/office/drawing/2014/main" id="{07D83DDB-5D2E-EF3F-B1BD-E64C35CBC860}"/>
              </a:ext>
            </a:extLst>
          </p:cNvPr>
          <p:cNvSpPr/>
          <p:nvPr/>
        </p:nvSpPr>
        <p:spPr bwMode="auto">
          <a:xfrm>
            <a:off x="4062470" y="5637036"/>
            <a:ext cx="2738705" cy="41838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签核</a:t>
            </a:r>
            <a:r>
              <a:rPr lang="en-US"/>
              <a:t>分析</a:t>
            </a:r>
            <a:endParaRPr/>
          </a:p>
        </p:txBody>
      </p:sp>
      <p:sp>
        <p:nvSpPr>
          <p:cNvPr id="127215868" name="流片制造">
            <a:extLst>
              <a:ext uri="{FF2B5EF4-FFF2-40B4-BE49-F238E27FC236}">
                <a16:creationId xmlns:a16="http://schemas.microsoft.com/office/drawing/2014/main" id="{EB9EAA72-7151-2F59-A355-CEA28CFB7954}"/>
              </a:ext>
            </a:extLst>
          </p:cNvPr>
          <p:cNvSpPr/>
          <p:nvPr/>
        </p:nvSpPr>
        <p:spPr bwMode="auto">
          <a:xfrm>
            <a:off x="4062470" y="6055425"/>
            <a:ext cx="2738705" cy="41838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流片制造</a:t>
            </a:r>
          </a:p>
        </p:txBody>
      </p:sp>
      <p:sp>
        <p:nvSpPr>
          <p:cNvPr id="328657211" name="文本框 NavyLib" hidden="1">
            <a:extLst>
              <a:ext uri="{FF2B5EF4-FFF2-40B4-BE49-F238E27FC236}">
                <a16:creationId xmlns:a16="http://schemas.microsoft.com/office/drawing/2014/main" id="{19BED3BC-582D-9020-0E6D-C624777FF69C}"/>
              </a:ext>
            </a:extLst>
          </p:cNvPr>
          <p:cNvSpPr txBox="1"/>
          <p:nvPr/>
        </p:nvSpPr>
        <p:spPr bwMode="auto">
          <a:xfrm>
            <a:off x="7524362" y="3520663"/>
            <a:ext cx="3927777" cy="211637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dirty="0" err="1"/>
              <a:t>基于Nanos内核的程序库环境支持</a:t>
            </a:r>
            <a:r>
              <a:rPr lang="en-US" dirty="0"/>
              <a:t>/</a:t>
            </a:r>
            <a:r>
              <a:rPr lang="en-US" dirty="0" err="1"/>
              <a:t>适配，可编写</a:t>
            </a:r>
            <a:r>
              <a:rPr lang="en-US" dirty="0"/>
              <a:t>/</a:t>
            </a:r>
            <a:r>
              <a:rPr lang="en-US" dirty="0" err="1"/>
              <a:t>移植更强大丰富的应用程序</a:t>
            </a:r>
            <a:r>
              <a:rPr lang="en-US" dirty="0"/>
              <a:t>。</a:t>
            </a:r>
          </a:p>
          <a:p>
            <a:pPr marL="283878" indent="-283878">
              <a:buAutoNum type="arabicPeriod"/>
              <a:defRPr/>
            </a:pPr>
            <a:r>
              <a:rPr lang="en-US" dirty="0" err="1"/>
              <a:t>Nanos系统调用库</a:t>
            </a:r>
            <a:endParaRPr lang="en-US" dirty="0"/>
          </a:p>
          <a:p>
            <a:pPr>
              <a:defRPr/>
            </a:pPr>
            <a:r>
              <a:rPr lang="en-US" sz="1800" b="0" i="0" u="none" strike="noStrike" cap="none" spc="0" dirty="0">
                <a:solidFill>
                  <a:schemeClr val="tx1"/>
                </a:solidFill>
                <a:latin typeface="Arial"/>
                <a:ea typeface="微软雅黑"/>
                <a:cs typeface="Arial"/>
              </a:rPr>
              <a:t>2. </a:t>
            </a:r>
            <a:r>
              <a:rPr lang="en-US" sz="1800" b="0" i="0" u="none" strike="noStrike" cap="none" spc="0" dirty="0" err="1">
                <a:solidFill>
                  <a:schemeClr val="tx1"/>
                </a:solidFill>
                <a:latin typeface="Arial"/>
                <a:ea typeface="微软雅黑"/>
                <a:cs typeface="Arial"/>
              </a:rPr>
              <a:t>运行环境库</a:t>
            </a:r>
            <a:endParaRPr lang="en-US" dirty="0"/>
          </a:p>
          <a:p>
            <a:pPr>
              <a:defRPr/>
            </a:pPr>
            <a:r>
              <a:rPr lang="en-US" sz="1800" b="0" i="0" u="none" strike="noStrike" cap="none" spc="0" dirty="0">
                <a:solidFill>
                  <a:schemeClr val="tx1"/>
                </a:solidFill>
                <a:latin typeface="Arial"/>
                <a:ea typeface="微软雅黑"/>
                <a:cs typeface="Arial"/>
              </a:rPr>
              <a:t>3. </a:t>
            </a:r>
            <a:r>
              <a:rPr lang="en-US" sz="1800" b="0" i="0" u="none" strike="noStrike" cap="none" spc="0" dirty="0" err="1">
                <a:solidFill>
                  <a:schemeClr val="tx1"/>
                </a:solidFill>
                <a:latin typeface="Arial"/>
                <a:ea typeface="微软雅黑"/>
                <a:cs typeface="Arial"/>
              </a:rPr>
              <a:t>媒体硬件库</a:t>
            </a:r>
            <a:r>
              <a:rPr lang="en-US" dirty="0"/>
              <a:t>/</a:t>
            </a:r>
            <a:r>
              <a:rPr lang="en-US" dirty="0" err="1"/>
              <a:t>资源解析库</a:t>
            </a:r>
            <a:endParaRPr sz="1800" dirty="0"/>
          </a:p>
          <a:p>
            <a:pPr>
              <a:defRPr/>
            </a:pPr>
            <a:r>
              <a:rPr lang="en-US" dirty="0"/>
              <a:t>4. </a:t>
            </a:r>
            <a:r>
              <a:rPr lang="en-US" dirty="0" err="1"/>
              <a:t>应用镜像文件打包</a:t>
            </a:r>
            <a:endParaRPr lang="en-US" dirty="0"/>
          </a:p>
        </p:txBody>
      </p:sp>
      <p:sp>
        <p:nvSpPr>
          <p:cNvPr id="3" name="矩形 2">
            <a:extLst>
              <a:ext uri="{FF2B5EF4-FFF2-40B4-BE49-F238E27FC236}">
                <a16:creationId xmlns:a16="http://schemas.microsoft.com/office/drawing/2014/main" id="{39AC6EC1-D018-B23F-C5B7-D2FEC0444A98}"/>
              </a:ext>
            </a:extLst>
          </p:cNvPr>
          <p:cNvSpPr/>
          <p:nvPr/>
        </p:nvSpPr>
        <p:spPr>
          <a:xfrm>
            <a:off x="1040265" y="5115660"/>
            <a:ext cx="270456" cy="248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99DA8F8E-B1F1-72B9-2076-0B8A1F34891D}"/>
              </a:ext>
            </a:extLst>
          </p:cNvPr>
          <p:cNvSpPr txBox="1"/>
          <p:nvPr/>
        </p:nvSpPr>
        <p:spPr>
          <a:xfrm>
            <a:off x="1547495" y="5050824"/>
            <a:ext cx="940157" cy="369332"/>
          </a:xfrm>
          <a:prstGeom prst="rect">
            <a:avLst/>
          </a:prstGeom>
          <a:noFill/>
        </p:spPr>
        <p:txBody>
          <a:bodyPr wrap="square" rtlCol="0">
            <a:spAutoFit/>
          </a:bodyPr>
          <a:lstStyle/>
          <a:p>
            <a:r>
              <a:rPr lang="zh-CN" altLang="en-US" dirty="0"/>
              <a:t>软件层</a:t>
            </a:r>
          </a:p>
        </p:txBody>
      </p:sp>
      <p:sp>
        <p:nvSpPr>
          <p:cNvPr id="5" name="矩形 4">
            <a:extLst>
              <a:ext uri="{FF2B5EF4-FFF2-40B4-BE49-F238E27FC236}">
                <a16:creationId xmlns:a16="http://schemas.microsoft.com/office/drawing/2014/main" id="{AC84C3DB-4396-E1DD-A99D-78E71786C17E}"/>
              </a:ext>
            </a:extLst>
          </p:cNvPr>
          <p:cNvSpPr/>
          <p:nvPr/>
        </p:nvSpPr>
        <p:spPr>
          <a:xfrm>
            <a:off x="1046284" y="5508222"/>
            <a:ext cx="270456" cy="2489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00"/>
              </a:solidFill>
            </a:endParaRPr>
          </a:p>
        </p:txBody>
      </p:sp>
      <p:sp>
        <p:nvSpPr>
          <p:cNvPr id="6" name="文本框 5">
            <a:extLst>
              <a:ext uri="{FF2B5EF4-FFF2-40B4-BE49-F238E27FC236}">
                <a16:creationId xmlns:a16="http://schemas.microsoft.com/office/drawing/2014/main" id="{EF03CADB-8BE4-4455-50EA-2446C4C5687E}"/>
              </a:ext>
            </a:extLst>
          </p:cNvPr>
          <p:cNvSpPr txBox="1"/>
          <p:nvPr/>
        </p:nvSpPr>
        <p:spPr>
          <a:xfrm>
            <a:off x="1553514" y="5443386"/>
            <a:ext cx="1423537" cy="369332"/>
          </a:xfrm>
          <a:prstGeom prst="rect">
            <a:avLst/>
          </a:prstGeom>
          <a:noFill/>
        </p:spPr>
        <p:txBody>
          <a:bodyPr wrap="square" rtlCol="0">
            <a:spAutoFit/>
          </a:bodyPr>
          <a:lstStyle/>
          <a:p>
            <a:r>
              <a:rPr lang="zh-CN" altLang="en-US" dirty="0"/>
              <a:t>硬件模拟层</a:t>
            </a:r>
          </a:p>
        </p:txBody>
      </p:sp>
      <p:sp>
        <p:nvSpPr>
          <p:cNvPr id="7" name="矩形 6">
            <a:extLst>
              <a:ext uri="{FF2B5EF4-FFF2-40B4-BE49-F238E27FC236}">
                <a16:creationId xmlns:a16="http://schemas.microsoft.com/office/drawing/2014/main" id="{C72FE75F-A472-D097-A203-AA1D63EEAA0A}"/>
              </a:ext>
            </a:extLst>
          </p:cNvPr>
          <p:cNvSpPr/>
          <p:nvPr/>
        </p:nvSpPr>
        <p:spPr>
          <a:xfrm>
            <a:off x="1046284" y="5889925"/>
            <a:ext cx="270456" cy="248991"/>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3EE0EEAE-68CE-ACB0-BD57-71AE8D18FFD4}"/>
              </a:ext>
            </a:extLst>
          </p:cNvPr>
          <p:cNvSpPr txBox="1"/>
          <p:nvPr/>
        </p:nvSpPr>
        <p:spPr>
          <a:xfrm>
            <a:off x="1553514" y="5825089"/>
            <a:ext cx="1423537" cy="369332"/>
          </a:xfrm>
          <a:prstGeom prst="rect">
            <a:avLst/>
          </a:prstGeom>
          <a:noFill/>
        </p:spPr>
        <p:txBody>
          <a:bodyPr wrap="square" rtlCol="0">
            <a:spAutoFit/>
          </a:bodyPr>
          <a:lstStyle/>
          <a:p>
            <a:r>
              <a:rPr lang="zh-CN" altLang="en-US" dirty="0"/>
              <a:t>硬件实现层</a:t>
            </a:r>
          </a:p>
        </p:txBody>
      </p:sp>
      <p:sp>
        <p:nvSpPr>
          <p:cNvPr id="9" name="箭头: 下 8">
            <a:extLst>
              <a:ext uri="{FF2B5EF4-FFF2-40B4-BE49-F238E27FC236}">
                <a16:creationId xmlns:a16="http://schemas.microsoft.com/office/drawing/2014/main" id="{0308B545-7F17-64D0-E979-7D7648DABB7A}"/>
              </a:ext>
            </a:extLst>
          </p:cNvPr>
          <p:cNvSpPr/>
          <p:nvPr/>
        </p:nvSpPr>
        <p:spPr>
          <a:xfrm>
            <a:off x="4728358" y="4439496"/>
            <a:ext cx="767204" cy="352379"/>
          </a:xfrm>
          <a:prstGeom prst="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1EB9D2B3-5A02-A061-FB30-E2AB3024BC93}"/>
              </a:ext>
            </a:extLst>
          </p:cNvPr>
          <p:cNvSpPr txBox="1"/>
          <p:nvPr/>
        </p:nvSpPr>
        <p:spPr>
          <a:xfrm>
            <a:off x="5495562" y="4414267"/>
            <a:ext cx="1650381" cy="369332"/>
          </a:xfrm>
          <a:prstGeom prst="rect">
            <a:avLst/>
          </a:prstGeom>
          <a:noFill/>
        </p:spPr>
        <p:txBody>
          <a:bodyPr wrap="square" rtlCol="0">
            <a:spAutoFit/>
          </a:bodyPr>
          <a:lstStyle/>
          <a:p>
            <a:r>
              <a:rPr lang="zh-CN" altLang="en-US" dirty="0"/>
              <a:t>行为仿真通过</a:t>
            </a:r>
          </a:p>
        </p:txBody>
      </p:sp>
      <p:sp>
        <p:nvSpPr>
          <p:cNvPr id="11" name="矩形 10">
            <a:extLst>
              <a:ext uri="{FF2B5EF4-FFF2-40B4-BE49-F238E27FC236}">
                <a16:creationId xmlns:a16="http://schemas.microsoft.com/office/drawing/2014/main" id="{B191D3EF-ABC9-64F7-6EC1-73A3DCD3AA43}"/>
              </a:ext>
            </a:extLst>
          </p:cNvPr>
          <p:cNvSpPr/>
          <p:nvPr/>
        </p:nvSpPr>
        <p:spPr>
          <a:xfrm>
            <a:off x="1040265" y="4687302"/>
            <a:ext cx="270456" cy="24899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F6F41537-95AA-69F5-95D2-DD75BE3E7E7E}"/>
              </a:ext>
            </a:extLst>
          </p:cNvPr>
          <p:cNvSpPr txBox="1"/>
          <p:nvPr/>
        </p:nvSpPr>
        <p:spPr>
          <a:xfrm>
            <a:off x="1547495" y="4622466"/>
            <a:ext cx="1124337" cy="369332"/>
          </a:xfrm>
          <a:prstGeom prst="rect">
            <a:avLst/>
          </a:prstGeom>
          <a:noFill/>
        </p:spPr>
        <p:txBody>
          <a:bodyPr wrap="square" rtlCol="0">
            <a:spAutoFit/>
          </a:bodyPr>
          <a:lstStyle/>
          <a:p>
            <a:r>
              <a:rPr lang="zh-CN" altLang="en-US" dirty="0"/>
              <a:t>当前演示</a:t>
            </a:r>
          </a:p>
        </p:txBody>
      </p:sp>
      <p:sp>
        <p:nvSpPr>
          <p:cNvPr id="496486137" name="文本框 496486136">
            <a:extLst>
              <a:ext uri="{FF2B5EF4-FFF2-40B4-BE49-F238E27FC236}">
                <a16:creationId xmlns:a16="http://schemas.microsoft.com/office/drawing/2014/main" id="{EA47A06A-3C7D-6F2B-5182-2764DC8C62BA}"/>
              </a:ext>
            </a:extLst>
          </p:cNvPr>
          <p:cNvSpPr txBox="1"/>
          <p:nvPr/>
        </p:nvSpPr>
        <p:spPr bwMode="auto">
          <a:xfrm>
            <a:off x="7555150" y="1194947"/>
            <a:ext cx="4133337" cy="181145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zh-CN" altLang="en-US" dirty="0"/>
              <a:t>从后端版图文件提取各种物理信息进行物理仿真，并进行制造规则和电气检查，确保版图是符合晶圆厂制造标准。</a:t>
            </a:r>
            <a:endParaRPr lang="en-US" altLang="zh-CN" dirty="0"/>
          </a:p>
          <a:p>
            <a:pPr>
              <a:defRPr/>
            </a:pPr>
            <a:endParaRPr lang="en-US" altLang="zh-CN" dirty="0"/>
          </a:p>
          <a:p>
            <a:pPr>
              <a:defRPr/>
            </a:pPr>
            <a:endParaRPr lang="en-US" altLang="zh-CN" dirty="0"/>
          </a:p>
        </p:txBody>
      </p:sp>
      <p:sp>
        <p:nvSpPr>
          <p:cNvPr id="2" name="powerpoint template design by DAJU_PPT正版来源小红书大橘PPT微信DAJU_PPT请勿抄袭搬运！盗版必究！">
            <a:extLst>
              <a:ext uri="{FF2B5EF4-FFF2-40B4-BE49-F238E27FC236}">
                <a16:creationId xmlns:a16="http://schemas.microsoft.com/office/drawing/2014/main" id="{4B4D0CA8-5B3F-7A13-8161-2C8ED6862CC7}"/>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13" name="powerpoint template design by DAJU_PPT正版来源小红书大橘PPT微信DAJU_PPT请勿抄袭搬运！盗版必究！">
            <a:extLst>
              <a:ext uri="{FF2B5EF4-FFF2-40B4-BE49-F238E27FC236}">
                <a16:creationId xmlns:a16="http://schemas.microsoft.com/office/drawing/2014/main" id="{0564F99B-9F27-7B5D-5919-2EE25A9C2849}"/>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14" name="powerpoint template design by DAJU_PPT正版来源小红书大橘PPT微信DAJU_PPT请勿抄袭搬运！盗版必究！">
            <a:extLst>
              <a:ext uri="{FF2B5EF4-FFF2-40B4-BE49-F238E27FC236}">
                <a16:creationId xmlns:a16="http://schemas.microsoft.com/office/drawing/2014/main" id="{629542CF-529D-EB07-436A-97C906E049D8}"/>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000" i="0" u="none" strike="noStrike" cap="none" spc="0" dirty="0">
                <a:ln>
                  <a:noFill/>
                </a:ln>
                <a:solidFill>
                  <a:schemeClr val="bg1">
                    <a:alpha val="70000"/>
                  </a:schemeClr>
                </a:solidFill>
                <a:cs typeface="+mn-ea"/>
              </a:rPr>
              <a:t>考核题目讲解</a:t>
            </a:r>
            <a:endParaRPr lang="en-US" sz="2000" i="0" u="none" strike="noStrike" cap="none" spc="0" dirty="0">
              <a:ln>
                <a:noFill/>
              </a:ln>
              <a:solidFill>
                <a:schemeClr val="bg1">
                  <a:alpha val="70000"/>
                </a:schemeClr>
              </a:solidFill>
              <a:cs typeface="+mn-ea"/>
            </a:endParaRPr>
          </a:p>
        </p:txBody>
      </p:sp>
      <p:cxnSp>
        <p:nvCxnSpPr>
          <p:cNvPr id="15" name="powerpoint template design by DAJU_PPT正版来源小红书大橘PPT微信DAJU_PPT请勿抄袭搬运！盗版必究！">
            <a:extLst>
              <a:ext uri="{FF2B5EF4-FFF2-40B4-BE49-F238E27FC236}">
                <a16:creationId xmlns:a16="http://schemas.microsoft.com/office/drawing/2014/main" id="{19A9A601-9C0C-A7D5-E2FF-403F171E38FC}"/>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powerpoint template design by DAJU_PPT正版来源小红书大橘PPT微信DAJU_PPT请勿抄袭搬运！盗版必究！">
            <a:extLst>
              <a:ext uri="{FF2B5EF4-FFF2-40B4-BE49-F238E27FC236}">
                <a16:creationId xmlns:a16="http://schemas.microsoft.com/office/drawing/2014/main" id="{A961A340-D80C-DD38-13C2-3BE6C3813D5A}"/>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powerpoint template design by DAJU_PPT正版来源小红书大橘PPT微信DAJU_PPT请勿抄袭搬运！盗版必究！">
            <a:extLst>
              <a:ext uri="{FF2B5EF4-FFF2-40B4-BE49-F238E27FC236}">
                <a16:creationId xmlns:a16="http://schemas.microsoft.com/office/drawing/2014/main" id="{772655D8-4680-A1A4-1A2D-B15CB57CBAC8}"/>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18" name="图片 3">
            <a:extLst>
              <a:ext uri="{FF2B5EF4-FFF2-40B4-BE49-F238E27FC236}">
                <a16:creationId xmlns:a16="http://schemas.microsoft.com/office/drawing/2014/main" id="{65FE3C95-CE3F-35A4-7A89-0BCA107AEE5F}"/>
              </a:ext>
            </a:extLst>
          </p:cNvPr>
          <p:cNvPicPr>
            <a:picLocks noChangeAspect="1"/>
          </p:cNvPicPr>
          <p:nvPr/>
        </p:nvPicPr>
        <p:blipFill rotWithShape="1">
          <a:blip r:embed="rId3"/>
          <a:stretch/>
        </p:blipFill>
        <p:spPr bwMode="auto">
          <a:xfrm>
            <a:off x="0" y="0"/>
            <a:ext cx="778510" cy="720090"/>
          </a:xfrm>
          <a:prstGeom prst="rect">
            <a:avLst/>
          </a:prstGeom>
        </p:spPr>
      </p:pic>
      <p:sp>
        <p:nvSpPr>
          <p:cNvPr id="19" name="powerpoint template design by DAJU_PPT正版来源小红书大橘PPT微信DAJU_PPT请勿抄袭搬运！盗版必究！">
            <a:extLst>
              <a:ext uri="{FF2B5EF4-FFF2-40B4-BE49-F238E27FC236}">
                <a16:creationId xmlns:a16="http://schemas.microsoft.com/office/drawing/2014/main" id="{777AADB2-0F92-2453-2026-957E95D33C10}"/>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20" name="powerpoint template design by DAJU_PPT正版来源小红书大橘PPT微信DAJU_PPT请勿抄袭搬运！盗版必究！">
            <a:extLst>
              <a:ext uri="{FF2B5EF4-FFF2-40B4-BE49-F238E27FC236}">
                <a16:creationId xmlns:a16="http://schemas.microsoft.com/office/drawing/2014/main" id="{DB8A5CA4-CAFA-1FBF-9713-A4C1C8FF03EF}"/>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dirty="0" err="1">
                <a:solidFill>
                  <a:schemeClr val="bg1">
                    <a:alpha val="70000"/>
                  </a:schemeClr>
                </a:solidFill>
                <a:cs typeface="+mn-ea"/>
              </a:rPr>
              <a:t>Makefile</a:t>
            </a:r>
            <a:r>
              <a:rPr lang="zh-CN" altLang="en-US" sz="2000" dirty="0">
                <a:solidFill>
                  <a:schemeClr val="bg1">
                    <a:alpha val="70000"/>
                  </a:schemeClr>
                </a:solidFill>
                <a:cs typeface="+mn-ea"/>
              </a:rPr>
              <a:t>调用链</a:t>
            </a:r>
            <a:endParaRPr lang="en-US" sz="2000" i="0" u="none" strike="noStrike" cap="none" spc="0" dirty="0">
              <a:ln>
                <a:noFill/>
              </a:ln>
              <a:solidFill>
                <a:schemeClr val="bg1">
                  <a:alpha val="70000"/>
                </a:schemeClr>
              </a:solidFill>
              <a:cs typeface="+mn-ea"/>
            </a:endParaRPr>
          </a:p>
        </p:txBody>
      </p:sp>
      <p:sp>
        <p:nvSpPr>
          <p:cNvPr id="21" name="powerpoint template design by DAJU_PPT正版来源小红书大橘PPT微信DAJU_PPT请勿抄袭搬运！盗版必究！">
            <a:extLst>
              <a:ext uri="{FF2B5EF4-FFF2-40B4-BE49-F238E27FC236}">
                <a16:creationId xmlns:a16="http://schemas.microsoft.com/office/drawing/2014/main" id="{E0A4F957-9E5E-E609-7ACD-9D96B3A3D6B4}"/>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800" b="1" i="0" u="none" strike="noStrike" cap="none" spc="0" dirty="0">
                <a:ln>
                  <a:noFill/>
                </a:ln>
                <a:solidFill>
                  <a:srgbClr val="00B050">
                    <a:alpha val="70000"/>
                  </a:srgbClr>
                </a:solidFill>
                <a:cs typeface="+mn-ea"/>
              </a:rPr>
              <a:t>架构</a:t>
            </a:r>
            <a:r>
              <a:rPr lang="zh-CN" sz="2800" b="1" i="0" u="none" strike="noStrike" cap="none" spc="0" dirty="0">
                <a:ln>
                  <a:noFill/>
                </a:ln>
                <a:solidFill>
                  <a:srgbClr val="00B050">
                    <a:alpha val="70000"/>
                  </a:srgbClr>
                </a:solidFill>
                <a:cs typeface="+mn-ea"/>
              </a:rPr>
              <a:t>讲解</a:t>
            </a:r>
            <a:endParaRPr lang="en-US" sz="2800" b="1" i="0" u="none" strike="noStrike" cap="none" spc="0" dirty="0">
              <a:ln>
                <a:noFill/>
              </a:ln>
              <a:solidFill>
                <a:srgbClr val="00B050">
                  <a:alpha val="70000"/>
                </a:srgbClr>
              </a:solidFill>
              <a:cs typeface="+mn-ea"/>
            </a:endParaRPr>
          </a:p>
        </p:txBody>
      </p:sp>
      <p:cxnSp>
        <p:nvCxnSpPr>
          <p:cNvPr id="22" name="直接连接符 21">
            <a:extLst>
              <a:ext uri="{FF2B5EF4-FFF2-40B4-BE49-F238E27FC236}">
                <a16:creationId xmlns:a16="http://schemas.microsoft.com/office/drawing/2014/main" id="{1BE75F14-BF7D-9528-EB3C-1DB156A807E0}"/>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D8A98BC4-01FE-5AE9-F3D1-9E1DA0122AC2}"/>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12916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powerpoint template design by DAJU_PPT正版来源小红书大橘PPT微信DAJU_PPT请勿抄袭搬运！盗版必究！">
            <a:extLst>
              <a:ext uri="{FF2B5EF4-FFF2-40B4-BE49-F238E27FC236}">
                <a16:creationId xmlns:a16="http://schemas.microsoft.com/office/drawing/2014/main" id="{B059FADE-9B1F-CEF3-8FB1-9316DABE6986}"/>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3" name="powerpoint template design by DAJU_PPT正版来源小红书大橘PPT微信DAJU_PPT请勿抄袭搬运！盗版必究！">
            <a:extLst>
              <a:ext uri="{FF2B5EF4-FFF2-40B4-BE49-F238E27FC236}">
                <a16:creationId xmlns:a16="http://schemas.microsoft.com/office/drawing/2014/main" id="{45510379-F8D5-1C4A-2EBE-B6BAF742BBEE}"/>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4" name="powerpoint template design by DAJU_PPT正版来源小红书大橘PPT微信DAJU_PPT请勿抄袭搬运！盗版必究！">
            <a:extLst>
              <a:ext uri="{FF2B5EF4-FFF2-40B4-BE49-F238E27FC236}">
                <a16:creationId xmlns:a16="http://schemas.microsoft.com/office/drawing/2014/main" id="{2CDE96DD-1A29-118E-91A1-C6F19ABA850B}"/>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000" i="0" u="none" strike="noStrike" cap="none" spc="0" dirty="0">
                <a:ln>
                  <a:noFill/>
                </a:ln>
                <a:solidFill>
                  <a:schemeClr val="bg1">
                    <a:alpha val="70000"/>
                  </a:schemeClr>
                </a:solidFill>
                <a:cs typeface="+mn-ea"/>
              </a:rPr>
              <a:t>考核题目讲解</a:t>
            </a:r>
            <a:endParaRPr lang="en-US" sz="2000" i="0" u="none" strike="noStrike" cap="none" spc="0" dirty="0">
              <a:ln>
                <a:noFill/>
              </a:ln>
              <a:solidFill>
                <a:schemeClr val="bg1">
                  <a:alpha val="70000"/>
                </a:schemeClr>
              </a:solidFill>
              <a:cs typeface="+mn-ea"/>
            </a:endParaRPr>
          </a:p>
        </p:txBody>
      </p:sp>
      <p:cxnSp>
        <p:nvCxnSpPr>
          <p:cNvPr id="5" name="powerpoint template design by DAJU_PPT正版来源小红书大橘PPT微信DAJU_PPT请勿抄袭搬运！盗版必究！">
            <a:extLst>
              <a:ext uri="{FF2B5EF4-FFF2-40B4-BE49-F238E27FC236}">
                <a16:creationId xmlns:a16="http://schemas.microsoft.com/office/drawing/2014/main" id="{9C2C00C1-39C0-1A2D-5783-87C141061AF4}"/>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powerpoint template design by DAJU_PPT正版来源小红书大橘PPT微信DAJU_PPT请勿抄袭搬运！盗版必究！">
            <a:extLst>
              <a:ext uri="{FF2B5EF4-FFF2-40B4-BE49-F238E27FC236}">
                <a16:creationId xmlns:a16="http://schemas.microsoft.com/office/drawing/2014/main" id="{8D20A968-6F11-0AAE-2578-1A6848C07B9C}"/>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powerpoint template design by DAJU_PPT正版来源小红书大橘PPT微信DAJU_PPT请勿抄袭搬运！盗版必究！">
            <a:extLst>
              <a:ext uri="{FF2B5EF4-FFF2-40B4-BE49-F238E27FC236}">
                <a16:creationId xmlns:a16="http://schemas.microsoft.com/office/drawing/2014/main" id="{5C96B1BD-E30C-C68C-A276-D2AD3FBFEE18}"/>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8" name="图片 3">
            <a:extLst>
              <a:ext uri="{FF2B5EF4-FFF2-40B4-BE49-F238E27FC236}">
                <a16:creationId xmlns:a16="http://schemas.microsoft.com/office/drawing/2014/main" id="{AE91855A-8873-B0C7-3E8A-449B7DEA117D}"/>
              </a:ext>
            </a:extLst>
          </p:cNvPr>
          <p:cNvPicPr>
            <a:picLocks noChangeAspect="1"/>
          </p:cNvPicPr>
          <p:nvPr/>
        </p:nvPicPr>
        <p:blipFill rotWithShape="1">
          <a:blip r:embed="rId3"/>
          <a:stretch/>
        </p:blipFill>
        <p:spPr bwMode="auto">
          <a:xfrm>
            <a:off x="0" y="0"/>
            <a:ext cx="778510" cy="720090"/>
          </a:xfrm>
          <a:prstGeom prst="rect">
            <a:avLst/>
          </a:prstGeom>
        </p:spPr>
      </p:pic>
      <p:sp>
        <p:nvSpPr>
          <p:cNvPr id="9" name="powerpoint template design by DAJU_PPT正版来源小红书大橘PPT微信DAJU_PPT请勿抄袭搬运！盗版必究！">
            <a:extLst>
              <a:ext uri="{FF2B5EF4-FFF2-40B4-BE49-F238E27FC236}">
                <a16:creationId xmlns:a16="http://schemas.microsoft.com/office/drawing/2014/main" id="{AEA2862E-17C7-B6C1-D1B1-1F18C4630319}"/>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10" name="powerpoint template design by DAJU_PPT正版来源小红书大橘PPT微信DAJU_PPT请勿抄袭搬运！盗版必究！">
            <a:extLst>
              <a:ext uri="{FF2B5EF4-FFF2-40B4-BE49-F238E27FC236}">
                <a16:creationId xmlns:a16="http://schemas.microsoft.com/office/drawing/2014/main" id="{697C6AA8-E584-6B29-54D3-78D5C55C65F0}"/>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400" dirty="0" err="1">
                <a:solidFill>
                  <a:srgbClr val="00B050">
                    <a:alpha val="70000"/>
                  </a:srgbClr>
                </a:solidFill>
                <a:cs typeface="+mn-ea"/>
              </a:rPr>
              <a:t>Makefile</a:t>
            </a:r>
            <a:r>
              <a:rPr lang="zh-CN" altLang="en-US" sz="2400" dirty="0">
                <a:solidFill>
                  <a:srgbClr val="00B050">
                    <a:alpha val="70000"/>
                  </a:srgbClr>
                </a:solidFill>
                <a:cs typeface="+mn-ea"/>
              </a:rPr>
              <a:t>调用链</a:t>
            </a:r>
            <a:endParaRPr lang="en-US" sz="2400" i="0" u="none" strike="noStrike" cap="none" spc="0" dirty="0">
              <a:ln>
                <a:noFill/>
              </a:ln>
              <a:solidFill>
                <a:srgbClr val="00B050">
                  <a:alpha val="70000"/>
                </a:srgbClr>
              </a:solidFill>
              <a:cs typeface="+mn-ea"/>
            </a:endParaRPr>
          </a:p>
        </p:txBody>
      </p:sp>
      <p:sp>
        <p:nvSpPr>
          <p:cNvPr id="11" name="powerpoint template design by DAJU_PPT正版来源小红书大橘PPT微信DAJU_PPT请勿抄袭搬运！盗版必究！">
            <a:extLst>
              <a:ext uri="{FF2B5EF4-FFF2-40B4-BE49-F238E27FC236}">
                <a16:creationId xmlns:a16="http://schemas.microsoft.com/office/drawing/2014/main" id="{87B0C63C-1723-F584-BD21-D0832ED55867}"/>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000" i="0" u="none" strike="noStrike" cap="none" spc="0" dirty="0">
                <a:ln>
                  <a:noFill/>
                </a:ln>
                <a:solidFill>
                  <a:schemeClr val="bg1">
                    <a:alpha val="70000"/>
                  </a:schemeClr>
                </a:solidFill>
                <a:cs typeface="+mn-ea"/>
              </a:rPr>
              <a:t>架构</a:t>
            </a:r>
            <a:r>
              <a:rPr lang="zh-CN" sz="2000" i="0" u="none" strike="noStrike" cap="none" spc="0" dirty="0">
                <a:ln>
                  <a:noFill/>
                </a:ln>
                <a:solidFill>
                  <a:schemeClr val="bg1">
                    <a:alpha val="70000"/>
                  </a:schemeClr>
                </a:solidFill>
                <a:cs typeface="+mn-ea"/>
              </a:rPr>
              <a:t>讲解</a:t>
            </a:r>
            <a:endParaRPr lang="en-US" sz="2000" i="0" u="none" strike="noStrike" cap="none" spc="0" dirty="0">
              <a:ln>
                <a:noFill/>
              </a:ln>
              <a:solidFill>
                <a:schemeClr val="bg1">
                  <a:alpha val="70000"/>
                </a:schemeClr>
              </a:solidFill>
              <a:cs typeface="+mn-ea"/>
            </a:endParaRPr>
          </a:p>
        </p:txBody>
      </p:sp>
      <p:cxnSp>
        <p:nvCxnSpPr>
          <p:cNvPr id="12" name="直接连接符 11">
            <a:extLst>
              <a:ext uri="{FF2B5EF4-FFF2-40B4-BE49-F238E27FC236}">
                <a16:creationId xmlns:a16="http://schemas.microsoft.com/office/drawing/2014/main" id="{3053493F-F6D9-1036-A3C7-07D1F2B04F81}"/>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C0C182E4-48CF-E103-3D53-04F6A337D37D}"/>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标题 2">
            <a:extLst>
              <a:ext uri="{FF2B5EF4-FFF2-40B4-BE49-F238E27FC236}">
                <a16:creationId xmlns:a16="http://schemas.microsoft.com/office/drawing/2014/main" id="{8E84BD05-FD2C-381F-BCE6-5EF80FF53B58}"/>
              </a:ext>
            </a:extLst>
          </p:cNvPr>
          <p:cNvSpPr>
            <a:spLocks noGrp="1"/>
          </p:cNvSpPr>
          <p:nvPr>
            <p:ph type="title"/>
          </p:nvPr>
        </p:nvSpPr>
        <p:spPr bwMode="auto">
          <a:xfrm>
            <a:off x="443230" y="873125"/>
            <a:ext cx="5554980" cy="403225"/>
          </a:xfrm>
        </p:spPr>
        <p:txBody>
          <a:bodyPr wrap="square"/>
          <a:lstStyle/>
          <a:p>
            <a:pPr>
              <a:defRPr/>
            </a:pPr>
            <a:r>
              <a:rPr lang="en-US" dirty="0"/>
              <a:t>AM </a:t>
            </a:r>
            <a:r>
              <a:rPr lang="en-US" dirty="0" err="1"/>
              <a:t>Makefile</a:t>
            </a:r>
            <a:r>
              <a:rPr lang="zh-CN" altLang="en-US" dirty="0"/>
              <a:t>调用链</a:t>
            </a:r>
            <a:endParaRPr dirty="0"/>
          </a:p>
        </p:txBody>
      </p:sp>
      <p:cxnSp>
        <p:nvCxnSpPr>
          <p:cNvPr id="15" name="powerpoint template design by DAJU_PPT正版来源小红书大橘PPT微信DAJU_PPT请勿抄袭搬运！盗版必究！">
            <a:extLst>
              <a:ext uri="{FF2B5EF4-FFF2-40B4-BE49-F238E27FC236}">
                <a16:creationId xmlns:a16="http://schemas.microsoft.com/office/drawing/2014/main" id="{CF8F4EC6-EADF-E37F-2C3A-71CBE824D5DD}"/>
              </a:ext>
            </a:extLst>
          </p:cNvPr>
          <p:cNvCxnSpPr/>
          <p:nvPr/>
        </p:nvCxnSpPr>
        <p:spPr bwMode="auto">
          <a:xfrm>
            <a:off x="481890" y="1354204"/>
            <a:ext cx="276348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id="{B2EFE7BC-DEF6-0C61-6E48-D0331589E376}"/>
              </a:ext>
            </a:extLst>
          </p:cNvPr>
          <p:cNvSpPr/>
          <p:nvPr/>
        </p:nvSpPr>
        <p:spPr>
          <a:xfrm>
            <a:off x="852881" y="1812748"/>
            <a:ext cx="109056" cy="964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4CD684AE-0893-84CC-0458-B84B319CDCFA}"/>
              </a:ext>
            </a:extLst>
          </p:cNvPr>
          <p:cNvSpPr txBox="1"/>
          <p:nvPr/>
        </p:nvSpPr>
        <p:spPr>
          <a:xfrm>
            <a:off x="1112939" y="1676317"/>
            <a:ext cx="2830088" cy="369332"/>
          </a:xfrm>
          <a:prstGeom prst="rect">
            <a:avLst/>
          </a:prstGeom>
          <a:noFill/>
        </p:spPr>
        <p:txBody>
          <a:bodyPr wrap="square" rtlCol="0">
            <a:spAutoFit/>
          </a:bodyPr>
          <a:lstStyle/>
          <a:p>
            <a:r>
              <a:rPr lang="en-US" altLang="zh-CN" dirty="0">
                <a:solidFill>
                  <a:srgbClr val="CC6600"/>
                </a:solidFill>
              </a:rPr>
              <a:t>scripts/isa/*.mk</a:t>
            </a:r>
            <a:endParaRPr lang="zh-CN" altLang="en-US" dirty="0">
              <a:solidFill>
                <a:srgbClr val="CC6600"/>
              </a:solidFill>
            </a:endParaRPr>
          </a:p>
        </p:txBody>
      </p:sp>
      <p:sp>
        <p:nvSpPr>
          <p:cNvPr id="19" name="椭圆 18">
            <a:extLst>
              <a:ext uri="{FF2B5EF4-FFF2-40B4-BE49-F238E27FC236}">
                <a16:creationId xmlns:a16="http://schemas.microsoft.com/office/drawing/2014/main" id="{6D343F25-41E5-7B22-75F6-AAF4759F3AA8}"/>
              </a:ext>
            </a:extLst>
          </p:cNvPr>
          <p:cNvSpPr/>
          <p:nvPr/>
        </p:nvSpPr>
        <p:spPr>
          <a:xfrm>
            <a:off x="785225" y="2907389"/>
            <a:ext cx="109056" cy="964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D89ECF3C-045B-7915-79CF-FBDE53FC858B}"/>
              </a:ext>
            </a:extLst>
          </p:cNvPr>
          <p:cNvSpPr txBox="1"/>
          <p:nvPr/>
        </p:nvSpPr>
        <p:spPr>
          <a:xfrm>
            <a:off x="1045282" y="2770958"/>
            <a:ext cx="3399191" cy="369332"/>
          </a:xfrm>
          <a:prstGeom prst="rect">
            <a:avLst/>
          </a:prstGeom>
          <a:noFill/>
        </p:spPr>
        <p:txBody>
          <a:bodyPr wrap="square" rtlCol="0">
            <a:spAutoFit/>
          </a:bodyPr>
          <a:lstStyle/>
          <a:p>
            <a:r>
              <a:rPr lang="en-US" altLang="zh-CN" dirty="0">
                <a:solidFill>
                  <a:srgbClr val="CC6600"/>
                </a:solidFill>
              </a:rPr>
              <a:t>scripts/platform/*.mk</a:t>
            </a:r>
            <a:endParaRPr lang="zh-CN" altLang="en-US" dirty="0">
              <a:solidFill>
                <a:srgbClr val="CC6600"/>
              </a:solidFill>
            </a:endParaRPr>
          </a:p>
        </p:txBody>
      </p:sp>
      <p:sp>
        <p:nvSpPr>
          <p:cNvPr id="21" name="椭圆 20">
            <a:extLst>
              <a:ext uri="{FF2B5EF4-FFF2-40B4-BE49-F238E27FC236}">
                <a16:creationId xmlns:a16="http://schemas.microsoft.com/office/drawing/2014/main" id="{EA4A7190-A95B-F4D9-37B2-AABA650A0C7B}"/>
              </a:ext>
            </a:extLst>
          </p:cNvPr>
          <p:cNvSpPr/>
          <p:nvPr/>
        </p:nvSpPr>
        <p:spPr>
          <a:xfrm>
            <a:off x="785226" y="4088959"/>
            <a:ext cx="109056" cy="964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7082881-57C7-E295-D840-9FA9645ADDDE}"/>
              </a:ext>
            </a:extLst>
          </p:cNvPr>
          <p:cNvSpPr txBox="1"/>
          <p:nvPr/>
        </p:nvSpPr>
        <p:spPr>
          <a:xfrm>
            <a:off x="1045283" y="3952528"/>
            <a:ext cx="2934749" cy="369332"/>
          </a:xfrm>
          <a:prstGeom prst="rect">
            <a:avLst/>
          </a:prstGeom>
          <a:noFill/>
        </p:spPr>
        <p:txBody>
          <a:bodyPr wrap="square" rtlCol="0">
            <a:spAutoFit/>
          </a:bodyPr>
          <a:lstStyle/>
          <a:p>
            <a:r>
              <a:rPr lang="en-US" altLang="zh-CN" dirty="0">
                <a:solidFill>
                  <a:srgbClr val="CC6600"/>
                </a:solidFill>
              </a:rPr>
              <a:t>scripts/isa-platform.mk</a:t>
            </a:r>
            <a:endParaRPr lang="zh-CN" altLang="en-US" dirty="0">
              <a:solidFill>
                <a:srgbClr val="CC6600"/>
              </a:solidFill>
            </a:endParaRPr>
          </a:p>
        </p:txBody>
      </p:sp>
      <p:sp>
        <p:nvSpPr>
          <p:cNvPr id="23" name="文本框 22">
            <a:extLst>
              <a:ext uri="{FF2B5EF4-FFF2-40B4-BE49-F238E27FC236}">
                <a16:creationId xmlns:a16="http://schemas.microsoft.com/office/drawing/2014/main" id="{0CC7BEAB-0F1D-C733-7ABC-6FFFF24C55FC}"/>
              </a:ext>
            </a:extLst>
          </p:cNvPr>
          <p:cNvSpPr txBox="1"/>
          <p:nvPr/>
        </p:nvSpPr>
        <p:spPr>
          <a:xfrm>
            <a:off x="1029606" y="2074868"/>
            <a:ext cx="4348294" cy="646331"/>
          </a:xfrm>
          <a:prstGeom prst="rect">
            <a:avLst/>
          </a:prstGeom>
          <a:noFill/>
        </p:spPr>
        <p:txBody>
          <a:bodyPr wrap="square" rtlCol="0">
            <a:spAutoFit/>
          </a:bodyPr>
          <a:lstStyle/>
          <a:p>
            <a:r>
              <a:rPr lang="zh-CN" altLang="en-US" dirty="0"/>
              <a:t>与硬件执行平台无关的目标代码</a:t>
            </a:r>
            <a:r>
              <a:rPr lang="en-US" altLang="zh-CN" dirty="0"/>
              <a:t>ISA</a:t>
            </a:r>
            <a:r>
              <a:rPr lang="zh-CN" altLang="en-US" dirty="0"/>
              <a:t>，如对齐、</a:t>
            </a:r>
            <a:r>
              <a:rPr lang="en-US" altLang="zh-CN" dirty="0"/>
              <a:t>ABI</a:t>
            </a:r>
            <a:r>
              <a:rPr lang="zh-CN" altLang="en-US" dirty="0"/>
              <a:t>格式、编译优化等级</a:t>
            </a:r>
          </a:p>
        </p:txBody>
      </p:sp>
      <p:sp>
        <p:nvSpPr>
          <p:cNvPr id="24" name="文本框 23">
            <a:extLst>
              <a:ext uri="{FF2B5EF4-FFF2-40B4-BE49-F238E27FC236}">
                <a16:creationId xmlns:a16="http://schemas.microsoft.com/office/drawing/2014/main" id="{4C42B91A-E124-9BCD-E1EE-4F7DF2349805}"/>
              </a:ext>
            </a:extLst>
          </p:cNvPr>
          <p:cNvSpPr txBox="1"/>
          <p:nvPr/>
        </p:nvSpPr>
        <p:spPr>
          <a:xfrm>
            <a:off x="1008278" y="3247364"/>
            <a:ext cx="4348294" cy="646331"/>
          </a:xfrm>
          <a:prstGeom prst="rect">
            <a:avLst/>
          </a:prstGeom>
          <a:noFill/>
        </p:spPr>
        <p:txBody>
          <a:bodyPr wrap="square" rtlCol="0">
            <a:spAutoFit/>
          </a:bodyPr>
          <a:lstStyle/>
          <a:p>
            <a:r>
              <a:rPr lang="zh-CN" altLang="en-US" dirty="0"/>
              <a:t>与硬件资源相关的设置，如链接入口、剥除</a:t>
            </a:r>
            <a:r>
              <a:rPr lang="en-US" altLang="zh-CN" dirty="0"/>
              <a:t>ELF</a:t>
            </a:r>
            <a:r>
              <a:rPr lang="zh-CN" altLang="en-US" dirty="0"/>
              <a:t>为程序镜像、传参、加载</a:t>
            </a:r>
          </a:p>
        </p:txBody>
      </p:sp>
      <p:sp>
        <p:nvSpPr>
          <p:cNvPr id="25" name="文本框 24">
            <a:extLst>
              <a:ext uri="{FF2B5EF4-FFF2-40B4-BE49-F238E27FC236}">
                <a16:creationId xmlns:a16="http://schemas.microsoft.com/office/drawing/2014/main" id="{513E8B44-BD8F-E5CA-5662-0FF5DCB83E8D}"/>
              </a:ext>
            </a:extLst>
          </p:cNvPr>
          <p:cNvSpPr txBox="1"/>
          <p:nvPr/>
        </p:nvSpPr>
        <p:spPr>
          <a:xfrm>
            <a:off x="1008278" y="4387118"/>
            <a:ext cx="4348294" cy="646331"/>
          </a:xfrm>
          <a:prstGeom prst="rect">
            <a:avLst/>
          </a:prstGeom>
          <a:noFill/>
        </p:spPr>
        <p:txBody>
          <a:bodyPr wrap="square" rtlCol="0">
            <a:spAutoFit/>
          </a:bodyPr>
          <a:lstStyle/>
          <a:p>
            <a:r>
              <a:rPr lang="zh-CN" altLang="en-US" dirty="0"/>
              <a:t>包含前两者对应的</a:t>
            </a:r>
            <a:r>
              <a:rPr lang="en-US" altLang="zh-CN" dirty="0" err="1"/>
              <a:t>mk</a:t>
            </a:r>
            <a:r>
              <a:rPr lang="zh-CN" altLang="en-US" dirty="0"/>
              <a:t>文件，覆写和追加一些个性化设置</a:t>
            </a:r>
            <a:r>
              <a:rPr lang="en-US" altLang="zh-CN" dirty="0"/>
              <a:t>,</a:t>
            </a:r>
            <a:r>
              <a:rPr lang="zh-CN" altLang="en-US" dirty="0"/>
              <a:t>传一些编译宏参数</a:t>
            </a:r>
          </a:p>
        </p:txBody>
      </p:sp>
      <p:sp>
        <p:nvSpPr>
          <p:cNvPr id="27" name="椭圆 26">
            <a:extLst>
              <a:ext uri="{FF2B5EF4-FFF2-40B4-BE49-F238E27FC236}">
                <a16:creationId xmlns:a16="http://schemas.microsoft.com/office/drawing/2014/main" id="{DB1E893F-4909-0ED8-D28D-6B0927EA9E01}"/>
              </a:ext>
            </a:extLst>
          </p:cNvPr>
          <p:cNvSpPr/>
          <p:nvPr/>
        </p:nvSpPr>
        <p:spPr>
          <a:xfrm>
            <a:off x="748221" y="5358724"/>
            <a:ext cx="109056" cy="964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70DC3078-B658-20EE-201D-220198B28B8C}"/>
              </a:ext>
            </a:extLst>
          </p:cNvPr>
          <p:cNvSpPr txBox="1"/>
          <p:nvPr/>
        </p:nvSpPr>
        <p:spPr>
          <a:xfrm>
            <a:off x="1008278" y="5222293"/>
            <a:ext cx="2934749" cy="369332"/>
          </a:xfrm>
          <a:prstGeom prst="rect">
            <a:avLst/>
          </a:prstGeom>
          <a:noFill/>
        </p:spPr>
        <p:txBody>
          <a:bodyPr wrap="square" rtlCol="0">
            <a:spAutoFit/>
          </a:bodyPr>
          <a:lstStyle/>
          <a:p>
            <a:r>
              <a:rPr lang="en-US" altLang="zh-CN" dirty="0" err="1">
                <a:solidFill>
                  <a:srgbClr val="CC6600"/>
                </a:solidFill>
              </a:rPr>
              <a:t>klib</a:t>
            </a:r>
            <a:r>
              <a:rPr lang="en-US" altLang="zh-CN" dirty="0">
                <a:solidFill>
                  <a:srgbClr val="CC6600"/>
                </a:solidFill>
              </a:rPr>
              <a:t>/*</a:t>
            </a:r>
            <a:endParaRPr lang="zh-CN" altLang="en-US" dirty="0">
              <a:solidFill>
                <a:srgbClr val="CC6600"/>
              </a:solidFill>
            </a:endParaRPr>
          </a:p>
        </p:txBody>
      </p:sp>
      <p:sp>
        <p:nvSpPr>
          <p:cNvPr id="29" name="文本框 28">
            <a:extLst>
              <a:ext uri="{FF2B5EF4-FFF2-40B4-BE49-F238E27FC236}">
                <a16:creationId xmlns:a16="http://schemas.microsoft.com/office/drawing/2014/main" id="{66657325-6CD8-EAF9-C3CF-68518F8CA21F}"/>
              </a:ext>
            </a:extLst>
          </p:cNvPr>
          <p:cNvSpPr txBox="1"/>
          <p:nvPr/>
        </p:nvSpPr>
        <p:spPr>
          <a:xfrm>
            <a:off x="1008278" y="5661709"/>
            <a:ext cx="4348294" cy="369332"/>
          </a:xfrm>
          <a:prstGeom prst="rect">
            <a:avLst/>
          </a:prstGeom>
          <a:noFill/>
        </p:spPr>
        <p:txBody>
          <a:bodyPr wrap="square" rtlCol="0">
            <a:spAutoFit/>
          </a:bodyPr>
          <a:lstStyle/>
          <a:p>
            <a:r>
              <a:rPr lang="zh-CN" altLang="en-US" dirty="0"/>
              <a:t>便于</a:t>
            </a:r>
            <a:r>
              <a:rPr lang="en-US" altLang="zh-CN" dirty="0"/>
              <a:t>C</a:t>
            </a:r>
            <a:r>
              <a:rPr lang="zh-CN" altLang="en-US" dirty="0"/>
              <a:t>程序移植的最小</a:t>
            </a:r>
            <a:r>
              <a:rPr lang="en-US" altLang="zh-CN" dirty="0" err="1"/>
              <a:t>libc</a:t>
            </a:r>
            <a:r>
              <a:rPr lang="zh-CN" altLang="en-US" dirty="0"/>
              <a:t>库函数支持</a:t>
            </a:r>
          </a:p>
        </p:txBody>
      </p:sp>
      <p:sp>
        <p:nvSpPr>
          <p:cNvPr id="30" name="文本框 29">
            <a:extLst>
              <a:ext uri="{FF2B5EF4-FFF2-40B4-BE49-F238E27FC236}">
                <a16:creationId xmlns:a16="http://schemas.microsoft.com/office/drawing/2014/main" id="{1886074D-10D2-92DB-18A5-390325FC5E62}"/>
              </a:ext>
            </a:extLst>
          </p:cNvPr>
          <p:cNvSpPr txBox="1"/>
          <p:nvPr/>
        </p:nvSpPr>
        <p:spPr>
          <a:xfrm>
            <a:off x="7354314" y="1493073"/>
            <a:ext cx="3214382" cy="369332"/>
          </a:xfrm>
          <a:prstGeom prst="rect">
            <a:avLst/>
          </a:prstGeom>
          <a:noFill/>
        </p:spPr>
        <p:txBody>
          <a:bodyPr wrap="square" rtlCol="0">
            <a:spAutoFit/>
          </a:bodyPr>
          <a:lstStyle/>
          <a:p>
            <a:r>
              <a:rPr lang="en-US" altLang="zh-CN" dirty="0"/>
              <a:t>make ARCH=isa-platform run</a:t>
            </a:r>
            <a:endParaRPr lang="zh-CN" altLang="en-US" dirty="0"/>
          </a:p>
        </p:txBody>
      </p:sp>
      <p:cxnSp>
        <p:nvCxnSpPr>
          <p:cNvPr id="32" name="直接箭头连接符 31">
            <a:extLst>
              <a:ext uri="{FF2B5EF4-FFF2-40B4-BE49-F238E27FC236}">
                <a16:creationId xmlns:a16="http://schemas.microsoft.com/office/drawing/2014/main" id="{86CCE3F2-0002-5ECC-BF63-432F6AFC6DAE}"/>
              </a:ext>
            </a:extLst>
          </p:cNvPr>
          <p:cNvCxnSpPr/>
          <p:nvPr/>
        </p:nvCxnSpPr>
        <p:spPr>
          <a:xfrm flipH="1">
            <a:off x="7401850" y="1877810"/>
            <a:ext cx="658536" cy="437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DD9122BE-1265-10A3-BBB1-2416E9E5C09D}"/>
              </a:ext>
            </a:extLst>
          </p:cNvPr>
          <p:cNvSpPr txBox="1"/>
          <p:nvPr/>
        </p:nvSpPr>
        <p:spPr>
          <a:xfrm>
            <a:off x="5733767" y="2312311"/>
            <a:ext cx="3550921" cy="307777"/>
          </a:xfrm>
          <a:prstGeom prst="rect">
            <a:avLst/>
          </a:prstGeom>
          <a:noFill/>
        </p:spPr>
        <p:txBody>
          <a:bodyPr wrap="square" rtlCol="0">
            <a:spAutoFit/>
          </a:bodyPr>
          <a:lstStyle/>
          <a:p>
            <a:r>
              <a:rPr lang="zh-CN" altLang="en-US" sz="1400" dirty="0"/>
              <a:t>环境变量</a:t>
            </a:r>
            <a:r>
              <a:rPr lang="en-US" altLang="zh-CN" sz="1400" dirty="0"/>
              <a:t>ARCH</a:t>
            </a:r>
            <a:r>
              <a:rPr lang="zh-CN" altLang="en-US" sz="1400" dirty="0"/>
              <a:t>确定目标平台编译链接参数</a:t>
            </a:r>
          </a:p>
        </p:txBody>
      </p:sp>
      <p:sp>
        <p:nvSpPr>
          <p:cNvPr id="34" name="文本框 33">
            <a:extLst>
              <a:ext uri="{FF2B5EF4-FFF2-40B4-BE49-F238E27FC236}">
                <a16:creationId xmlns:a16="http://schemas.microsoft.com/office/drawing/2014/main" id="{F44480E5-72E7-ECA3-47FA-E739E7BD8B4B}"/>
              </a:ext>
            </a:extLst>
          </p:cNvPr>
          <p:cNvSpPr txBox="1"/>
          <p:nvPr/>
        </p:nvSpPr>
        <p:spPr>
          <a:xfrm>
            <a:off x="6070306" y="3069994"/>
            <a:ext cx="3214382" cy="307777"/>
          </a:xfrm>
          <a:prstGeom prst="rect">
            <a:avLst/>
          </a:prstGeom>
          <a:noFill/>
        </p:spPr>
        <p:txBody>
          <a:bodyPr wrap="square" rtlCol="0">
            <a:spAutoFit/>
          </a:bodyPr>
          <a:lstStyle/>
          <a:p>
            <a:r>
              <a:rPr lang="zh-CN" altLang="en-US" sz="1400" dirty="0"/>
              <a:t>打包构建出</a:t>
            </a:r>
            <a:r>
              <a:rPr lang="en-US" altLang="zh-CN" sz="1400" dirty="0"/>
              <a:t>am</a:t>
            </a:r>
            <a:r>
              <a:rPr lang="zh-CN" altLang="en-US" sz="1400" dirty="0"/>
              <a:t>静态库</a:t>
            </a:r>
            <a:r>
              <a:rPr lang="en-US" altLang="zh-CN" sz="1400" dirty="0"/>
              <a:t>.a</a:t>
            </a:r>
            <a:r>
              <a:rPr lang="zh-CN" altLang="en-US" sz="1400" dirty="0"/>
              <a:t>文件</a:t>
            </a:r>
          </a:p>
        </p:txBody>
      </p:sp>
      <p:cxnSp>
        <p:nvCxnSpPr>
          <p:cNvPr id="35" name="直接箭头连接符 34">
            <a:extLst>
              <a:ext uri="{FF2B5EF4-FFF2-40B4-BE49-F238E27FC236}">
                <a16:creationId xmlns:a16="http://schemas.microsoft.com/office/drawing/2014/main" id="{B7656D54-7EF0-94B4-29DD-6A24BD0F5188}"/>
              </a:ext>
            </a:extLst>
          </p:cNvPr>
          <p:cNvCxnSpPr>
            <a:cxnSpLocks/>
          </p:cNvCxnSpPr>
          <p:nvPr/>
        </p:nvCxnSpPr>
        <p:spPr>
          <a:xfrm>
            <a:off x="9609411" y="1870006"/>
            <a:ext cx="606946" cy="437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8FFE1585-17BE-9E17-BA72-E53D08CB7B2C}"/>
              </a:ext>
            </a:extLst>
          </p:cNvPr>
          <p:cNvSpPr txBox="1"/>
          <p:nvPr/>
        </p:nvSpPr>
        <p:spPr>
          <a:xfrm>
            <a:off x="9450504" y="2307715"/>
            <a:ext cx="2654701" cy="307777"/>
          </a:xfrm>
          <a:prstGeom prst="rect">
            <a:avLst/>
          </a:prstGeom>
          <a:noFill/>
        </p:spPr>
        <p:txBody>
          <a:bodyPr wrap="square" rtlCol="0">
            <a:spAutoFit/>
          </a:bodyPr>
          <a:lstStyle/>
          <a:p>
            <a:r>
              <a:rPr lang="zh-CN" altLang="en-US" sz="1400" dirty="0"/>
              <a:t>程序</a:t>
            </a:r>
            <a:r>
              <a:rPr lang="en-US" altLang="zh-CN" sz="1400" dirty="0"/>
              <a:t>C</a:t>
            </a:r>
            <a:r>
              <a:rPr lang="zh-CN" altLang="en-US" sz="1400" dirty="0"/>
              <a:t>源码</a:t>
            </a:r>
            <a:r>
              <a:rPr lang="en-US" altLang="zh-CN" sz="1400" dirty="0"/>
              <a:t>SRC</a:t>
            </a:r>
            <a:r>
              <a:rPr lang="zh-CN" altLang="en-US" sz="1400" dirty="0"/>
              <a:t>编译目标文件</a:t>
            </a:r>
          </a:p>
        </p:txBody>
      </p:sp>
      <p:cxnSp>
        <p:nvCxnSpPr>
          <p:cNvPr id="40" name="直接箭头连接符 39">
            <a:extLst>
              <a:ext uri="{FF2B5EF4-FFF2-40B4-BE49-F238E27FC236}">
                <a16:creationId xmlns:a16="http://schemas.microsoft.com/office/drawing/2014/main" id="{B6A8F53E-F7B3-9393-3931-B88771318EC8}"/>
              </a:ext>
            </a:extLst>
          </p:cNvPr>
          <p:cNvCxnSpPr>
            <a:cxnSpLocks/>
          </p:cNvCxnSpPr>
          <p:nvPr/>
        </p:nvCxnSpPr>
        <p:spPr>
          <a:xfrm>
            <a:off x="7018544" y="3438123"/>
            <a:ext cx="594221" cy="632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4E5FB77F-E4CC-0A9E-7095-35F5FBEAEA23}"/>
              </a:ext>
            </a:extLst>
          </p:cNvPr>
          <p:cNvCxnSpPr>
            <a:cxnSpLocks/>
          </p:cNvCxnSpPr>
          <p:nvPr/>
        </p:nvCxnSpPr>
        <p:spPr>
          <a:xfrm flipH="1">
            <a:off x="8906771" y="2615492"/>
            <a:ext cx="1661925" cy="14873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A8E65E1C-716D-FD79-FFE5-B778F502D05B}"/>
              </a:ext>
            </a:extLst>
          </p:cNvPr>
          <p:cNvSpPr txBox="1"/>
          <p:nvPr/>
        </p:nvSpPr>
        <p:spPr>
          <a:xfrm>
            <a:off x="7488538" y="4152952"/>
            <a:ext cx="2388065" cy="307777"/>
          </a:xfrm>
          <a:prstGeom prst="rect">
            <a:avLst/>
          </a:prstGeom>
          <a:noFill/>
        </p:spPr>
        <p:txBody>
          <a:bodyPr wrap="square" rtlCol="0">
            <a:spAutoFit/>
          </a:bodyPr>
          <a:lstStyle/>
          <a:p>
            <a:r>
              <a:rPr lang="zh-CN" altLang="en-US" sz="1400" dirty="0"/>
              <a:t>链接为</a:t>
            </a:r>
            <a:r>
              <a:rPr lang="en-US" altLang="zh-CN" sz="1400" dirty="0"/>
              <a:t>ELF</a:t>
            </a:r>
            <a:r>
              <a:rPr lang="zh-CN" altLang="en-US" sz="1400" dirty="0"/>
              <a:t>可执行文件</a:t>
            </a:r>
          </a:p>
        </p:txBody>
      </p:sp>
      <p:sp>
        <p:nvSpPr>
          <p:cNvPr id="46" name="文本框 45">
            <a:extLst>
              <a:ext uri="{FF2B5EF4-FFF2-40B4-BE49-F238E27FC236}">
                <a16:creationId xmlns:a16="http://schemas.microsoft.com/office/drawing/2014/main" id="{7051CF49-D269-367B-895E-9D3FA96F4602}"/>
              </a:ext>
            </a:extLst>
          </p:cNvPr>
          <p:cNvSpPr txBox="1"/>
          <p:nvPr/>
        </p:nvSpPr>
        <p:spPr>
          <a:xfrm>
            <a:off x="7401850" y="4928133"/>
            <a:ext cx="3166846" cy="307777"/>
          </a:xfrm>
          <a:prstGeom prst="rect">
            <a:avLst/>
          </a:prstGeom>
          <a:noFill/>
        </p:spPr>
        <p:txBody>
          <a:bodyPr wrap="square" rtlCol="0">
            <a:spAutoFit/>
          </a:bodyPr>
          <a:lstStyle/>
          <a:p>
            <a:r>
              <a:rPr lang="zh-CN" altLang="en-US" sz="1400" dirty="0"/>
              <a:t>生成镜像文件，</a:t>
            </a:r>
            <a:r>
              <a:rPr lang="en-US" altLang="zh-CN" sz="1400" dirty="0"/>
              <a:t>run</a:t>
            </a:r>
            <a:r>
              <a:rPr lang="zh-CN" altLang="en-US" sz="1400" dirty="0"/>
              <a:t>命令平台加载镜像</a:t>
            </a:r>
          </a:p>
        </p:txBody>
      </p:sp>
      <p:cxnSp>
        <p:nvCxnSpPr>
          <p:cNvPr id="47" name="直接箭头连接符 46">
            <a:extLst>
              <a:ext uri="{FF2B5EF4-FFF2-40B4-BE49-F238E27FC236}">
                <a16:creationId xmlns:a16="http://schemas.microsoft.com/office/drawing/2014/main" id="{C5333732-2982-A959-61D4-779574C0805B}"/>
              </a:ext>
            </a:extLst>
          </p:cNvPr>
          <p:cNvCxnSpPr>
            <a:cxnSpLocks/>
          </p:cNvCxnSpPr>
          <p:nvPr/>
        </p:nvCxnSpPr>
        <p:spPr>
          <a:xfrm>
            <a:off x="7488538" y="2656784"/>
            <a:ext cx="0" cy="437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938D9EAD-0FC8-75EC-00F3-C30382D999D1}"/>
              </a:ext>
            </a:extLst>
          </p:cNvPr>
          <p:cNvSpPr txBox="1"/>
          <p:nvPr/>
        </p:nvSpPr>
        <p:spPr>
          <a:xfrm>
            <a:off x="7655295" y="5660924"/>
            <a:ext cx="1795209" cy="307777"/>
          </a:xfrm>
          <a:prstGeom prst="rect">
            <a:avLst/>
          </a:prstGeom>
          <a:noFill/>
        </p:spPr>
        <p:txBody>
          <a:bodyPr wrap="square" rtlCol="0">
            <a:spAutoFit/>
          </a:bodyPr>
          <a:lstStyle/>
          <a:p>
            <a:r>
              <a:rPr lang="zh-CN" altLang="en-US" sz="1400" dirty="0"/>
              <a:t>程序开始运行至停机</a:t>
            </a:r>
          </a:p>
        </p:txBody>
      </p:sp>
      <p:cxnSp>
        <p:nvCxnSpPr>
          <p:cNvPr id="50" name="直接箭头连接符 49">
            <a:extLst>
              <a:ext uri="{FF2B5EF4-FFF2-40B4-BE49-F238E27FC236}">
                <a16:creationId xmlns:a16="http://schemas.microsoft.com/office/drawing/2014/main" id="{899C16BA-6939-B153-1B03-6CC82814DFC7}"/>
              </a:ext>
            </a:extLst>
          </p:cNvPr>
          <p:cNvCxnSpPr>
            <a:cxnSpLocks/>
          </p:cNvCxnSpPr>
          <p:nvPr/>
        </p:nvCxnSpPr>
        <p:spPr>
          <a:xfrm>
            <a:off x="8411184" y="4406290"/>
            <a:ext cx="0" cy="551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DD605FD6-07BD-4FC8-7459-4A05559C79EA}"/>
              </a:ext>
            </a:extLst>
          </p:cNvPr>
          <p:cNvCxnSpPr>
            <a:cxnSpLocks/>
          </p:cNvCxnSpPr>
          <p:nvPr/>
        </p:nvCxnSpPr>
        <p:spPr>
          <a:xfrm>
            <a:off x="8413803" y="5175535"/>
            <a:ext cx="0" cy="533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957664E3-20B2-40CF-ED68-A9CC435F26B2}"/>
              </a:ext>
            </a:extLst>
          </p:cNvPr>
          <p:cNvSpPr txBox="1"/>
          <p:nvPr/>
        </p:nvSpPr>
        <p:spPr>
          <a:xfrm>
            <a:off x="8542607" y="4503119"/>
            <a:ext cx="1938004" cy="307777"/>
          </a:xfrm>
          <a:prstGeom prst="rect">
            <a:avLst/>
          </a:prstGeom>
          <a:noFill/>
        </p:spPr>
        <p:txBody>
          <a:bodyPr wrap="square" rtlCol="0">
            <a:spAutoFit/>
          </a:bodyPr>
          <a:lstStyle/>
          <a:p>
            <a:r>
              <a:rPr lang="en-US" altLang="zh-CN" sz="1400" dirty="0">
                <a:solidFill>
                  <a:srgbClr val="CC6600"/>
                </a:solidFill>
              </a:rPr>
              <a:t>scripts/platform/*.mk</a:t>
            </a:r>
            <a:endParaRPr lang="zh-CN" altLang="en-US" sz="1400" dirty="0">
              <a:solidFill>
                <a:srgbClr val="CC6600"/>
              </a:solidFill>
            </a:endParaRPr>
          </a:p>
        </p:txBody>
      </p:sp>
      <p:sp>
        <p:nvSpPr>
          <p:cNvPr id="55" name="文本框 54">
            <a:extLst>
              <a:ext uri="{FF2B5EF4-FFF2-40B4-BE49-F238E27FC236}">
                <a16:creationId xmlns:a16="http://schemas.microsoft.com/office/drawing/2014/main" id="{966E9F24-1DA6-4594-D733-BF7A66375C19}"/>
              </a:ext>
            </a:extLst>
          </p:cNvPr>
          <p:cNvSpPr txBox="1"/>
          <p:nvPr/>
        </p:nvSpPr>
        <p:spPr>
          <a:xfrm>
            <a:off x="7442182" y="3608694"/>
            <a:ext cx="1938004" cy="307777"/>
          </a:xfrm>
          <a:prstGeom prst="rect">
            <a:avLst/>
          </a:prstGeom>
          <a:noFill/>
        </p:spPr>
        <p:txBody>
          <a:bodyPr wrap="square" rtlCol="0">
            <a:spAutoFit/>
          </a:bodyPr>
          <a:lstStyle/>
          <a:p>
            <a:r>
              <a:rPr lang="en-US" altLang="zh-CN" sz="1400" dirty="0">
                <a:solidFill>
                  <a:srgbClr val="CC6600"/>
                </a:solidFill>
              </a:rPr>
              <a:t>scripts/platform/*.mk</a:t>
            </a:r>
            <a:endParaRPr lang="zh-CN" altLang="en-US" sz="1400" dirty="0">
              <a:solidFill>
                <a:srgbClr val="CC6600"/>
              </a:solidFill>
            </a:endParaRPr>
          </a:p>
        </p:txBody>
      </p:sp>
      <p:sp>
        <p:nvSpPr>
          <p:cNvPr id="56" name="文本框 55">
            <a:extLst>
              <a:ext uri="{FF2B5EF4-FFF2-40B4-BE49-F238E27FC236}">
                <a16:creationId xmlns:a16="http://schemas.microsoft.com/office/drawing/2014/main" id="{582FDD32-37C8-EDCB-6884-0E3A944DD5E7}"/>
              </a:ext>
            </a:extLst>
          </p:cNvPr>
          <p:cNvSpPr txBox="1"/>
          <p:nvPr/>
        </p:nvSpPr>
        <p:spPr>
          <a:xfrm>
            <a:off x="10041712" y="1841934"/>
            <a:ext cx="865338" cy="276999"/>
          </a:xfrm>
          <a:prstGeom prst="rect">
            <a:avLst/>
          </a:prstGeom>
          <a:noFill/>
        </p:spPr>
        <p:txBody>
          <a:bodyPr wrap="square" rtlCol="0">
            <a:spAutoFit/>
          </a:bodyPr>
          <a:lstStyle/>
          <a:p>
            <a:r>
              <a:rPr lang="en-US" altLang="zh-CN" sz="1200" dirty="0">
                <a:solidFill>
                  <a:srgbClr val="CC6600"/>
                </a:solidFill>
              </a:rPr>
              <a:t>./</a:t>
            </a:r>
            <a:r>
              <a:rPr lang="en-US" altLang="zh-CN" sz="1200" dirty="0" err="1">
                <a:solidFill>
                  <a:srgbClr val="CC6600"/>
                </a:solidFill>
              </a:rPr>
              <a:t>Makefile</a:t>
            </a:r>
            <a:endParaRPr lang="zh-CN" altLang="en-US" sz="1200" dirty="0">
              <a:solidFill>
                <a:srgbClr val="CC6600"/>
              </a:solidFill>
            </a:endParaRPr>
          </a:p>
        </p:txBody>
      </p:sp>
      <p:sp>
        <p:nvSpPr>
          <p:cNvPr id="57" name="文本框 56">
            <a:extLst>
              <a:ext uri="{FF2B5EF4-FFF2-40B4-BE49-F238E27FC236}">
                <a16:creationId xmlns:a16="http://schemas.microsoft.com/office/drawing/2014/main" id="{6DC22E8C-D20A-8448-2FC6-17FEDA79DC0B}"/>
              </a:ext>
            </a:extLst>
          </p:cNvPr>
          <p:cNvSpPr txBox="1"/>
          <p:nvPr/>
        </p:nvSpPr>
        <p:spPr>
          <a:xfrm>
            <a:off x="6242627" y="1823978"/>
            <a:ext cx="1655949" cy="307777"/>
          </a:xfrm>
          <a:prstGeom prst="rect">
            <a:avLst/>
          </a:prstGeom>
          <a:noFill/>
        </p:spPr>
        <p:txBody>
          <a:bodyPr wrap="square" rtlCol="0">
            <a:spAutoFit/>
          </a:bodyPr>
          <a:lstStyle/>
          <a:p>
            <a:r>
              <a:rPr lang="en-US" altLang="zh-CN" sz="1400" dirty="0">
                <a:solidFill>
                  <a:srgbClr val="CC6600"/>
                </a:solidFill>
              </a:rPr>
              <a:t>scripts/isa/*.mk</a:t>
            </a:r>
            <a:endParaRPr lang="zh-CN" altLang="en-US" sz="1400" dirty="0">
              <a:solidFill>
                <a:srgbClr val="CC6600"/>
              </a:solidFill>
            </a:endParaRPr>
          </a:p>
        </p:txBody>
      </p:sp>
      <p:sp>
        <p:nvSpPr>
          <p:cNvPr id="58" name="文本框 57">
            <a:extLst>
              <a:ext uri="{FF2B5EF4-FFF2-40B4-BE49-F238E27FC236}">
                <a16:creationId xmlns:a16="http://schemas.microsoft.com/office/drawing/2014/main" id="{43661A86-8B0D-E364-A0F2-7F03537EBD6C}"/>
              </a:ext>
            </a:extLst>
          </p:cNvPr>
          <p:cNvSpPr txBox="1"/>
          <p:nvPr/>
        </p:nvSpPr>
        <p:spPr>
          <a:xfrm>
            <a:off x="6585875" y="2656784"/>
            <a:ext cx="865338" cy="276999"/>
          </a:xfrm>
          <a:prstGeom prst="rect">
            <a:avLst/>
          </a:prstGeom>
          <a:noFill/>
        </p:spPr>
        <p:txBody>
          <a:bodyPr wrap="square" rtlCol="0">
            <a:spAutoFit/>
          </a:bodyPr>
          <a:lstStyle/>
          <a:p>
            <a:r>
              <a:rPr lang="en-US" altLang="zh-CN" sz="1200" dirty="0">
                <a:solidFill>
                  <a:srgbClr val="CC6600"/>
                </a:solidFill>
              </a:rPr>
              <a:t>./</a:t>
            </a:r>
            <a:r>
              <a:rPr lang="en-US" altLang="zh-CN" sz="1200" dirty="0" err="1">
                <a:solidFill>
                  <a:srgbClr val="CC6600"/>
                </a:solidFill>
              </a:rPr>
              <a:t>Makefile</a:t>
            </a:r>
            <a:endParaRPr lang="zh-CN" altLang="en-US" sz="1200" dirty="0">
              <a:solidFill>
                <a:srgbClr val="CC6600"/>
              </a:solidFill>
            </a:endParaRPr>
          </a:p>
        </p:txBody>
      </p:sp>
      <p:sp>
        <p:nvSpPr>
          <p:cNvPr id="59" name="文本框 58">
            <a:extLst>
              <a:ext uri="{FF2B5EF4-FFF2-40B4-BE49-F238E27FC236}">
                <a16:creationId xmlns:a16="http://schemas.microsoft.com/office/drawing/2014/main" id="{249F9CBB-9B96-5ABD-38A7-96F3BA13AC5D}"/>
              </a:ext>
            </a:extLst>
          </p:cNvPr>
          <p:cNvSpPr txBox="1"/>
          <p:nvPr/>
        </p:nvSpPr>
        <p:spPr>
          <a:xfrm>
            <a:off x="10458878" y="2635846"/>
            <a:ext cx="865338" cy="276999"/>
          </a:xfrm>
          <a:prstGeom prst="rect">
            <a:avLst/>
          </a:prstGeom>
          <a:noFill/>
        </p:spPr>
        <p:txBody>
          <a:bodyPr wrap="square" rtlCol="0">
            <a:spAutoFit/>
          </a:bodyPr>
          <a:lstStyle/>
          <a:p>
            <a:r>
              <a:rPr lang="en-US" altLang="zh-CN" sz="1200" dirty="0">
                <a:solidFill>
                  <a:srgbClr val="CC6600"/>
                </a:solidFill>
              </a:rPr>
              <a:t>./</a:t>
            </a:r>
            <a:r>
              <a:rPr lang="en-US" altLang="zh-CN" sz="1200" dirty="0" err="1">
                <a:solidFill>
                  <a:srgbClr val="CC6600"/>
                </a:solidFill>
              </a:rPr>
              <a:t>Makefile</a:t>
            </a:r>
            <a:endParaRPr lang="zh-CN" altLang="en-US" sz="1200" dirty="0">
              <a:solidFill>
                <a:srgbClr val="CC6600"/>
              </a:solidFill>
            </a:endParaRPr>
          </a:p>
        </p:txBody>
      </p:sp>
      <p:sp>
        <p:nvSpPr>
          <p:cNvPr id="60" name="文本框 59">
            <a:extLst>
              <a:ext uri="{FF2B5EF4-FFF2-40B4-BE49-F238E27FC236}">
                <a16:creationId xmlns:a16="http://schemas.microsoft.com/office/drawing/2014/main" id="{7EBE160B-9EA5-79B2-EE45-83556066E342}"/>
              </a:ext>
            </a:extLst>
          </p:cNvPr>
          <p:cNvSpPr txBox="1"/>
          <p:nvPr/>
        </p:nvSpPr>
        <p:spPr>
          <a:xfrm>
            <a:off x="7677497" y="2664921"/>
            <a:ext cx="865338" cy="276999"/>
          </a:xfrm>
          <a:prstGeom prst="rect">
            <a:avLst/>
          </a:prstGeom>
          <a:noFill/>
        </p:spPr>
        <p:txBody>
          <a:bodyPr wrap="square" rtlCol="0">
            <a:spAutoFit/>
          </a:bodyPr>
          <a:lstStyle/>
          <a:p>
            <a:r>
              <a:rPr lang="en-US" altLang="zh-CN" sz="1200" dirty="0" err="1">
                <a:solidFill>
                  <a:srgbClr val="CC6600"/>
                </a:solidFill>
              </a:rPr>
              <a:t>klib</a:t>
            </a:r>
            <a:r>
              <a:rPr lang="en-US" altLang="zh-CN" sz="1200" dirty="0">
                <a:solidFill>
                  <a:srgbClr val="CC6600"/>
                </a:solidFill>
              </a:rPr>
              <a:t>/*</a:t>
            </a:r>
            <a:endParaRPr lang="zh-CN" altLang="en-US" sz="1200" dirty="0">
              <a:solidFill>
                <a:srgbClr val="CC6600"/>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fade/>
      </p:transition>
    </mc:Choice>
    <mc:Fallback xmlns="" xmlns:m="http://schemas.openxmlformats.org/officeDocument/2006/math" xmlns:w="http://schemas.openxmlformats.org/wordprocessingml/2006/main">
      <p:transition spd="fast"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fade">
                                      <p:cBhvr>
                                        <p:cTn id="12" dur="500"/>
                                        <p:tgtEl>
                                          <p:spTgt spid="57"/>
                                        </p:tgtEl>
                                      </p:cBhvr>
                                    </p:animEffect>
                                  </p:childTnLst>
                                </p:cTn>
                              </p:par>
                              <p:par>
                                <p:cTn id="13" presetID="10" presetClass="entr" presetSubtype="0"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par>
                                <p:cTn id="16" presetID="10" presetClass="entr" presetSubtype="0" fill="hold" nodeType="with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500"/>
                                        <p:tgtEl>
                                          <p:spTgt spid="3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6"/>
                                        </p:tgtEl>
                                        <p:attrNameLst>
                                          <p:attrName>style.visibility</p:attrName>
                                        </p:attrNameLst>
                                      </p:cBhvr>
                                      <p:to>
                                        <p:strVal val="visible"/>
                                      </p:to>
                                    </p:set>
                                    <p:animEffect transition="in" filter="fade">
                                      <p:cBhvr>
                                        <p:cTn id="21" dur="500"/>
                                        <p:tgtEl>
                                          <p:spTgt spid="5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500"/>
                                        <p:tgtEl>
                                          <p:spTgt spid="3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500"/>
                                        <p:tgtEl>
                                          <p:spTgt spid="3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500"/>
                                        <p:tgtEl>
                                          <p:spTgt spid="6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500"/>
                                        <p:tgtEl>
                                          <p:spTgt spid="58"/>
                                        </p:tgtEl>
                                      </p:cBhvr>
                                    </p:animEffect>
                                  </p:childTnLst>
                                </p:cTn>
                              </p:par>
                              <p:par>
                                <p:cTn id="36" presetID="10" presetClass="entr" presetSubtype="0" fill="hold" nodeType="withEffect">
                                  <p:stCondLst>
                                    <p:cond delay="0"/>
                                  </p:stCondLst>
                                  <p:childTnLst>
                                    <p:set>
                                      <p:cBhvr>
                                        <p:cTn id="37" dur="1" fill="hold">
                                          <p:stCondLst>
                                            <p:cond delay="0"/>
                                          </p:stCondLst>
                                        </p:cTn>
                                        <p:tgtEl>
                                          <p:spTgt spid="47"/>
                                        </p:tgtEl>
                                        <p:attrNameLst>
                                          <p:attrName>style.visibility</p:attrName>
                                        </p:attrNameLst>
                                      </p:cBhvr>
                                      <p:to>
                                        <p:strVal val="visible"/>
                                      </p:to>
                                    </p:set>
                                    <p:animEffect transition="in" filter="fade">
                                      <p:cBhvr>
                                        <p:cTn id="38" dur="500"/>
                                        <p:tgtEl>
                                          <p:spTgt spid="4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59"/>
                                        </p:tgtEl>
                                        <p:attrNameLst>
                                          <p:attrName>style.visibility</p:attrName>
                                        </p:attrNameLst>
                                      </p:cBhvr>
                                      <p:to>
                                        <p:strVal val="visible"/>
                                      </p:to>
                                    </p:set>
                                    <p:animEffect transition="in" filter="fade">
                                      <p:cBhvr>
                                        <p:cTn id="46" dur="500"/>
                                        <p:tgtEl>
                                          <p:spTgt spid="59"/>
                                        </p:tgtEl>
                                      </p:cBhvr>
                                    </p:animEffect>
                                  </p:childTnLst>
                                </p:cTn>
                              </p:par>
                              <p:par>
                                <p:cTn id="47" presetID="10" presetClass="entr" presetSubtype="0" fill="hold"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500"/>
                                        <p:tgtEl>
                                          <p:spTgt spid="42"/>
                                        </p:tgtEl>
                                      </p:cBhvr>
                                    </p:animEffect>
                                  </p:childTnLst>
                                </p:cTn>
                              </p:par>
                              <p:par>
                                <p:cTn id="50" presetID="10" presetClass="entr" presetSubtype="0" fill="hold"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5"/>
                                        </p:tgtEl>
                                        <p:attrNameLst>
                                          <p:attrName>style.visibility</p:attrName>
                                        </p:attrNameLst>
                                      </p:cBhvr>
                                      <p:to>
                                        <p:strVal val="visible"/>
                                      </p:to>
                                    </p:set>
                                    <p:animEffect transition="in" filter="fade">
                                      <p:cBhvr>
                                        <p:cTn id="55" dur="500"/>
                                        <p:tgtEl>
                                          <p:spTgt spid="5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500"/>
                                        <p:tgtEl>
                                          <p:spTgt spid="4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54"/>
                                        </p:tgtEl>
                                        <p:attrNameLst>
                                          <p:attrName>style.visibility</p:attrName>
                                        </p:attrNameLst>
                                      </p:cBhvr>
                                      <p:to>
                                        <p:strVal val="visible"/>
                                      </p:to>
                                    </p:set>
                                    <p:animEffect transition="in" filter="fade">
                                      <p:cBhvr>
                                        <p:cTn id="63" dur="500"/>
                                        <p:tgtEl>
                                          <p:spTgt spid="54"/>
                                        </p:tgtEl>
                                      </p:cBhvr>
                                    </p:animEffect>
                                  </p:childTnLst>
                                </p:cTn>
                              </p:par>
                              <p:par>
                                <p:cTn id="64" presetID="10" presetClass="entr" presetSubtype="0" fill="hold" nodeType="with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fade">
                                      <p:cBhvr>
                                        <p:cTn id="66" dur="500"/>
                                        <p:tgtEl>
                                          <p:spTgt spid="5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fade">
                                      <p:cBhvr>
                                        <p:cTn id="69" dur="500"/>
                                        <p:tgtEl>
                                          <p:spTgt spid="4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52"/>
                                        </p:tgtEl>
                                        <p:attrNameLst>
                                          <p:attrName>style.visibility</p:attrName>
                                        </p:attrNameLst>
                                      </p:cBhvr>
                                      <p:to>
                                        <p:strVal val="visible"/>
                                      </p:to>
                                    </p:set>
                                    <p:animEffect transition="in" filter="fade">
                                      <p:cBhvr>
                                        <p:cTn id="74" dur="500"/>
                                        <p:tgtEl>
                                          <p:spTgt spid="5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3" grpId="0"/>
      <p:bldP spid="34" grpId="0"/>
      <p:bldP spid="38" grpId="0"/>
      <p:bldP spid="45" grpId="0"/>
      <p:bldP spid="46" grpId="0"/>
      <p:bldP spid="49" grpId="0"/>
      <p:bldP spid="54" grpId="0"/>
      <p:bldP spid="55" grpId="0"/>
      <p:bldP spid="56" grpId="0"/>
      <p:bldP spid="57" grpId="0"/>
      <p:bldP spid="58" grpId="0"/>
      <p:bldP spid="59" grpId="0"/>
      <p:bldP spid="60"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C3B91C9-0981-1018-F9A0-D55DCB687D6B}"/>
            </a:ext>
          </a:extLst>
        </p:cNvPr>
        <p:cNvGrpSpPr/>
        <p:nvPr/>
      </p:nvGrpSpPr>
      <p:grpSpPr bwMode="auto">
        <a:xfrm>
          <a:off x="0" y="0"/>
          <a:ext cx="0" cy="0"/>
          <a:chOff x="0" y="0"/>
          <a:chExt cx="0" cy="0"/>
        </a:xfrm>
      </p:grpSpPr>
      <p:sp>
        <p:nvSpPr>
          <p:cNvPr id="2" name="powerpoint template design by DAJU_PPT正版来源小红书大橘PPT微信DAJU_PPT请勿抄袭搬运！盗版必究！">
            <a:extLst>
              <a:ext uri="{FF2B5EF4-FFF2-40B4-BE49-F238E27FC236}">
                <a16:creationId xmlns:a16="http://schemas.microsoft.com/office/drawing/2014/main" id="{5EA9B05E-BB09-3915-E749-26DDCC01A9BE}"/>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3" name="powerpoint template design by DAJU_PPT正版来源小红书大橘PPT微信DAJU_PPT请勿抄袭搬运！盗版必究！">
            <a:extLst>
              <a:ext uri="{FF2B5EF4-FFF2-40B4-BE49-F238E27FC236}">
                <a16:creationId xmlns:a16="http://schemas.microsoft.com/office/drawing/2014/main" id="{1C34FF75-8E64-AFE2-EFD4-56AAA65A91C3}"/>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4" name="powerpoint template design by DAJU_PPT正版来源小红书大橘PPT微信DAJU_PPT请勿抄袭搬运！盗版必究！">
            <a:extLst>
              <a:ext uri="{FF2B5EF4-FFF2-40B4-BE49-F238E27FC236}">
                <a16:creationId xmlns:a16="http://schemas.microsoft.com/office/drawing/2014/main" id="{F14176AE-6A80-8FA6-245A-9C397294829C}"/>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000" i="0" u="none" strike="noStrike" cap="none" spc="0" dirty="0">
                <a:ln>
                  <a:noFill/>
                </a:ln>
                <a:solidFill>
                  <a:schemeClr val="bg1">
                    <a:alpha val="70000"/>
                  </a:schemeClr>
                </a:solidFill>
                <a:cs typeface="+mn-ea"/>
              </a:rPr>
              <a:t>考核题目讲解</a:t>
            </a:r>
            <a:endParaRPr lang="en-US" sz="2000" i="0" u="none" strike="noStrike" cap="none" spc="0" dirty="0">
              <a:ln>
                <a:noFill/>
              </a:ln>
              <a:solidFill>
                <a:schemeClr val="bg1">
                  <a:alpha val="70000"/>
                </a:schemeClr>
              </a:solidFill>
              <a:cs typeface="+mn-ea"/>
            </a:endParaRPr>
          </a:p>
        </p:txBody>
      </p:sp>
      <p:cxnSp>
        <p:nvCxnSpPr>
          <p:cNvPr id="5" name="powerpoint template design by DAJU_PPT正版来源小红书大橘PPT微信DAJU_PPT请勿抄袭搬运！盗版必究！">
            <a:extLst>
              <a:ext uri="{FF2B5EF4-FFF2-40B4-BE49-F238E27FC236}">
                <a16:creationId xmlns:a16="http://schemas.microsoft.com/office/drawing/2014/main" id="{573E4994-968D-140A-38A3-C07A43B9F499}"/>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powerpoint template design by DAJU_PPT正版来源小红书大橘PPT微信DAJU_PPT请勿抄袭搬运！盗版必究！">
            <a:extLst>
              <a:ext uri="{FF2B5EF4-FFF2-40B4-BE49-F238E27FC236}">
                <a16:creationId xmlns:a16="http://schemas.microsoft.com/office/drawing/2014/main" id="{F5E42A3F-4D68-EED9-A9C5-4DF84ACBE2CE}"/>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powerpoint template design by DAJU_PPT正版来源小红书大橘PPT微信DAJU_PPT请勿抄袭搬运！盗版必究！">
            <a:extLst>
              <a:ext uri="{FF2B5EF4-FFF2-40B4-BE49-F238E27FC236}">
                <a16:creationId xmlns:a16="http://schemas.microsoft.com/office/drawing/2014/main" id="{D5CC71FC-CE5A-831B-DEF2-CC2FE0AA4B62}"/>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8" name="图片 3">
            <a:extLst>
              <a:ext uri="{FF2B5EF4-FFF2-40B4-BE49-F238E27FC236}">
                <a16:creationId xmlns:a16="http://schemas.microsoft.com/office/drawing/2014/main" id="{FF2B5B55-B095-FC2C-82EC-4E6C07B90A95}"/>
              </a:ext>
            </a:extLst>
          </p:cNvPr>
          <p:cNvPicPr>
            <a:picLocks noChangeAspect="1"/>
          </p:cNvPicPr>
          <p:nvPr/>
        </p:nvPicPr>
        <p:blipFill rotWithShape="1">
          <a:blip r:embed="rId3"/>
          <a:stretch/>
        </p:blipFill>
        <p:spPr bwMode="auto">
          <a:xfrm>
            <a:off x="0" y="0"/>
            <a:ext cx="778510" cy="720090"/>
          </a:xfrm>
          <a:prstGeom prst="rect">
            <a:avLst/>
          </a:prstGeom>
        </p:spPr>
      </p:pic>
      <p:sp>
        <p:nvSpPr>
          <p:cNvPr id="9" name="powerpoint template design by DAJU_PPT正版来源小红书大橘PPT微信DAJU_PPT请勿抄袭搬运！盗版必究！">
            <a:extLst>
              <a:ext uri="{FF2B5EF4-FFF2-40B4-BE49-F238E27FC236}">
                <a16:creationId xmlns:a16="http://schemas.microsoft.com/office/drawing/2014/main" id="{55FF624F-AC94-2207-0768-2A591B5ED094}"/>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10" name="powerpoint template design by DAJU_PPT正版来源小红书大橘PPT微信DAJU_PPT请勿抄袭搬运！盗版必究！">
            <a:extLst>
              <a:ext uri="{FF2B5EF4-FFF2-40B4-BE49-F238E27FC236}">
                <a16:creationId xmlns:a16="http://schemas.microsoft.com/office/drawing/2014/main" id="{617E17A7-1E6E-507F-48BD-AFBFE8CCA12F}"/>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400" dirty="0" err="1">
                <a:solidFill>
                  <a:srgbClr val="00B050">
                    <a:alpha val="70000"/>
                  </a:srgbClr>
                </a:solidFill>
                <a:cs typeface="+mn-ea"/>
              </a:rPr>
              <a:t>Makefile</a:t>
            </a:r>
            <a:r>
              <a:rPr lang="zh-CN" altLang="en-US" sz="2400" dirty="0">
                <a:solidFill>
                  <a:srgbClr val="00B050">
                    <a:alpha val="70000"/>
                  </a:srgbClr>
                </a:solidFill>
                <a:cs typeface="+mn-ea"/>
              </a:rPr>
              <a:t>调用链</a:t>
            </a:r>
            <a:endParaRPr lang="en-US" sz="2400" i="0" u="none" strike="noStrike" cap="none" spc="0" dirty="0">
              <a:ln>
                <a:noFill/>
              </a:ln>
              <a:solidFill>
                <a:srgbClr val="00B050">
                  <a:alpha val="70000"/>
                </a:srgbClr>
              </a:solidFill>
              <a:cs typeface="+mn-ea"/>
            </a:endParaRPr>
          </a:p>
        </p:txBody>
      </p:sp>
      <p:sp>
        <p:nvSpPr>
          <p:cNvPr id="11" name="powerpoint template design by DAJU_PPT正版来源小红书大橘PPT微信DAJU_PPT请勿抄袭搬运！盗版必究！">
            <a:extLst>
              <a:ext uri="{FF2B5EF4-FFF2-40B4-BE49-F238E27FC236}">
                <a16:creationId xmlns:a16="http://schemas.microsoft.com/office/drawing/2014/main" id="{89A6AC20-03D4-A759-B3FC-4CB065341349}"/>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000" i="0" u="none" strike="noStrike" cap="none" spc="0" dirty="0">
                <a:ln>
                  <a:noFill/>
                </a:ln>
                <a:solidFill>
                  <a:schemeClr val="bg1">
                    <a:alpha val="70000"/>
                  </a:schemeClr>
                </a:solidFill>
                <a:cs typeface="+mn-ea"/>
              </a:rPr>
              <a:t>架构</a:t>
            </a:r>
            <a:r>
              <a:rPr lang="zh-CN" sz="2000" i="0" u="none" strike="noStrike" cap="none" spc="0" dirty="0">
                <a:ln>
                  <a:noFill/>
                </a:ln>
                <a:solidFill>
                  <a:schemeClr val="bg1">
                    <a:alpha val="70000"/>
                  </a:schemeClr>
                </a:solidFill>
                <a:cs typeface="+mn-ea"/>
              </a:rPr>
              <a:t>讲解</a:t>
            </a:r>
            <a:endParaRPr lang="en-US" sz="2000" i="0" u="none" strike="noStrike" cap="none" spc="0" dirty="0">
              <a:ln>
                <a:noFill/>
              </a:ln>
              <a:solidFill>
                <a:schemeClr val="bg1">
                  <a:alpha val="70000"/>
                </a:schemeClr>
              </a:solidFill>
              <a:cs typeface="+mn-ea"/>
            </a:endParaRPr>
          </a:p>
        </p:txBody>
      </p:sp>
      <p:cxnSp>
        <p:nvCxnSpPr>
          <p:cNvPr id="12" name="直接连接符 11">
            <a:extLst>
              <a:ext uri="{FF2B5EF4-FFF2-40B4-BE49-F238E27FC236}">
                <a16:creationId xmlns:a16="http://schemas.microsoft.com/office/drawing/2014/main" id="{F2DA64AD-C1D5-1278-FB8B-C2B30AF030B1}"/>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1F50A065-1872-4EA3-534A-BA3D53827A07}"/>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标题 2">
            <a:extLst>
              <a:ext uri="{FF2B5EF4-FFF2-40B4-BE49-F238E27FC236}">
                <a16:creationId xmlns:a16="http://schemas.microsoft.com/office/drawing/2014/main" id="{F6C33B37-642F-EC65-FFF6-632968F2FCF9}"/>
              </a:ext>
            </a:extLst>
          </p:cNvPr>
          <p:cNvSpPr>
            <a:spLocks noGrp="1"/>
          </p:cNvSpPr>
          <p:nvPr>
            <p:ph type="title"/>
          </p:nvPr>
        </p:nvSpPr>
        <p:spPr bwMode="auto">
          <a:xfrm>
            <a:off x="443230" y="873125"/>
            <a:ext cx="5554980" cy="403225"/>
          </a:xfrm>
        </p:spPr>
        <p:txBody>
          <a:bodyPr wrap="square"/>
          <a:lstStyle/>
          <a:p>
            <a:pPr>
              <a:defRPr/>
            </a:pPr>
            <a:r>
              <a:rPr lang="en-US" altLang="zh-CN" dirty="0"/>
              <a:t>NEMU</a:t>
            </a:r>
            <a:r>
              <a:rPr lang="en-US" dirty="0"/>
              <a:t> </a:t>
            </a:r>
            <a:r>
              <a:rPr lang="en-US" dirty="0" err="1"/>
              <a:t>Makefile</a:t>
            </a:r>
            <a:r>
              <a:rPr lang="zh-CN" altLang="en-US" dirty="0"/>
              <a:t>调用链</a:t>
            </a:r>
            <a:endParaRPr dirty="0"/>
          </a:p>
        </p:txBody>
      </p:sp>
      <p:cxnSp>
        <p:nvCxnSpPr>
          <p:cNvPr id="15" name="powerpoint template design by DAJU_PPT正版来源小红书大橘PPT微信DAJU_PPT请勿抄袭搬运！盗版必究！">
            <a:extLst>
              <a:ext uri="{FF2B5EF4-FFF2-40B4-BE49-F238E27FC236}">
                <a16:creationId xmlns:a16="http://schemas.microsoft.com/office/drawing/2014/main" id="{6407F5A7-49E3-FFCF-339C-C7E03D4CC819}"/>
              </a:ext>
            </a:extLst>
          </p:cNvPr>
          <p:cNvCxnSpPr/>
          <p:nvPr/>
        </p:nvCxnSpPr>
        <p:spPr bwMode="auto">
          <a:xfrm>
            <a:off x="481890" y="1354204"/>
            <a:ext cx="276348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id="{B73E7857-A0D1-DC75-D295-47AC95EC8D2C}"/>
              </a:ext>
            </a:extLst>
          </p:cNvPr>
          <p:cNvSpPr/>
          <p:nvPr/>
        </p:nvSpPr>
        <p:spPr>
          <a:xfrm>
            <a:off x="852881" y="1812748"/>
            <a:ext cx="109056" cy="964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CC137446-978B-55D2-BBAE-BB34C5DDE4EC}"/>
              </a:ext>
            </a:extLst>
          </p:cNvPr>
          <p:cNvSpPr txBox="1"/>
          <p:nvPr/>
        </p:nvSpPr>
        <p:spPr>
          <a:xfrm>
            <a:off x="1112939" y="1676317"/>
            <a:ext cx="2231472" cy="369332"/>
          </a:xfrm>
          <a:prstGeom prst="rect">
            <a:avLst/>
          </a:prstGeom>
          <a:noFill/>
        </p:spPr>
        <p:txBody>
          <a:bodyPr wrap="square" rtlCol="0">
            <a:spAutoFit/>
          </a:bodyPr>
          <a:lstStyle/>
          <a:p>
            <a:r>
              <a:rPr lang="en-US" altLang="zh-CN" dirty="0">
                <a:solidFill>
                  <a:srgbClr val="CC6600"/>
                </a:solidFill>
              </a:rPr>
              <a:t>scripts/config.mk</a:t>
            </a:r>
            <a:endParaRPr lang="zh-CN" altLang="en-US" dirty="0">
              <a:solidFill>
                <a:srgbClr val="CC6600"/>
              </a:solidFill>
            </a:endParaRPr>
          </a:p>
        </p:txBody>
      </p:sp>
      <p:sp>
        <p:nvSpPr>
          <p:cNvPr id="19" name="椭圆 18">
            <a:extLst>
              <a:ext uri="{FF2B5EF4-FFF2-40B4-BE49-F238E27FC236}">
                <a16:creationId xmlns:a16="http://schemas.microsoft.com/office/drawing/2014/main" id="{E7D5CF3A-ED0B-431A-E34A-EEEEF3E49B6C}"/>
              </a:ext>
            </a:extLst>
          </p:cNvPr>
          <p:cNvSpPr/>
          <p:nvPr/>
        </p:nvSpPr>
        <p:spPr>
          <a:xfrm>
            <a:off x="785225" y="2907389"/>
            <a:ext cx="109056" cy="964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88BA2CD9-9C9E-309C-5565-9C08285C2781}"/>
              </a:ext>
            </a:extLst>
          </p:cNvPr>
          <p:cNvSpPr txBox="1"/>
          <p:nvPr/>
        </p:nvSpPr>
        <p:spPr>
          <a:xfrm>
            <a:off x="1045283" y="2770958"/>
            <a:ext cx="2607578" cy="369332"/>
          </a:xfrm>
          <a:prstGeom prst="rect">
            <a:avLst/>
          </a:prstGeom>
          <a:noFill/>
        </p:spPr>
        <p:txBody>
          <a:bodyPr wrap="square" rtlCol="0">
            <a:spAutoFit/>
          </a:bodyPr>
          <a:lstStyle/>
          <a:p>
            <a:r>
              <a:rPr lang="en-US" altLang="zh-CN" dirty="0">
                <a:solidFill>
                  <a:srgbClr val="CC6600"/>
                </a:solidFill>
              </a:rPr>
              <a:t>scripts/build.mk</a:t>
            </a:r>
            <a:endParaRPr lang="zh-CN" altLang="en-US" dirty="0">
              <a:solidFill>
                <a:srgbClr val="CC6600"/>
              </a:solidFill>
            </a:endParaRPr>
          </a:p>
        </p:txBody>
      </p:sp>
      <p:sp>
        <p:nvSpPr>
          <p:cNvPr id="21" name="椭圆 20">
            <a:extLst>
              <a:ext uri="{FF2B5EF4-FFF2-40B4-BE49-F238E27FC236}">
                <a16:creationId xmlns:a16="http://schemas.microsoft.com/office/drawing/2014/main" id="{320EA83D-B1CB-328C-6C99-41C66BBFA598}"/>
              </a:ext>
            </a:extLst>
          </p:cNvPr>
          <p:cNvSpPr/>
          <p:nvPr/>
        </p:nvSpPr>
        <p:spPr>
          <a:xfrm>
            <a:off x="768212" y="3889546"/>
            <a:ext cx="109056" cy="964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E9FD8C4D-456D-B606-943F-D4AB662713FA}"/>
              </a:ext>
            </a:extLst>
          </p:cNvPr>
          <p:cNvSpPr txBox="1"/>
          <p:nvPr/>
        </p:nvSpPr>
        <p:spPr>
          <a:xfrm>
            <a:off x="1028269" y="3753115"/>
            <a:ext cx="2934749" cy="369332"/>
          </a:xfrm>
          <a:prstGeom prst="rect">
            <a:avLst/>
          </a:prstGeom>
          <a:noFill/>
        </p:spPr>
        <p:txBody>
          <a:bodyPr wrap="square" rtlCol="0">
            <a:spAutoFit/>
          </a:bodyPr>
          <a:lstStyle/>
          <a:p>
            <a:r>
              <a:rPr lang="en-US" altLang="zh-CN" dirty="0">
                <a:solidFill>
                  <a:srgbClr val="CC6600"/>
                </a:solidFill>
              </a:rPr>
              <a:t>scripts/native.mk</a:t>
            </a:r>
            <a:endParaRPr lang="zh-CN" altLang="en-US" dirty="0">
              <a:solidFill>
                <a:srgbClr val="CC6600"/>
              </a:solidFill>
            </a:endParaRPr>
          </a:p>
        </p:txBody>
      </p:sp>
      <p:sp>
        <p:nvSpPr>
          <p:cNvPr id="23" name="文本框 22">
            <a:extLst>
              <a:ext uri="{FF2B5EF4-FFF2-40B4-BE49-F238E27FC236}">
                <a16:creationId xmlns:a16="http://schemas.microsoft.com/office/drawing/2014/main" id="{2B6DCACD-AF64-2420-E5CF-57F898546941}"/>
              </a:ext>
            </a:extLst>
          </p:cNvPr>
          <p:cNvSpPr txBox="1"/>
          <p:nvPr/>
        </p:nvSpPr>
        <p:spPr>
          <a:xfrm>
            <a:off x="1029606" y="2074868"/>
            <a:ext cx="4348294" cy="646331"/>
          </a:xfrm>
          <a:prstGeom prst="rect">
            <a:avLst/>
          </a:prstGeom>
          <a:noFill/>
        </p:spPr>
        <p:txBody>
          <a:bodyPr wrap="square" rtlCol="0">
            <a:spAutoFit/>
          </a:bodyPr>
          <a:lstStyle/>
          <a:p>
            <a:r>
              <a:rPr lang="zh-CN" altLang="en-US" dirty="0"/>
              <a:t>虚拟机硬件参数配置、指定虚拟机</a:t>
            </a:r>
            <a:r>
              <a:rPr lang="en-US" altLang="zh-CN" dirty="0"/>
              <a:t>ISA</a:t>
            </a:r>
            <a:r>
              <a:rPr lang="zh-CN" altLang="en-US" dirty="0"/>
              <a:t>、编译链接选项、</a:t>
            </a:r>
            <a:r>
              <a:rPr lang="en-US" altLang="zh-CN" dirty="0"/>
              <a:t>Monitor</a:t>
            </a:r>
            <a:r>
              <a:rPr lang="zh-CN" altLang="en-US" dirty="0"/>
              <a:t>设置</a:t>
            </a:r>
          </a:p>
        </p:txBody>
      </p:sp>
      <p:sp>
        <p:nvSpPr>
          <p:cNvPr id="24" name="文本框 23">
            <a:extLst>
              <a:ext uri="{FF2B5EF4-FFF2-40B4-BE49-F238E27FC236}">
                <a16:creationId xmlns:a16="http://schemas.microsoft.com/office/drawing/2014/main" id="{34AE6977-A3C3-9465-9D40-506AC811F65F}"/>
              </a:ext>
            </a:extLst>
          </p:cNvPr>
          <p:cNvSpPr txBox="1"/>
          <p:nvPr/>
        </p:nvSpPr>
        <p:spPr>
          <a:xfrm>
            <a:off x="1008278" y="3247364"/>
            <a:ext cx="4348294" cy="369332"/>
          </a:xfrm>
          <a:prstGeom prst="rect">
            <a:avLst/>
          </a:prstGeom>
          <a:noFill/>
        </p:spPr>
        <p:txBody>
          <a:bodyPr wrap="square" rtlCol="0">
            <a:spAutoFit/>
          </a:bodyPr>
          <a:lstStyle/>
          <a:p>
            <a:r>
              <a:rPr lang="zh-CN" altLang="en-US" dirty="0"/>
              <a:t>通用编译模板，编译链接出虚拟机</a:t>
            </a:r>
          </a:p>
        </p:txBody>
      </p:sp>
      <p:sp>
        <p:nvSpPr>
          <p:cNvPr id="25" name="文本框 24">
            <a:extLst>
              <a:ext uri="{FF2B5EF4-FFF2-40B4-BE49-F238E27FC236}">
                <a16:creationId xmlns:a16="http://schemas.microsoft.com/office/drawing/2014/main" id="{E0940502-73A4-1B89-B4B5-9FAAF2F4B2FB}"/>
              </a:ext>
            </a:extLst>
          </p:cNvPr>
          <p:cNvSpPr txBox="1"/>
          <p:nvPr/>
        </p:nvSpPr>
        <p:spPr>
          <a:xfrm>
            <a:off x="991264" y="4187705"/>
            <a:ext cx="4348294" cy="646331"/>
          </a:xfrm>
          <a:prstGeom prst="rect">
            <a:avLst/>
          </a:prstGeom>
          <a:noFill/>
        </p:spPr>
        <p:txBody>
          <a:bodyPr wrap="square" rtlCol="0">
            <a:spAutoFit/>
          </a:bodyPr>
          <a:lstStyle/>
          <a:p>
            <a:r>
              <a:rPr lang="zh-CN" altLang="en-US" dirty="0"/>
              <a:t>虚拟机程序传参，指定程序镜像、</a:t>
            </a:r>
            <a:r>
              <a:rPr lang="en-US" altLang="zh-CN" dirty="0"/>
              <a:t>Monitor</a:t>
            </a:r>
            <a:r>
              <a:rPr lang="zh-CN" altLang="en-US" dirty="0"/>
              <a:t>参数</a:t>
            </a:r>
          </a:p>
        </p:txBody>
      </p:sp>
      <p:sp>
        <p:nvSpPr>
          <p:cNvPr id="27" name="椭圆 26">
            <a:extLst>
              <a:ext uri="{FF2B5EF4-FFF2-40B4-BE49-F238E27FC236}">
                <a16:creationId xmlns:a16="http://schemas.microsoft.com/office/drawing/2014/main" id="{49526D49-F2A6-46AA-8392-AD9DAC9FCDE2}"/>
              </a:ext>
            </a:extLst>
          </p:cNvPr>
          <p:cNvSpPr/>
          <p:nvPr/>
        </p:nvSpPr>
        <p:spPr>
          <a:xfrm>
            <a:off x="731207" y="5159311"/>
            <a:ext cx="109056" cy="964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B197E5FF-77AE-D57B-12FB-8805D53EDE2C}"/>
              </a:ext>
            </a:extLst>
          </p:cNvPr>
          <p:cNvSpPr txBox="1"/>
          <p:nvPr/>
        </p:nvSpPr>
        <p:spPr>
          <a:xfrm>
            <a:off x="991264" y="5022880"/>
            <a:ext cx="2934749" cy="369332"/>
          </a:xfrm>
          <a:prstGeom prst="rect">
            <a:avLst/>
          </a:prstGeom>
          <a:noFill/>
        </p:spPr>
        <p:txBody>
          <a:bodyPr wrap="square" rtlCol="0">
            <a:spAutoFit/>
          </a:bodyPr>
          <a:lstStyle/>
          <a:p>
            <a:r>
              <a:rPr lang="en-US" altLang="zh-CN" dirty="0">
                <a:solidFill>
                  <a:srgbClr val="CC6600"/>
                </a:solidFill>
              </a:rPr>
              <a:t>src/**/filelist.mk</a:t>
            </a:r>
            <a:endParaRPr lang="zh-CN" altLang="en-US" dirty="0">
              <a:solidFill>
                <a:srgbClr val="CC6600"/>
              </a:solidFill>
            </a:endParaRPr>
          </a:p>
        </p:txBody>
      </p:sp>
      <p:sp>
        <p:nvSpPr>
          <p:cNvPr id="29" name="文本框 28">
            <a:extLst>
              <a:ext uri="{FF2B5EF4-FFF2-40B4-BE49-F238E27FC236}">
                <a16:creationId xmlns:a16="http://schemas.microsoft.com/office/drawing/2014/main" id="{D03F5CBF-C998-AFB5-E091-A8E4D2105D69}"/>
              </a:ext>
            </a:extLst>
          </p:cNvPr>
          <p:cNvSpPr txBox="1"/>
          <p:nvPr/>
        </p:nvSpPr>
        <p:spPr>
          <a:xfrm>
            <a:off x="991264" y="5462296"/>
            <a:ext cx="4348294" cy="369332"/>
          </a:xfrm>
          <a:prstGeom prst="rect">
            <a:avLst/>
          </a:prstGeom>
          <a:noFill/>
        </p:spPr>
        <p:txBody>
          <a:bodyPr wrap="square" rtlCol="0">
            <a:spAutoFit/>
          </a:bodyPr>
          <a:lstStyle/>
          <a:p>
            <a:r>
              <a:rPr lang="zh-CN" altLang="en-US" dirty="0"/>
              <a:t>编译虚拟机的源文件黑白名单</a:t>
            </a:r>
          </a:p>
        </p:txBody>
      </p:sp>
      <p:sp>
        <p:nvSpPr>
          <p:cNvPr id="30" name="文本框 29">
            <a:extLst>
              <a:ext uri="{FF2B5EF4-FFF2-40B4-BE49-F238E27FC236}">
                <a16:creationId xmlns:a16="http://schemas.microsoft.com/office/drawing/2014/main" id="{51693156-51D0-E709-5537-43E4E23E98CE}"/>
              </a:ext>
            </a:extLst>
          </p:cNvPr>
          <p:cNvSpPr txBox="1"/>
          <p:nvPr/>
        </p:nvSpPr>
        <p:spPr>
          <a:xfrm>
            <a:off x="7379222" y="1276350"/>
            <a:ext cx="3580736" cy="369332"/>
          </a:xfrm>
          <a:prstGeom prst="rect">
            <a:avLst/>
          </a:prstGeom>
          <a:noFill/>
        </p:spPr>
        <p:txBody>
          <a:bodyPr wrap="square" rtlCol="0">
            <a:spAutoFit/>
          </a:bodyPr>
          <a:lstStyle/>
          <a:p>
            <a:r>
              <a:rPr lang="en-US" altLang="zh-CN" dirty="0"/>
              <a:t>make ARCH=isa </a:t>
            </a:r>
            <a:r>
              <a:rPr lang="en-US" altLang="zh-CN" dirty="0" err="1"/>
              <a:t>menuconfig</a:t>
            </a:r>
            <a:endParaRPr lang="zh-CN" altLang="en-US" dirty="0"/>
          </a:p>
        </p:txBody>
      </p:sp>
      <p:sp>
        <p:nvSpPr>
          <p:cNvPr id="33" name="文本框 32">
            <a:extLst>
              <a:ext uri="{FF2B5EF4-FFF2-40B4-BE49-F238E27FC236}">
                <a16:creationId xmlns:a16="http://schemas.microsoft.com/office/drawing/2014/main" id="{5893EF4F-C899-A82F-A22F-FA00AB2A5D70}"/>
              </a:ext>
            </a:extLst>
          </p:cNvPr>
          <p:cNvSpPr txBox="1"/>
          <p:nvPr/>
        </p:nvSpPr>
        <p:spPr>
          <a:xfrm>
            <a:off x="6700913" y="2147999"/>
            <a:ext cx="4857334" cy="307777"/>
          </a:xfrm>
          <a:prstGeom prst="rect">
            <a:avLst/>
          </a:prstGeom>
          <a:noFill/>
        </p:spPr>
        <p:txBody>
          <a:bodyPr wrap="square" rtlCol="0">
            <a:spAutoFit/>
          </a:bodyPr>
          <a:lstStyle/>
          <a:p>
            <a:r>
              <a:rPr lang="zh-CN" altLang="en-US" sz="1400" dirty="0"/>
              <a:t>配置虚拟机硬件参数、设置</a:t>
            </a:r>
            <a:r>
              <a:rPr lang="en-US" altLang="zh-CN" sz="1400" dirty="0"/>
              <a:t>Monitor</a:t>
            </a:r>
            <a:r>
              <a:rPr lang="zh-CN" altLang="en-US" sz="1400" dirty="0"/>
              <a:t>、编译链接参数</a:t>
            </a:r>
          </a:p>
        </p:txBody>
      </p:sp>
      <p:sp>
        <p:nvSpPr>
          <p:cNvPr id="38" name="文本框 37">
            <a:extLst>
              <a:ext uri="{FF2B5EF4-FFF2-40B4-BE49-F238E27FC236}">
                <a16:creationId xmlns:a16="http://schemas.microsoft.com/office/drawing/2014/main" id="{7DA4CE1B-AB47-D541-2FF5-1589EEFD4FA3}"/>
              </a:ext>
            </a:extLst>
          </p:cNvPr>
          <p:cNvSpPr txBox="1"/>
          <p:nvPr/>
        </p:nvSpPr>
        <p:spPr>
          <a:xfrm>
            <a:off x="7614825" y="3109558"/>
            <a:ext cx="2654701" cy="307777"/>
          </a:xfrm>
          <a:prstGeom prst="rect">
            <a:avLst/>
          </a:prstGeom>
          <a:noFill/>
        </p:spPr>
        <p:txBody>
          <a:bodyPr wrap="square" rtlCol="0">
            <a:spAutoFit/>
          </a:bodyPr>
          <a:lstStyle/>
          <a:p>
            <a:r>
              <a:rPr lang="zh-CN" altLang="en-US" sz="1400" dirty="0"/>
              <a:t>选择性编译虚拟机所需源文件</a:t>
            </a:r>
          </a:p>
        </p:txBody>
      </p:sp>
      <p:sp>
        <p:nvSpPr>
          <p:cNvPr id="45" name="文本框 44">
            <a:extLst>
              <a:ext uri="{FF2B5EF4-FFF2-40B4-BE49-F238E27FC236}">
                <a16:creationId xmlns:a16="http://schemas.microsoft.com/office/drawing/2014/main" id="{AC35DE75-7835-4996-3332-4D695B39EA35}"/>
              </a:ext>
            </a:extLst>
          </p:cNvPr>
          <p:cNvSpPr txBox="1"/>
          <p:nvPr/>
        </p:nvSpPr>
        <p:spPr>
          <a:xfrm>
            <a:off x="7684152" y="4033868"/>
            <a:ext cx="2388065" cy="307777"/>
          </a:xfrm>
          <a:prstGeom prst="rect">
            <a:avLst/>
          </a:prstGeom>
          <a:noFill/>
        </p:spPr>
        <p:txBody>
          <a:bodyPr wrap="square" rtlCol="0">
            <a:spAutoFit/>
          </a:bodyPr>
          <a:lstStyle/>
          <a:p>
            <a:r>
              <a:rPr lang="zh-CN" altLang="en-US" sz="1400" dirty="0"/>
              <a:t>链接为宿主机可执行文件</a:t>
            </a:r>
          </a:p>
        </p:txBody>
      </p:sp>
      <p:sp>
        <p:nvSpPr>
          <p:cNvPr id="46" name="文本框 45">
            <a:extLst>
              <a:ext uri="{FF2B5EF4-FFF2-40B4-BE49-F238E27FC236}">
                <a16:creationId xmlns:a16="http://schemas.microsoft.com/office/drawing/2014/main" id="{5CE0B749-9424-4F82-C003-A38BA6404AA9}"/>
              </a:ext>
            </a:extLst>
          </p:cNvPr>
          <p:cNvSpPr txBox="1"/>
          <p:nvPr/>
        </p:nvSpPr>
        <p:spPr>
          <a:xfrm>
            <a:off x="7516138" y="5017125"/>
            <a:ext cx="2586285" cy="307777"/>
          </a:xfrm>
          <a:prstGeom prst="rect">
            <a:avLst/>
          </a:prstGeom>
          <a:noFill/>
        </p:spPr>
        <p:txBody>
          <a:bodyPr wrap="square" rtlCol="0">
            <a:spAutoFit/>
          </a:bodyPr>
          <a:lstStyle/>
          <a:p>
            <a:r>
              <a:rPr lang="en-US" altLang="zh-CN" sz="1400" dirty="0"/>
              <a:t>run</a:t>
            </a:r>
            <a:r>
              <a:rPr lang="zh-CN" altLang="en-US" sz="1400" dirty="0"/>
              <a:t>命令运行在宿主机平台</a:t>
            </a:r>
          </a:p>
        </p:txBody>
      </p:sp>
      <p:sp>
        <p:nvSpPr>
          <p:cNvPr id="49" name="文本框 48">
            <a:extLst>
              <a:ext uri="{FF2B5EF4-FFF2-40B4-BE49-F238E27FC236}">
                <a16:creationId xmlns:a16="http://schemas.microsoft.com/office/drawing/2014/main" id="{2545F114-F452-196C-FD85-9AAA7BCE3FD5}"/>
              </a:ext>
            </a:extLst>
          </p:cNvPr>
          <p:cNvSpPr txBox="1"/>
          <p:nvPr/>
        </p:nvSpPr>
        <p:spPr>
          <a:xfrm>
            <a:off x="7525985" y="5780636"/>
            <a:ext cx="2576438" cy="307777"/>
          </a:xfrm>
          <a:prstGeom prst="rect">
            <a:avLst/>
          </a:prstGeom>
          <a:noFill/>
        </p:spPr>
        <p:txBody>
          <a:bodyPr wrap="square" rtlCol="0">
            <a:spAutoFit/>
          </a:bodyPr>
          <a:lstStyle/>
          <a:p>
            <a:r>
              <a:rPr lang="zh-CN" altLang="en-US" sz="1400" dirty="0"/>
              <a:t>虚拟机运行，</a:t>
            </a:r>
            <a:r>
              <a:rPr lang="en-US" altLang="zh-CN" sz="1400" dirty="0"/>
              <a:t>Monitor</a:t>
            </a:r>
            <a:r>
              <a:rPr lang="zh-CN" altLang="en-US" sz="1400" dirty="0"/>
              <a:t>交互</a:t>
            </a:r>
          </a:p>
        </p:txBody>
      </p:sp>
      <p:cxnSp>
        <p:nvCxnSpPr>
          <p:cNvPr id="50" name="直接箭头连接符 49">
            <a:extLst>
              <a:ext uri="{FF2B5EF4-FFF2-40B4-BE49-F238E27FC236}">
                <a16:creationId xmlns:a16="http://schemas.microsoft.com/office/drawing/2014/main" id="{B669D9E0-BDDA-234B-27E5-75AB98C7FB99}"/>
              </a:ext>
            </a:extLst>
          </p:cNvPr>
          <p:cNvCxnSpPr>
            <a:cxnSpLocks/>
          </p:cNvCxnSpPr>
          <p:nvPr/>
        </p:nvCxnSpPr>
        <p:spPr>
          <a:xfrm>
            <a:off x="8444624" y="2557954"/>
            <a:ext cx="0" cy="551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8E30E251-C6CB-05AD-EF38-749386290250}"/>
              </a:ext>
            </a:extLst>
          </p:cNvPr>
          <p:cNvCxnSpPr>
            <a:cxnSpLocks/>
          </p:cNvCxnSpPr>
          <p:nvPr/>
        </p:nvCxnSpPr>
        <p:spPr>
          <a:xfrm>
            <a:off x="8422895" y="1583189"/>
            <a:ext cx="0" cy="533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60C96715-3533-CB8D-8FA4-8A36BE734BA0}"/>
              </a:ext>
            </a:extLst>
          </p:cNvPr>
          <p:cNvSpPr txBox="1"/>
          <p:nvPr/>
        </p:nvSpPr>
        <p:spPr>
          <a:xfrm>
            <a:off x="8476631" y="2666338"/>
            <a:ext cx="1595586" cy="307777"/>
          </a:xfrm>
          <a:prstGeom prst="rect">
            <a:avLst/>
          </a:prstGeom>
          <a:noFill/>
        </p:spPr>
        <p:txBody>
          <a:bodyPr wrap="square" rtlCol="0">
            <a:spAutoFit/>
          </a:bodyPr>
          <a:lstStyle/>
          <a:p>
            <a:r>
              <a:rPr lang="en-US" altLang="zh-CN" sz="1400" dirty="0">
                <a:solidFill>
                  <a:srgbClr val="CC6600"/>
                </a:solidFill>
              </a:rPr>
              <a:t>src/**/filelist.mk</a:t>
            </a:r>
            <a:endParaRPr lang="zh-CN" altLang="en-US" sz="1400" dirty="0">
              <a:solidFill>
                <a:srgbClr val="CC6600"/>
              </a:solidFill>
            </a:endParaRPr>
          </a:p>
        </p:txBody>
      </p:sp>
      <p:sp>
        <p:nvSpPr>
          <p:cNvPr id="56" name="文本框 55">
            <a:extLst>
              <a:ext uri="{FF2B5EF4-FFF2-40B4-BE49-F238E27FC236}">
                <a16:creationId xmlns:a16="http://schemas.microsoft.com/office/drawing/2014/main" id="{A29C4150-13D9-F1BF-37E5-8E9A10F3DAC4}"/>
              </a:ext>
            </a:extLst>
          </p:cNvPr>
          <p:cNvSpPr txBox="1"/>
          <p:nvPr/>
        </p:nvSpPr>
        <p:spPr>
          <a:xfrm>
            <a:off x="7379222" y="1654029"/>
            <a:ext cx="865338" cy="276999"/>
          </a:xfrm>
          <a:prstGeom prst="rect">
            <a:avLst/>
          </a:prstGeom>
          <a:noFill/>
        </p:spPr>
        <p:txBody>
          <a:bodyPr wrap="square" rtlCol="0">
            <a:spAutoFit/>
          </a:bodyPr>
          <a:lstStyle/>
          <a:p>
            <a:r>
              <a:rPr lang="en-US" altLang="zh-CN" sz="1200" dirty="0">
                <a:solidFill>
                  <a:srgbClr val="CC6600"/>
                </a:solidFill>
              </a:rPr>
              <a:t>./</a:t>
            </a:r>
            <a:r>
              <a:rPr lang="en-US" altLang="zh-CN" sz="1200" dirty="0" err="1">
                <a:solidFill>
                  <a:srgbClr val="CC6600"/>
                </a:solidFill>
              </a:rPr>
              <a:t>Makefile</a:t>
            </a:r>
            <a:endParaRPr lang="zh-CN" altLang="en-US" sz="1200" dirty="0">
              <a:solidFill>
                <a:srgbClr val="CC6600"/>
              </a:solidFill>
            </a:endParaRPr>
          </a:p>
        </p:txBody>
      </p:sp>
      <p:sp>
        <p:nvSpPr>
          <p:cNvPr id="57" name="文本框 56">
            <a:extLst>
              <a:ext uri="{FF2B5EF4-FFF2-40B4-BE49-F238E27FC236}">
                <a16:creationId xmlns:a16="http://schemas.microsoft.com/office/drawing/2014/main" id="{25C69606-7485-9D19-DCB8-14DCFDBAAC7E}"/>
              </a:ext>
            </a:extLst>
          </p:cNvPr>
          <p:cNvSpPr txBox="1"/>
          <p:nvPr/>
        </p:nvSpPr>
        <p:spPr>
          <a:xfrm>
            <a:off x="8507154" y="1628184"/>
            <a:ext cx="1655949" cy="307777"/>
          </a:xfrm>
          <a:prstGeom prst="rect">
            <a:avLst/>
          </a:prstGeom>
          <a:noFill/>
        </p:spPr>
        <p:txBody>
          <a:bodyPr wrap="square" rtlCol="0">
            <a:spAutoFit/>
          </a:bodyPr>
          <a:lstStyle/>
          <a:p>
            <a:r>
              <a:rPr lang="en-US" altLang="zh-CN" sz="1400" dirty="0">
                <a:solidFill>
                  <a:srgbClr val="CC6600"/>
                </a:solidFill>
              </a:rPr>
              <a:t>scripts/config.mk</a:t>
            </a:r>
            <a:endParaRPr lang="zh-CN" altLang="en-US" sz="1400" dirty="0">
              <a:solidFill>
                <a:srgbClr val="CC6600"/>
              </a:solidFill>
            </a:endParaRPr>
          </a:p>
        </p:txBody>
      </p:sp>
      <p:sp>
        <p:nvSpPr>
          <p:cNvPr id="18" name="文本框 17">
            <a:extLst>
              <a:ext uri="{FF2B5EF4-FFF2-40B4-BE49-F238E27FC236}">
                <a16:creationId xmlns:a16="http://schemas.microsoft.com/office/drawing/2014/main" id="{43B22839-9131-2591-041D-5F1AAC84F13B}"/>
              </a:ext>
            </a:extLst>
          </p:cNvPr>
          <p:cNvSpPr txBox="1"/>
          <p:nvPr/>
        </p:nvSpPr>
        <p:spPr>
          <a:xfrm>
            <a:off x="8578848" y="3538201"/>
            <a:ext cx="1557358" cy="307777"/>
          </a:xfrm>
          <a:prstGeom prst="rect">
            <a:avLst/>
          </a:prstGeom>
          <a:noFill/>
        </p:spPr>
        <p:txBody>
          <a:bodyPr wrap="square" rtlCol="0">
            <a:spAutoFit/>
          </a:bodyPr>
          <a:lstStyle/>
          <a:p>
            <a:r>
              <a:rPr lang="en-US" altLang="zh-CN" sz="1400" dirty="0">
                <a:solidFill>
                  <a:srgbClr val="CC6600"/>
                </a:solidFill>
              </a:rPr>
              <a:t>scripts/build.mk</a:t>
            </a:r>
            <a:endParaRPr lang="zh-CN" altLang="en-US" sz="1400" dirty="0">
              <a:solidFill>
                <a:srgbClr val="CC6600"/>
              </a:solidFill>
            </a:endParaRPr>
          </a:p>
        </p:txBody>
      </p:sp>
      <p:cxnSp>
        <p:nvCxnSpPr>
          <p:cNvPr id="26" name="直接箭头连接符 25">
            <a:extLst>
              <a:ext uri="{FF2B5EF4-FFF2-40B4-BE49-F238E27FC236}">
                <a16:creationId xmlns:a16="http://schemas.microsoft.com/office/drawing/2014/main" id="{B610BB46-5FFB-B908-9092-33AD07722C06}"/>
              </a:ext>
            </a:extLst>
          </p:cNvPr>
          <p:cNvCxnSpPr>
            <a:cxnSpLocks/>
          </p:cNvCxnSpPr>
          <p:nvPr/>
        </p:nvCxnSpPr>
        <p:spPr>
          <a:xfrm>
            <a:off x="8476631" y="3465570"/>
            <a:ext cx="0" cy="551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74192D1E-F30B-9C67-F8B1-3ED3AE36CE59}"/>
              </a:ext>
            </a:extLst>
          </p:cNvPr>
          <p:cNvSpPr txBox="1"/>
          <p:nvPr/>
        </p:nvSpPr>
        <p:spPr>
          <a:xfrm>
            <a:off x="8557469" y="4510871"/>
            <a:ext cx="1656128" cy="307777"/>
          </a:xfrm>
          <a:prstGeom prst="rect">
            <a:avLst/>
          </a:prstGeom>
          <a:noFill/>
        </p:spPr>
        <p:txBody>
          <a:bodyPr wrap="square" rtlCol="0">
            <a:spAutoFit/>
          </a:bodyPr>
          <a:lstStyle/>
          <a:p>
            <a:r>
              <a:rPr lang="en-US" altLang="zh-CN" sz="1400" dirty="0">
                <a:solidFill>
                  <a:srgbClr val="CC6600"/>
                </a:solidFill>
              </a:rPr>
              <a:t>scripts/native.mk</a:t>
            </a:r>
            <a:endParaRPr lang="zh-CN" altLang="en-US" sz="1400" dirty="0">
              <a:solidFill>
                <a:srgbClr val="CC6600"/>
              </a:solidFill>
            </a:endParaRPr>
          </a:p>
        </p:txBody>
      </p:sp>
      <p:cxnSp>
        <p:nvCxnSpPr>
          <p:cNvPr id="37" name="直接箭头连接符 36">
            <a:extLst>
              <a:ext uri="{FF2B5EF4-FFF2-40B4-BE49-F238E27FC236}">
                <a16:creationId xmlns:a16="http://schemas.microsoft.com/office/drawing/2014/main" id="{7CAC5FC5-211D-4221-AF6E-BD7BD6733360}"/>
              </a:ext>
            </a:extLst>
          </p:cNvPr>
          <p:cNvCxnSpPr>
            <a:cxnSpLocks/>
          </p:cNvCxnSpPr>
          <p:nvPr/>
        </p:nvCxnSpPr>
        <p:spPr>
          <a:xfrm>
            <a:off x="8476631" y="4345460"/>
            <a:ext cx="0" cy="551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725229ED-D870-0AB1-E326-67004C05DF44}"/>
              </a:ext>
            </a:extLst>
          </p:cNvPr>
          <p:cNvCxnSpPr>
            <a:cxnSpLocks/>
          </p:cNvCxnSpPr>
          <p:nvPr/>
        </p:nvCxnSpPr>
        <p:spPr>
          <a:xfrm>
            <a:off x="8597554" y="5341709"/>
            <a:ext cx="0" cy="551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47158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fade">
                                      <p:cBhvr>
                                        <p:cTn id="12" dur="500"/>
                                        <p:tgtEl>
                                          <p:spTgt spid="5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500"/>
                                        <p:tgtEl>
                                          <p:spTgt spid="56"/>
                                        </p:tgtEl>
                                      </p:cBhvr>
                                    </p:animEffect>
                                  </p:childTnLst>
                                </p:cTn>
                              </p:par>
                              <p:par>
                                <p:cTn id="16" presetID="10" presetClass="entr" presetSubtype="0" fill="hold" nodeType="withEffect">
                                  <p:stCondLst>
                                    <p:cond delay="0"/>
                                  </p:stCondLst>
                                  <p:childTnLst>
                                    <p:set>
                                      <p:cBhvr>
                                        <p:cTn id="17" dur="1" fill="hold">
                                          <p:stCondLst>
                                            <p:cond delay="0"/>
                                          </p:stCondLst>
                                        </p:cTn>
                                        <p:tgtEl>
                                          <p:spTgt spid="52"/>
                                        </p:tgtEl>
                                        <p:attrNameLst>
                                          <p:attrName>style.visibility</p:attrName>
                                        </p:attrNameLst>
                                      </p:cBhvr>
                                      <p:to>
                                        <p:strVal val="visible"/>
                                      </p:to>
                                    </p:set>
                                    <p:animEffect transition="in" filter="fade">
                                      <p:cBhvr>
                                        <p:cTn id="18" dur="500"/>
                                        <p:tgtEl>
                                          <p:spTgt spid="5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500"/>
                                        <p:tgtEl>
                                          <p:spTgt spid="3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fade">
                                      <p:cBhvr>
                                        <p:cTn id="26" dur="500"/>
                                        <p:tgtEl>
                                          <p:spTgt spid="5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4"/>
                                        </p:tgtEl>
                                        <p:attrNameLst>
                                          <p:attrName>style.visibility</p:attrName>
                                        </p:attrNameLst>
                                      </p:cBhvr>
                                      <p:to>
                                        <p:strVal val="visible"/>
                                      </p:to>
                                    </p:set>
                                    <p:animEffect transition="in" filter="fade">
                                      <p:cBhvr>
                                        <p:cTn id="29" dur="500"/>
                                        <p:tgtEl>
                                          <p:spTgt spid="5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5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5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fade">
                                      <p:cBhvr>
                                        <p:cTn id="43" dur="500"/>
                                        <p:tgtEl>
                                          <p:spTgt spid="4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fade">
                                      <p:cBhvr>
                                        <p:cTn id="48" dur="500"/>
                                        <p:tgtEl>
                                          <p:spTgt spid="36"/>
                                        </p:tgtEl>
                                      </p:cBhvr>
                                    </p:animEffect>
                                  </p:childTnLst>
                                </p:cTn>
                              </p:par>
                              <p:par>
                                <p:cTn id="49" presetID="10" presetClass="entr" presetSubtype="0" fill="hold" nodeType="with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fade">
                                      <p:cBhvr>
                                        <p:cTn id="51" dur="500"/>
                                        <p:tgtEl>
                                          <p:spTgt spid="3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6"/>
                                        </p:tgtEl>
                                        <p:attrNameLst>
                                          <p:attrName>style.visibility</p:attrName>
                                        </p:attrNameLst>
                                      </p:cBhvr>
                                      <p:to>
                                        <p:strVal val="visible"/>
                                      </p:to>
                                    </p:set>
                                    <p:animEffect transition="in" filter="fade">
                                      <p:cBhvr>
                                        <p:cTn id="54" dur="500"/>
                                        <p:tgtEl>
                                          <p:spTgt spid="46"/>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500"/>
                                        <p:tgtEl>
                                          <p:spTgt spid="3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fade">
                                      <p:cBhvr>
                                        <p:cTn id="6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3" grpId="0"/>
      <p:bldP spid="38" grpId="0"/>
      <p:bldP spid="45" grpId="0"/>
      <p:bldP spid="46" grpId="0"/>
      <p:bldP spid="49" grpId="0"/>
      <p:bldP spid="54" grpId="0"/>
      <p:bldP spid="56" grpId="0"/>
      <p:bldP spid="57" grpId="0"/>
      <p:bldP spid="18" grpId="0"/>
      <p:bldP spid="36"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60B08BB-5DCB-AA2D-5B95-6C724798953F}"/>
            </a:ext>
          </a:extLst>
        </p:cNvPr>
        <p:cNvGrpSpPr/>
        <p:nvPr/>
      </p:nvGrpSpPr>
      <p:grpSpPr bwMode="auto">
        <a:xfrm>
          <a:off x="0" y="0"/>
          <a:ext cx="0" cy="0"/>
          <a:chOff x="0" y="0"/>
          <a:chExt cx="0" cy="0"/>
        </a:xfrm>
      </p:grpSpPr>
      <p:sp>
        <p:nvSpPr>
          <p:cNvPr id="2" name="powerpoint template design by DAJU_PPT正版来源小红书大橘PPT微信DAJU_PPT请勿抄袭搬运！盗版必究！">
            <a:extLst>
              <a:ext uri="{FF2B5EF4-FFF2-40B4-BE49-F238E27FC236}">
                <a16:creationId xmlns:a16="http://schemas.microsoft.com/office/drawing/2014/main" id="{11526331-8F2A-8F5B-AF8E-D761D84D4322}"/>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3" name="powerpoint template design by DAJU_PPT正版来源小红书大橘PPT微信DAJU_PPT请勿抄袭搬运！盗版必究！">
            <a:extLst>
              <a:ext uri="{FF2B5EF4-FFF2-40B4-BE49-F238E27FC236}">
                <a16:creationId xmlns:a16="http://schemas.microsoft.com/office/drawing/2014/main" id="{77140B93-B9A6-7B44-A010-141C7CE8EF9A}"/>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4" name="powerpoint template design by DAJU_PPT正版来源小红书大橘PPT微信DAJU_PPT请勿抄袭搬运！盗版必究！">
            <a:extLst>
              <a:ext uri="{FF2B5EF4-FFF2-40B4-BE49-F238E27FC236}">
                <a16:creationId xmlns:a16="http://schemas.microsoft.com/office/drawing/2014/main" id="{BEC349BD-E43F-18A9-5726-C40C8971E573}"/>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000" i="0" u="none" strike="noStrike" cap="none" spc="0" dirty="0">
                <a:ln>
                  <a:noFill/>
                </a:ln>
                <a:solidFill>
                  <a:schemeClr val="bg1">
                    <a:alpha val="70000"/>
                  </a:schemeClr>
                </a:solidFill>
                <a:cs typeface="+mn-ea"/>
              </a:rPr>
              <a:t>考核题目讲解</a:t>
            </a:r>
            <a:endParaRPr lang="en-US" sz="2000" i="0" u="none" strike="noStrike" cap="none" spc="0" dirty="0">
              <a:ln>
                <a:noFill/>
              </a:ln>
              <a:solidFill>
                <a:schemeClr val="bg1">
                  <a:alpha val="70000"/>
                </a:schemeClr>
              </a:solidFill>
              <a:cs typeface="+mn-ea"/>
            </a:endParaRPr>
          </a:p>
        </p:txBody>
      </p:sp>
      <p:cxnSp>
        <p:nvCxnSpPr>
          <p:cNvPr id="5" name="powerpoint template design by DAJU_PPT正版来源小红书大橘PPT微信DAJU_PPT请勿抄袭搬运！盗版必究！">
            <a:extLst>
              <a:ext uri="{FF2B5EF4-FFF2-40B4-BE49-F238E27FC236}">
                <a16:creationId xmlns:a16="http://schemas.microsoft.com/office/drawing/2014/main" id="{E54E807B-CA1E-8590-350C-12C61674D35F}"/>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powerpoint template design by DAJU_PPT正版来源小红书大橘PPT微信DAJU_PPT请勿抄袭搬运！盗版必究！">
            <a:extLst>
              <a:ext uri="{FF2B5EF4-FFF2-40B4-BE49-F238E27FC236}">
                <a16:creationId xmlns:a16="http://schemas.microsoft.com/office/drawing/2014/main" id="{DC41DF3D-9E29-B307-70D4-32181E5B3EDF}"/>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powerpoint template design by DAJU_PPT正版来源小红书大橘PPT微信DAJU_PPT请勿抄袭搬运！盗版必究！">
            <a:extLst>
              <a:ext uri="{FF2B5EF4-FFF2-40B4-BE49-F238E27FC236}">
                <a16:creationId xmlns:a16="http://schemas.microsoft.com/office/drawing/2014/main" id="{5CAA6786-6AC9-7738-A5AD-821EA6F61582}"/>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8" name="图片 3">
            <a:extLst>
              <a:ext uri="{FF2B5EF4-FFF2-40B4-BE49-F238E27FC236}">
                <a16:creationId xmlns:a16="http://schemas.microsoft.com/office/drawing/2014/main" id="{ADD0284A-F79F-6BBE-9EE2-1E8FB70BF23B}"/>
              </a:ext>
            </a:extLst>
          </p:cNvPr>
          <p:cNvPicPr>
            <a:picLocks noChangeAspect="1"/>
          </p:cNvPicPr>
          <p:nvPr/>
        </p:nvPicPr>
        <p:blipFill rotWithShape="1">
          <a:blip r:embed="rId3"/>
          <a:stretch/>
        </p:blipFill>
        <p:spPr bwMode="auto">
          <a:xfrm>
            <a:off x="0" y="0"/>
            <a:ext cx="778510" cy="720090"/>
          </a:xfrm>
          <a:prstGeom prst="rect">
            <a:avLst/>
          </a:prstGeom>
        </p:spPr>
      </p:pic>
      <p:sp>
        <p:nvSpPr>
          <p:cNvPr id="9" name="powerpoint template design by DAJU_PPT正版来源小红书大橘PPT微信DAJU_PPT请勿抄袭搬运！盗版必究！">
            <a:extLst>
              <a:ext uri="{FF2B5EF4-FFF2-40B4-BE49-F238E27FC236}">
                <a16:creationId xmlns:a16="http://schemas.microsoft.com/office/drawing/2014/main" id="{FF32206F-AAD5-1816-744D-93AC20D384B4}"/>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10" name="powerpoint template design by DAJU_PPT正版来源小红书大橘PPT微信DAJU_PPT请勿抄袭搬运！盗版必究！">
            <a:extLst>
              <a:ext uri="{FF2B5EF4-FFF2-40B4-BE49-F238E27FC236}">
                <a16:creationId xmlns:a16="http://schemas.microsoft.com/office/drawing/2014/main" id="{C6DB78F7-8B9D-045F-0681-C7489B98B1E4}"/>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400" dirty="0" err="1">
                <a:solidFill>
                  <a:srgbClr val="00B050">
                    <a:alpha val="70000"/>
                  </a:srgbClr>
                </a:solidFill>
                <a:cs typeface="+mn-ea"/>
              </a:rPr>
              <a:t>Makefile</a:t>
            </a:r>
            <a:r>
              <a:rPr lang="zh-CN" altLang="en-US" sz="2400" dirty="0">
                <a:solidFill>
                  <a:srgbClr val="00B050">
                    <a:alpha val="70000"/>
                  </a:srgbClr>
                </a:solidFill>
                <a:cs typeface="+mn-ea"/>
              </a:rPr>
              <a:t>调用链</a:t>
            </a:r>
            <a:endParaRPr lang="en-US" sz="2400" i="0" u="none" strike="noStrike" cap="none" spc="0" dirty="0">
              <a:ln>
                <a:noFill/>
              </a:ln>
              <a:solidFill>
                <a:srgbClr val="00B050">
                  <a:alpha val="70000"/>
                </a:srgbClr>
              </a:solidFill>
              <a:cs typeface="+mn-ea"/>
            </a:endParaRPr>
          </a:p>
        </p:txBody>
      </p:sp>
      <p:sp>
        <p:nvSpPr>
          <p:cNvPr id="11" name="powerpoint template design by DAJU_PPT正版来源小红书大橘PPT微信DAJU_PPT请勿抄袭搬运！盗版必究！">
            <a:extLst>
              <a:ext uri="{FF2B5EF4-FFF2-40B4-BE49-F238E27FC236}">
                <a16:creationId xmlns:a16="http://schemas.microsoft.com/office/drawing/2014/main" id="{BA6CEBAA-F498-75A1-0A97-F3721E8468A2}"/>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000" i="0" u="none" strike="noStrike" cap="none" spc="0" dirty="0">
                <a:ln>
                  <a:noFill/>
                </a:ln>
                <a:solidFill>
                  <a:schemeClr val="bg1">
                    <a:alpha val="70000"/>
                  </a:schemeClr>
                </a:solidFill>
                <a:cs typeface="+mn-ea"/>
              </a:rPr>
              <a:t>架构</a:t>
            </a:r>
            <a:r>
              <a:rPr lang="zh-CN" sz="2000" i="0" u="none" strike="noStrike" cap="none" spc="0" dirty="0">
                <a:ln>
                  <a:noFill/>
                </a:ln>
                <a:solidFill>
                  <a:schemeClr val="bg1">
                    <a:alpha val="70000"/>
                  </a:schemeClr>
                </a:solidFill>
                <a:cs typeface="+mn-ea"/>
              </a:rPr>
              <a:t>讲解</a:t>
            </a:r>
            <a:endParaRPr lang="en-US" sz="2000" i="0" u="none" strike="noStrike" cap="none" spc="0" dirty="0">
              <a:ln>
                <a:noFill/>
              </a:ln>
              <a:solidFill>
                <a:schemeClr val="bg1">
                  <a:alpha val="70000"/>
                </a:schemeClr>
              </a:solidFill>
              <a:cs typeface="+mn-ea"/>
            </a:endParaRPr>
          </a:p>
        </p:txBody>
      </p:sp>
      <p:cxnSp>
        <p:nvCxnSpPr>
          <p:cNvPr id="12" name="直接连接符 11">
            <a:extLst>
              <a:ext uri="{FF2B5EF4-FFF2-40B4-BE49-F238E27FC236}">
                <a16:creationId xmlns:a16="http://schemas.microsoft.com/office/drawing/2014/main" id="{F80F77CE-EAC6-B55F-82B1-04220EFE603A}"/>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7034468C-3BB3-4B99-A277-D97A4BBAC988}"/>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标题 2">
            <a:extLst>
              <a:ext uri="{FF2B5EF4-FFF2-40B4-BE49-F238E27FC236}">
                <a16:creationId xmlns:a16="http://schemas.microsoft.com/office/drawing/2014/main" id="{8A21670C-E2A7-0BC6-FE3C-7172C1E415D2}"/>
              </a:ext>
            </a:extLst>
          </p:cNvPr>
          <p:cNvSpPr>
            <a:spLocks noGrp="1"/>
          </p:cNvSpPr>
          <p:nvPr>
            <p:ph type="title"/>
          </p:nvPr>
        </p:nvSpPr>
        <p:spPr bwMode="auto">
          <a:xfrm>
            <a:off x="443230" y="873125"/>
            <a:ext cx="5554980" cy="403225"/>
          </a:xfrm>
        </p:spPr>
        <p:txBody>
          <a:bodyPr wrap="square"/>
          <a:lstStyle/>
          <a:p>
            <a:pPr>
              <a:defRPr/>
            </a:pPr>
            <a:r>
              <a:rPr lang="en-US" altLang="zh-CN" dirty="0"/>
              <a:t>Navy</a:t>
            </a:r>
            <a:r>
              <a:rPr lang="en-US" dirty="0"/>
              <a:t> </a:t>
            </a:r>
            <a:r>
              <a:rPr lang="en-US" dirty="0" err="1"/>
              <a:t>Makefile</a:t>
            </a:r>
            <a:r>
              <a:rPr lang="zh-CN" altLang="en-US" dirty="0"/>
              <a:t>调用链</a:t>
            </a:r>
            <a:endParaRPr dirty="0"/>
          </a:p>
        </p:txBody>
      </p:sp>
      <p:cxnSp>
        <p:nvCxnSpPr>
          <p:cNvPr id="15" name="powerpoint template design by DAJU_PPT正版来源小红书大橘PPT微信DAJU_PPT请勿抄袭搬运！盗版必究！">
            <a:extLst>
              <a:ext uri="{FF2B5EF4-FFF2-40B4-BE49-F238E27FC236}">
                <a16:creationId xmlns:a16="http://schemas.microsoft.com/office/drawing/2014/main" id="{0751513A-FDDE-7BD7-84D6-0641A591DACF}"/>
              </a:ext>
            </a:extLst>
          </p:cNvPr>
          <p:cNvCxnSpPr/>
          <p:nvPr/>
        </p:nvCxnSpPr>
        <p:spPr bwMode="auto">
          <a:xfrm>
            <a:off x="481890" y="1354204"/>
            <a:ext cx="276348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椭圆 18">
            <a:extLst>
              <a:ext uri="{FF2B5EF4-FFF2-40B4-BE49-F238E27FC236}">
                <a16:creationId xmlns:a16="http://schemas.microsoft.com/office/drawing/2014/main" id="{82ADE411-6923-77DA-9393-A241973AD4A3}"/>
              </a:ext>
            </a:extLst>
          </p:cNvPr>
          <p:cNvSpPr/>
          <p:nvPr/>
        </p:nvSpPr>
        <p:spPr>
          <a:xfrm>
            <a:off x="555457" y="3754540"/>
            <a:ext cx="109056" cy="964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E60FC33C-1E99-F1DD-1764-459B07EA963D}"/>
              </a:ext>
            </a:extLst>
          </p:cNvPr>
          <p:cNvSpPr txBox="1"/>
          <p:nvPr/>
        </p:nvSpPr>
        <p:spPr>
          <a:xfrm>
            <a:off x="815515" y="3618109"/>
            <a:ext cx="2607578" cy="369332"/>
          </a:xfrm>
          <a:prstGeom prst="rect">
            <a:avLst/>
          </a:prstGeom>
          <a:noFill/>
        </p:spPr>
        <p:txBody>
          <a:bodyPr wrap="square" rtlCol="0">
            <a:spAutoFit/>
          </a:bodyPr>
          <a:lstStyle/>
          <a:p>
            <a:r>
              <a:rPr lang="en-US" altLang="zh-CN" dirty="0">
                <a:solidFill>
                  <a:srgbClr val="CC6600"/>
                </a:solidFill>
              </a:rPr>
              <a:t>install</a:t>
            </a:r>
            <a:endParaRPr lang="zh-CN" altLang="en-US" dirty="0">
              <a:solidFill>
                <a:srgbClr val="CC6600"/>
              </a:solidFill>
            </a:endParaRPr>
          </a:p>
        </p:txBody>
      </p:sp>
      <p:sp>
        <p:nvSpPr>
          <p:cNvPr id="21" name="椭圆 20">
            <a:extLst>
              <a:ext uri="{FF2B5EF4-FFF2-40B4-BE49-F238E27FC236}">
                <a16:creationId xmlns:a16="http://schemas.microsoft.com/office/drawing/2014/main" id="{0FBDA16B-524D-F80E-22D9-F00038577A4E}"/>
              </a:ext>
            </a:extLst>
          </p:cNvPr>
          <p:cNvSpPr/>
          <p:nvPr/>
        </p:nvSpPr>
        <p:spPr>
          <a:xfrm>
            <a:off x="551821" y="4448493"/>
            <a:ext cx="109056" cy="964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4E6D2AD6-E746-80CE-F781-C712287AC3D2}"/>
              </a:ext>
            </a:extLst>
          </p:cNvPr>
          <p:cNvSpPr txBox="1"/>
          <p:nvPr/>
        </p:nvSpPr>
        <p:spPr>
          <a:xfrm>
            <a:off x="811878" y="4312062"/>
            <a:ext cx="2934749" cy="369332"/>
          </a:xfrm>
          <a:prstGeom prst="rect">
            <a:avLst/>
          </a:prstGeom>
          <a:noFill/>
        </p:spPr>
        <p:txBody>
          <a:bodyPr wrap="square" rtlCol="0">
            <a:spAutoFit/>
          </a:bodyPr>
          <a:lstStyle/>
          <a:p>
            <a:r>
              <a:rPr lang="en-US" altLang="zh-CN" dirty="0" err="1">
                <a:solidFill>
                  <a:srgbClr val="CC6600"/>
                </a:solidFill>
              </a:rPr>
              <a:t>fsimg</a:t>
            </a:r>
            <a:endParaRPr lang="zh-CN" altLang="en-US" dirty="0">
              <a:solidFill>
                <a:srgbClr val="CC6600"/>
              </a:solidFill>
            </a:endParaRPr>
          </a:p>
        </p:txBody>
      </p:sp>
      <p:sp>
        <p:nvSpPr>
          <p:cNvPr id="23" name="文本框 22">
            <a:extLst>
              <a:ext uri="{FF2B5EF4-FFF2-40B4-BE49-F238E27FC236}">
                <a16:creationId xmlns:a16="http://schemas.microsoft.com/office/drawing/2014/main" id="{E112C5FD-163A-84DA-CDC4-09449F1BC321}"/>
              </a:ext>
            </a:extLst>
          </p:cNvPr>
          <p:cNvSpPr txBox="1"/>
          <p:nvPr/>
        </p:nvSpPr>
        <p:spPr>
          <a:xfrm>
            <a:off x="778510" y="1409335"/>
            <a:ext cx="4792353" cy="2031325"/>
          </a:xfrm>
          <a:prstGeom prst="rect">
            <a:avLst/>
          </a:prstGeom>
          <a:noFill/>
        </p:spPr>
        <p:txBody>
          <a:bodyPr wrap="square" rtlCol="0">
            <a:spAutoFit/>
          </a:bodyPr>
          <a:lstStyle/>
          <a:p>
            <a:pPr>
              <a:lnSpc>
                <a:spcPct val="120000"/>
              </a:lnSpc>
            </a:pPr>
            <a:r>
              <a:rPr lang="en-US" altLang="zh-CN" dirty="0"/>
              <a:t>Navy</a:t>
            </a:r>
            <a:r>
              <a:rPr lang="zh-CN" altLang="en-US" dirty="0"/>
              <a:t>应用程序需指定</a:t>
            </a:r>
            <a:r>
              <a:rPr lang="en-US" altLang="zh-CN" dirty="0"/>
              <a:t>:</a:t>
            </a:r>
          </a:p>
          <a:p>
            <a:pPr marL="342900" indent="-342900">
              <a:lnSpc>
                <a:spcPct val="120000"/>
              </a:lnSpc>
              <a:buAutoNum type="arabicPeriod"/>
            </a:pPr>
            <a:r>
              <a:rPr lang="zh-CN" altLang="en-US" dirty="0"/>
              <a:t>程序源码</a:t>
            </a:r>
            <a:r>
              <a:rPr lang="en-US" altLang="zh-CN" dirty="0"/>
              <a:t>SRC</a:t>
            </a:r>
          </a:p>
          <a:p>
            <a:pPr marL="342900" indent="-342900">
              <a:lnSpc>
                <a:spcPct val="120000"/>
              </a:lnSpc>
              <a:buAutoNum type="arabicPeriod"/>
            </a:pPr>
            <a:r>
              <a:rPr lang="zh-CN" altLang="en-US" dirty="0"/>
              <a:t>源码所需的系统库</a:t>
            </a:r>
            <a:r>
              <a:rPr lang="en-US" altLang="zh-CN" dirty="0"/>
              <a:t>LIBS</a:t>
            </a:r>
          </a:p>
          <a:p>
            <a:pPr marL="342900" indent="-342900">
              <a:lnSpc>
                <a:spcPct val="120000"/>
              </a:lnSpc>
              <a:buAutoNum type="arabicPeriod"/>
            </a:pPr>
            <a:r>
              <a:rPr lang="zh-CN" altLang="en-US" dirty="0"/>
              <a:t>源码编译的</a:t>
            </a:r>
            <a:r>
              <a:rPr lang="en-US" altLang="zh-CN" dirty="0"/>
              <a:t>ISA</a:t>
            </a:r>
          </a:p>
          <a:p>
            <a:pPr>
              <a:lnSpc>
                <a:spcPct val="120000"/>
              </a:lnSpc>
            </a:pPr>
            <a:r>
              <a:rPr lang="en-US" altLang="zh-CN" dirty="0" err="1"/>
              <a:t>Makefile</a:t>
            </a:r>
            <a:r>
              <a:rPr lang="zh-CN" altLang="en-US" dirty="0"/>
              <a:t>即可将程序链接为</a:t>
            </a:r>
            <a:r>
              <a:rPr lang="en-US" altLang="zh-CN" dirty="0"/>
              <a:t>Nanos</a:t>
            </a:r>
            <a:r>
              <a:rPr lang="zh-CN" altLang="en-US" dirty="0"/>
              <a:t>可执行文件</a:t>
            </a:r>
            <a:endParaRPr lang="en-US" altLang="zh-CN" dirty="0"/>
          </a:p>
          <a:p>
            <a:endParaRPr lang="en-US" altLang="zh-CN" dirty="0"/>
          </a:p>
        </p:txBody>
      </p:sp>
      <p:sp>
        <p:nvSpPr>
          <p:cNvPr id="24" name="文本框 23">
            <a:extLst>
              <a:ext uri="{FF2B5EF4-FFF2-40B4-BE49-F238E27FC236}">
                <a16:creationId xmlns:a16="http://schemas.microsoft.com/office/drawing/2014/main" id="{B7514462-772B-2AA4-ADE9-81B3F85C213C}"/>
              </a:ext>
            </a:extLst>
          </p:cNvPr>
          <p:cNvSpPr txBox="1"/>
          <p:nvPr/>
        </p:nvSpPr>
        <p:spPr>
          <a:xfrm>
            <a:off x="778510" y="3971740"/>
            <a:ext cx="4348294" cy="369332"/>
          </a:xfrm>
          <a:prstGeom prst="rect">
            <a:avLst/>
          </a:prstGeom>
          <a:noFill/>
        </p:spPr>
        <p:txBody>
          <a:bodyPr wrap="square" rtlCol="0">
            <a:spAutoFit/>
          </a:bodyPr>
          <a:lstStyle/>
          <a:p>
            <a:r>
              <a:rPr lang="zh-CN" altLang="en-US" dirty="0"/>
              <a:t>复制程序镜像到</a:t>
            </a:r>
            <a:r>
              <a:rPr lang="en-US" altLang="zh-CN" dirty="0"/>
              <a:t>navy/</a:t>
            </a:r>
            <a:r>
              <a:rPr lang="en-US" altLang="zh-CN" dirty="0" err="1"/>
              <a:t>fsimg</a:t>
            </a:r>
            <a:r>
              <a:rPr lang="zh-CN" altLang="en-US" dirty="0"/>
              <a:t>文件夹</a:t>
            </a:r>
          </a:p>
        </p:txBody>
      </p:sp>
      <p:sp>
        <p:nvSpPr>
          <p:cNvPr id="25" name="文本框 24">
            <a:extLst>
              <a:ext uri="{FF2B5EF4-FFF2-40B4-BE49-F238E27FC236}">
                <a16:creationId xmlns:a16="http://schemas.microsoft.com/office/drawing/2014/main" id="{4D494A15-855A-B26F-FADF-F7318F79630E}"/>
              </a:ext>
            </a:extLst>
          </p:cNvPr>
          <p:cNvSpPr txBox="1"/>
          <p:nvPr/>
        </p:nvSpPr>
        <p:spPr>
          <a:xfrm>
            <a:off x="774873" y="4746652"/>
            <a:ext cx="4348294" cy="369332"/>
          </a:xfrm>
          <a:prstGeom prst="rect">
            <a:avLst/>
          </a:prstGeom>
          <a:noFill/>
        </p:spPr>
        <p:txBody>
          <a:bodyPr wrap="square" rtlCol="0">
            <a:spAutoFit/>
          </a:bodyPr>
          <a:lstStyle/>
          <a:p>
            <a:r>
              <a:rPr lang="zh-CN" altLang="en-US" dirty="0"/>
              <a:t>安装全部</a:t>
            </a:r>
            <a:r>
              <a:rPr lang="en-US" altLang="zh-CN" dirty="0"/>
              <a:t>test</a:t>
            </a:r>
            <a:r>
              <a:rPr lang="zh-CN" altLang="en-US" dirty="0"/>
              <a:t>程序镜像</a:t>
            </a:r>
          </a:p>
        </p:txBody>
      </p:sp>
      <p:sp>
        <p:nvSpPr>
          <p:cNvPr id="27" name="椭圆 26">
            <a:extLst>
              <a:ext uri="{FF2B5EF4-FFF2-40B4-BE49-F238E27FC236}">
                <a16:creationId xmlns:a16="http://schemas.microsoft.com/office/drawing/2014/main" id="{9DBC4428-D8EE-B911-E688-7B0FCCFA1A13}"/>
              </a:ext>
            </a:extLst>
          </p:cNvPr>
          <p:cNvSpPr/>
          <p:nvPr/>
        </p:nvSpPr>
        <p:spPr>
          <a:xfrm>
            <a:off x="481890" y="5298092"/>
            <a:ext cx="109056" cy="964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B7EB0C8E-8625-330B-D88E-93777432819C}"/>
              </a:ext>
            </a:extLst>
          </p:cNvPr>
          <p:cNvSpPr txBox="1"/>
          <p:nvPr/>
        </p:nvSpPr>
        <p:spPr>
          <a:xfrm>
            <a:off x="741947" y="5161661"/>
            <a:ext cx="2934749" cy="369332"/>
          </a:xfrm>
          <a:prstGeom prst="rect">
            <a:avLst/>
          </a:prstGeom>
          <a:noFill/>
        </p:spPr>
        <p:txBody>
          <a:bodyPr wrap="square" rtlCol="0">
            <a:spAutoFit/>
          </a:bodyPr>
          <a:lstStyle/>
          <a:p>
            <a:r>
              <a:rPr lang="en-US" altLang="zh-CN" dirty="0" err="1">
                <a:solidFill>
                  <a:srgbClr val="CC6600"/>
                </a:solidFill>
              </a:rPr>
              <a:t>ramdisk</a:t>
            </a:r>
            <a:endParaRPr lang="zh-CN" altLang="en-US" dirty="0">
              <a:solidFill>
                <a:srgbClr val="CC6600"/>
              </a:solidFill>
            </a:endParaRPr>
          </a:p>
        </p:txBody>
      </p:sp>
      <p:sp>
        <p:nvSpPr>
          <p:cNvPr id="29" name="文本框 28">
            <a:extLst>
              <a:ext uri="{FF2B5EF4-FFF2-40B4-BE49-F238E27FC236}">
                <a16:creationId xmlns:a16="http://schemas.microsoft.com/office/drawing/2014/main" id="{E6DBCD1C-3DBA-C224-5ADD-BAD86203C505}"/>
              </a:ext>
            </a:extLst>
          </p:cNvPr>
          <p:cNvSpPr txBox="1"/>
          <p:nvPr/>
        </p:nvSpPr>
        <p:spPr>
          <a:xfrm>
            <a:off x="741947" y="5601077"/>
            <a:ext cx="4348294" cy="646331"/>
          </a:xfrm>
          <a:prstGeom prst="rect">
            <a:avLst/>
          </a:prstGeom>
          <a:noFill/>
        </p:spPr>
        <p:txBody>
          <a:bodyPr wrap="square" rtlCol="0">
            <a:spAutoFit/>
          </a:bodyPr>
          <a:lstStyle/>
          <a:p>
            <a:r>
              <a:rPr lang="zh-CN" altLang="en-US" dirty="0"/>
              <a:t>制作系统文件镜像，主要是</a:t>
            </a:r>
            <a:r>
              <a:rPr lang="en-US" altLang="zh-CN" dirty="0" err="1"/>
              <a:t>fsimg</a:t>
            </a:r>
            <a:r>
              <a:rPr lang="zh-CN" altLang="en-US" dirty="0"/>
              <a:t>内容格式化为</a:t>
            </a:r>
            <a:r>
              <a:rPr lang="en-US" altLang="zh-CN" dirty="0"/>
              <a:t>Nanos</a:t>
            </a:r>
            <a:r>
              <a:rPr lang="zh-CN" altLang="en-US" dirty="0"/>
              <a:t>文件系统能辨识的结构体</a:t>
            </a:r>
          </a:p>
        </p:txBody>
      </p:sp>
      <p:sp>
        <p:nvSpPr>
          <p:cNvPr id="30" name="文本框 29">
            <a:extLst>
              <a:ext uri="{FF2B5EF4-FFF2-40B4-BE49-F238E27FC236}">
                <a16:creationId xmlns:a16="http://schemas.microsoft.com/office/drawing/2014/main" id="{9A7B46CB-15E7-9203-F534-5DDD2A3D8A26}"/>
              </a:ext>
            </a:extLst>
          </p:cNvPr>
          <p:cNvSpPr txBox="1"/>
          <p:nvPr/>
        </p:nvSpPr>
        <p:spPr>
          <a:xfrm>
            <a:off x="7655295" y="921836"/>
            <a:ext cx="2985375" cy="369332"/>
          </a:xfrm>
          <a:prstGeom prst="rect">
            <a:avLst/>
          </a:prstGeom>
          <a:noFill/>
        </p:spPr>
        <p:txBody>
          <a:bodyPr wrap="square" rtlCol="0">
            <a:spAutoFit/>
          </a:bodyPr>
          <a:lstStyle/>
          <a:p>
            <a:r>
              <a:rPr lang="en-US" altLang="zh-CN" dirty="0"/>
              <a:t>make ISA=isa install</a:t>
            </a:r>
            <a:endParaRPr lang="zh-CN" altLang="en-US" dirty="0"/>
          </a:p>
        </p:txBody>
      </p:sp>
      <p:sp>
        <p:nvSpPr>
          <p:cNvPr id="33" name="文本框 32">
            <a:extLst>
              <a:ext uri="{FF2B5EF4-FFF2-40B4-BE49-F238E27FC236}">
                <a16:creationId xmlns:a16="http://schemas.microsoft.com/office/drawing/2014/main" id="{B875E28D-D316-C63D-9E98-5C6D0B4DEEE1}"/>
              </a:ext>
            </a:extLst>
          </p:cNvPr>
          <p:cNvSpPr txBox="1"/>
          <p:nvPr/>
        </p:nvSpPr>
        <p:spPr>
          <a:xfrm>
            <a:off x="6570805" y="2234366"/>
            <a:ext cx="2846375" cy="307777"/>
          </a:xfrm>
          <a:prstGeom prst="rect">
            <a:avLst/>
          </a:prstGeom>
          <a:noFill/>
        </p:spPr>
        <p:txBody>
          <a:bodyPr wrap="square" rtlCol="0">
            <a:spAutoFit/>
          </a:bodyPr>
          <a:lstStyle/>
          <a:p>
            <a:r>
              <a:rPr lang="zh-CN" altLang="en-US" sz="1400" dirty="0"/>
              <a:t>应用程序</a:t>
            </a:r>
            <a:r>
              <a:rPr lang="en-US" altLang="zh-CN" sz="1400" dirty="0"/>
              <a:t>SRC</a:t>
            </a:r>
            <a:r>
              <a:rPr lang="zh-CN" altLang="en-US" sz="1400" dirty="0"/>
              <a:t>编译为目标文件</a:t>
            </a:r>
          </a:p>
        </p:txBody>
      </p:sp>
      <p:sp>
        <p:nvSpPr>
          <p:cNvPr id="38" name="文本框 37">
            <a:extLst>
              <a:ext uri="{FF2B5EF4-FFF2-40B4-BE49-F238E27FC236}">
                <a16:creationId xmlns:a16="http://schemas.microsoft.com/office/drawing/2014/main" id="{9DD42071-AD48-D812-0F12-A5D88A934C35}"/>
              </a:ext>
            </a:extLst>
          </p:cNvPr>
          <p:cNvSpPr txBox="1"/>
          <p:nvPr/>
        </p:nvSpPr>
        <p:spPr>
          <a:xfrm>
            <a:off x="7731207" y="3023493"/>
            <a:ext cx="2388066" cy="307777"/>
          </a:xfrm>
          <a:prstGeom prst="rect">
            <a:avLst/>
          </a:prstGeom>
          <a:noFill/>
        </p:spPr>
        <p:txBody>
          <a:bodyPr wrap="square" rtlCol="0">
            <a:spAutoFit/>
          </a:bodyPr>
          <a:lstStyle/>
          <a:p>
            <a:r>
              <a:rPr lang="zh-CN" altLang="en-US" sz="1400" dirty="0"/>
              <a:t>链接为目标</a:t>
            </a:r>
            <a:r>
              <a:rPr lang="en-US" altLang="zh-CN" sz="1400" dirty="0"/>
              <a:t>ISA</a:t>
            </a:r>
            <a:r>
              <a:rPr lang="zh-CN" altLang="en-US" sz="1400" dirty="0"/>
              <a:t>可执行文件</a:t>
            </a:r>
          </a:p>
        </p:txBody>
      </p:sp>
      <p:sp>
        <p:nvSpPr>
          <p:cNvPr id="45" name="文本框 44">
            <a:extLst>
              <a:ext uri="{FF2B5EF4-FFF2-40B4-BE49-F238E27FC236}">
                <a16:creationId xmlns:a16="http://schemas.microsoft.com/office/drawing/2014/main" id="{7A6CEDF9-AE51-1F03-285A-77B734335C9E}"/>
              </a:ext>
            </a:extLst>
          </p:cNvPr>
          <p:cNvSpPr txBox="1"/>
          <p:nvPr/>
        </p:nvSpPr>
        <p:spPr>
          <a:xfrm>
            <a:off x="7723081" y="3797627"/>
            <a:ext cx="2388065" cy="307777"/>
          </a:xfrm>
          <a:prstGeom prst="rect">
            <a:avLst/>
          </a:prstGeom>
          <a:noFill/>
        </p:spPr>
        <p:txBody>
          <a:bodyPr wrap="square" rtlCol="0">
            <a:spAutoFit/>
          </a:bodyPr>
          <a:lstStyle/>
          <a:p>
            <a:r>
              <a:rPr lang="zh-CN" altLang="en-US" sz="1400" dirty="0"/>
              <a:t>可执行镜像复制到</a:t>
            </a:r>
            <a:r>
              <a:rPr lang="en-US" altLang="zh-CN" sz="1400" dirty="0" err="1"/>
              <a:t>fsimg</a:t>
            </a:r>
            <a:r>
              <a:rPr lang="zh-CN" altLang="en-US" sz="1400" dirty="0"/>
              <a:t>路径</a:t>
            </a:r>
          </a:p>
        </p:txBody>
      </p:sp>
      <p:sp>
        <p:nvSpPr>
          <p:cNvPr id="46" name="文本框 45">
            <a:extLst>
              <a:ext uri="{FF2B5EF4-FFF2-40B4-BE49-F238E27FC236}">
                <a16:creationId xmlns:a16="http://schemas.microsoft.com/office/drawing/2014/main" id="{BC7A9A7C-DEB3-A539-348A-1AD9153D9B93}"/>
              </a:ext>
            </a:extLst>
          </p:cNvPr>
          <p:cNvSpPr txBox="1"/>
          <p:nvPr/>
        </p:nvSpPr>
        <p:spPr>
          <a:xfrm>
            <a:off x="7521242" y="4571669"/>
            <a:ext cx="2791741" cy="307777"/>
          </a:xfrm>
          <a:prstGeom prst="rect">
            <a:avLst/>
          </a:prstGeom>
          <a:noFill/>
        </p:spPr>
        <p:txBody>
          <a:bodyPr wrap="square" rtlCol="0">
            <a:spAutoFit/>
          </a:bodyPr>
          <a:lstStyle/>
          <a:p>
            <a:r>
              <a:rPr lang="zh-CN" altLang="en-US" sz="1400" dirty="0"/>
              <a:t>基于</a:t>
            </a:r>
            <a:r>
              <a:rPr lang="en-US" altLang="zh-CN" sz="1400" dirty="0" err="1"/>
              <a:t>fsimg</a:t>
            </a:r>
            <a:r>
              <a:rPr lang="zh-CN" altLang="en-US" sz="1400" dirty="0"/>
              <a:t>内容制作系统镜像文件</a:t>
            </a:r>
          </a:p>
        </p:txBody>
      </p:sp>
      <p:sp>
        <p:nvSpPr>
          <p:cNvPr id="49" name="文本框 48">
            <a:extLst>
              <a:ext uri="{FF2B5EF4-FFF2-40B4-BE49-F238E27FC236}">
                <a16:creationId xmlns:a16="http://schemas.microsoft.com/office/drawing/2014/main" id="{6FC00346-EE56-6B3E-4AFC-3388896B2041}"/>
              </a:ext>
            </a:extLst>
          </p:cNvPr>
          <p:cNvSpPr txBox="1"/>
          <p:nvPr/>
        </p:nvSpPr>
        <p:spPr>
          <a:xfrm>
            <a:off x="7273590" y="5390232"/>
            <a:ext cx="3824935" cy="307777"/>
          </a:xfrm>
          <a:prstGeom prst="rect">
            <a:avLst/>
          </a:prstGeom>
          <a:noFill/>
        </p:spPr>
        <p:txBody>
          <a:bodyPr wrap="square" rtlCol="0">
            <a:spAutoFit/>
          </a:bodyPr>
          <a:lstStyle/>
          <a:p>
            <a:r>
              <a:rPr lang="zh-CN" altLang="en-US" sz="1400" dirty="0"/>
              <a:t>创建并更新</a:t>
            </a:r>
            <a:r>
              <a:rPr lang="en-US" altLang="zh-CN" sz="1400" dirty="0"/>
              <a:t>navy</a:t>
            </a:r>
            <a:r>
              <a:rPr lang="zh-CN" altLang="en-US" sz="1400" dirty="0"/>
              <a:t>系统调用、系统镜像的软链接</a:t>
            </a:r>
          </a:p>
        </p:txBody>
      </p:sp>
      <p:cxnSp>
        <p:nvCxnSpPr>
          <p:cNvPr id="50" name="直接箭头连接符 49">
            <a:extLst>
              <a:ext uri="{FF2B5EF4-FFF2-40B4-BE49-F238E27FC236}">
                <a16:creationId xmlns:a16="http://schemas.microsoft.com/office/drawing/2014/main" id="{A5490238-9FD2-53F7-A74A-32C51A67B3F6}"/>
              </a:ext>
            </a:extLst>
          </p:cNvPr>
          <p:cNvCxnSpPr>
            <a:cxnSpLocks/>
          </p:cNvCxnSpPr>
          <p:nvPr/>
        </p:nvCxnSpPr>
        <p:spPr>
          <a:xfrm>
            <a:off x="8677931" y="1925357"/>
            <a:ext cx="0" cy="309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9330537B-21E1-A794-A2C0-2061252FB5B1}"/>
              </a:ext>
            </a:extLst>
          </p:cNvPr>
          <p:cNvSpPr txBox="1"/>
          <p:nvPr/>
        </p:nvSpPr>
        <p:spPr>
          <a:xfrm>
            <a:off x="8905875" y="3452547"/>
            <a:ext cx="956782" cy="276999"/>
          </a:xfrm>
          <a:prstGeom prst="rect">
            <a:avLst/>
          </a:prstGeom>
          <a:noFill/>
        </p:spPr>
        <p:txBody>
          <a:bodyPr wrap="square" rtlCol="0">
            <a:spAutoFit/>
          </a:bodyPr>
          <a:lstStyle/>
          <a:p>
            <a:r>
              <a:rPr lang="en-US" altLang="zh-CN" sz="1200" dirty="0">
                <a:solidFill>
                  <a:srgbClr val="CC6600"/>
                </a:solidFill>
              </a:rPr>
              <a:t>Install</a:t>
            </a:r>
            <a:r>
              <a:rPr lang="zh-CN" altLang="en-US" sz="1200" dirty="0">
                <a:solidFill>
                  <a:srgbClr val="CC6600"/>
                </a:solidFill>
              </a:rPr>
              <a:t>命令</a:t>
            </a:r>
          </a:p>
        </p:txBody>
      </p:sp>
      <p:sp>
        <p:nvSpPr>
          <p:cNvPr id="56" name="文本框 55">
            <a:extLst>
              <a:ext uri="{FF2B5EF4-FFF2-40B4-BE49-F238E27FC236}">
                <a16:creationId xmlns:a16="http://schemas.microsoft.com/office/drawing/2014/main" id="{57372365-AAC8-8504-50B1-EC113BFC90A0}"/>
              </a:ext>
            </a:extLst>
          </p:cNvPr>
          <p:cNvSpPr txBox="1"/>
          <p:nvPr/>
        </p:nvSpPr>
        <p:spPr>
          <a:xfrm>
            <a:off x="9384266" y="1925357"/>
            <a:ext cx="865338" cy="276999"/>
          </a:xfrm>
          <a:prstGeom prst="rect">
            <a:avLst/>
          </a:prstGeom>
          <a:noFill/>
        </p:spPr>
        <p:txBody>
          <a:bodyPr wrap="square" rtlCol="0">
            <a:spAutoFit/>
          </a:bodyPr>
          <a:lstStyle/>
          <a:p>
            <a:r>
              <a:rPr lang="en-US" altLang="zh-CN" sz="1200" dirty="0">
                <a:solidFill>
                  <a:srgbClr val="CC6600"/>
                </a:solidFill>
              </a:rPr>
              <a:t>./</a:t>
            </a:r>
            <a:r>
              <a:rPr lang="en-US" altLang="zh-CN" sz="1200" dirty="0" err="1">
                <a:solidFill>
                  <a:srgbClr val="CC6600"/>
                </a:solidFill>
              </a:rPr>
              <a:t>Makefile</a:t>
            </a:r>
            <a:endParaRPr lang="zh-CN" altLang="en-US" sz="1200" dirty="0">
              <a:solidFill>
                <a:srgbClr val="CC6600"/>
              </a:solidFill>
            </a:endParaRPr>
          </a:p>
        </p:txBody>
      </p:sp>
      <p:cxnSp>
        <p:nvCxnSpPr>
          <p:cNvPr id="26" name="直接箭头连接符 25">
            <a:extLst>
              <a:ext uri="{FF2B5EF4-FFF2-40B4-BE49-F238E27FC236}">
                <a16:creationId xmlns:a16="http://schemas.microsoft.com/office/drawing/2014/main" id="{68DD0886-3026-162D-46F7-EB3A21EBC3E0}"/>
              </a:ext>
            </a:extLst>
          </p:cNvPr>
          <p:cNvCxnSpPr>
            <a:cxnSpLocks/>
          </p:cNvCxnSpPr>
          <p:nvPr/>
        </p:nvCxnSpPr>
        <p:spPr>
          <a:xfrm>
            <a:off x="8677931" y="3331270"/>
            <a:ext cx="0" cy="468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705A3F5F-4960-BCD0-F383-B80355DF730D}"/>
              </a:ext>
            </a:extLst>
          </p:cNvPr>
          <p:cNvCxnSpPr>
            <a:cxnSpLocks/>
          </p:cNvCxnSpPr>
          <p:nvPr/>
        </p:nvCxnSpPr>
        <p:spPr>
          <a:xfrm>
            <a:off x="8636483" y="4105404"/>
            <a:ext cx="0" cy="446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AEE09D59-AE0B-912E-B2F5-BCFC7A798051}"/>
              </a:ext>
            </a:extLst>
          </p:cNvPr>
          <p:cNvCxnSpPr>
            <a:cxnSpLocks/>
          </p:cNvCxnSpPr>
          <p:nvPr/>
        </p:nvCxnSpPr>
        <p:spPr>
          <a:xfrm>
            <a:off x="8617726" y="4929866"/>
            <a:ext cx="0" cy="438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椭圆 30">
            <a:extLst>
              <a:ext uri="{FF2B5EF4-FFF2-40B4-BE49-F238E27FC236}">
                <a16:creationId xmlns:a16="http://schemas.microsoft.com/office/drawing/2014/main" id="{F7C9A2B9-7F16-4A91-C5C7-8260CD87D2A1}"/>
              </a:ext>
            </a:extLst>
          </p:cNvPr>
          <p:cNvSpPr/>
          <p:nvPr/>
        </p:nvSpPr>
        <p:spPr>
          <a:xfrm>
            <a:off x="580287" y="1549211"/>
            <a:ext cx="109056" cy="964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2C68F358-AEF8-7766-A9A1-E77295435803}"/>
              </a:ext>
            </a:extLst>
          </p:cNvPr>
          <p:cNvSpPr txBox="1"/>
          <p:nvPr/>
        </p:nvSpPr>
        <p:spPr>
          <a:xfrm>
            <a:off x="6850852" y="1580977"/>
            <a:ext cx="4857334" cy="307777"/>
          </a:xfrm>
          <a:prstGeom prst="rect">
            <a:avLst/>
          </a:prstGeom>
          <a:noFill/>
        </p:spPr>
        <p:txBody>
          <a:bodyPr wrap="square" rtlCol="0">
            <a:spAutoFit/>
          </a:bodyPr>
          <a:lstStyle/>
          <a:p>
            <a:r>
              <a:rPr lang="zh-CN" altLang="en-US" sz="1400" dirty="0"/>
              <a:t>根据应用程序所在的</a:t>
            </a:r>
            <a:r>
              <a:rPr lang="en-US" altLang="zh-CN" sz="1400" dirty="0" err="1"/>
              <a:t>Makefile</a:t>
            </a:r>
            <a:r>
              <a:rPr lang="zh-CN" altLang="en-US" sz="1400" dirty="0"/>
              <a:t>，确定</a:t>
            </a:r>
            <a:r>
              <a:rPr lang="en-US" altLang="zh-CN" sz="1400" dirty="0"/>
              <a:t>SRC</a:t>
            </a:r>
            <a:r>
              <a:rPr lang="zh-CN" altLang="en-US" sz="1400" dirty="0"/>
              <a:t>、</a:t>
            </a:r>
            <a:r>
              <a:rPr lang="en-US" altLang="zh-CN" sz="1400" dirty="0"/>
              <a:t>LIBS</a:t>
            </a:r>
            <a:r>
              <a:rPr lang="zh-CN" altLang="en-US" sz="1400" dirty="0"/>
              <a:t>、</a:t>
            </a:r>
            <a:r>
              <a:rPr lang="en-US" altLang="zh-CN" sz="1400" dirty="0"/>
              <a:t>ISA</a:t>
            </a:r>
            <a:endParaRPr lang="zh-CN" altLang="en-US" sz="1400" dirty="0"/>
          </a:p>
        </p:txBody>
      </p:sp>
      <p:sp>
        <p:nvSpPr>
          <p:cNvPr id="44" name="文本框 43">
            <a:extLst>
              <a:ext uri="{FF2B5EF4-FFF2-40B4-BE49-F238E27FC236}">
                <a16:creationId xmlns:a16="http://schemas.microsoft.com/office/drawing/2014/main" id="{DFDABD98-F03B-B93F-239B-AB394AF15304}"/>
              </a:ext>
            </a:extLst>
          </p:cNvPr>
          <p:cNvSpPr txBox="1"/>
          <p:nvPr/>
        </p:nvSpPr>
        <p:spPr>
          <a:xfrm>
            <a:off x="10178997" y="2251760"/>
            <a:ext cx="1793806" cy="307777"/>
          </a:xfrm>
          <a:prstGeom prst="rect">
            <a:avLst/>
          </a:prstGeom>
          <a:noFill/>
        </p:spPr>
        <p:txBody>
          <a:bodyPr wrap="square" rtlCol="0">
            <a:spAutoFit/>
          </a:bodyPr>
          <a:lstStyle/>
          <a:p>
            <a:r>
              <a:rPr lang="en-US" altLang="zh-CN" sz="1400" dirty="0"/>
              <a:t>LIBS</a:t>
            </a:r>
            <a:r>
              <a:rPr lang="zh-CN" altLang="en-US" sz="1400" dirty="0"/>
              <a:t>静态库文件</a:t>
            </a:r>
          </a:p>
        </p:txBody>
      </p:sp>
      <p:sp>
        <p:nvSpPr>
          <p:cNvPr id="48" name="文本框 47">
            <a:extLst>
              <a:ext uri="{FF2B5EF4-FFF2-40B4-BE49-F238E27FC236}">
                <a16:creationId xmlns:a16="http://schemas.microsoft.com/office/drawing/2014/main" id="{C58FA46E-F925-E199-E9E4-AA43CBDAFFAD}"/>
              </a:ext>
            </a:extLst>
          </p:cNvPr>
          <p:cNvSpPr txBox="1"/>
          <p:nvPr/>
        </p:nvSpPr>
        <p:spPr>
          <a:xfrm>
            <a:off x="7350489" y="6187356"/>
            <a:ext cx="3824935" cy="307777"/>
          </a:xfrm>
          <a:prstGeom prst="rect">
            <a:avLst/>
          </a:prstGeom>
          <a:noFill/>
        </p:spPr>
        <p:txBody>
          <a:bodyPr wrap="square" rtlCol="0">
            <a:spAutoFit/>
          </a:bodyPr>
          <a:lstStyle/>
          <a:p>
            <a:r>
              <a:rPr lang="en-US" altLang="zh-CN" sz="1400" dirty="0"/>
              <a:t>Nanos</a:t>
            </a:r>
            <a:r>
              <a:rPr lang="zh-CN" altLang="en-US" sz="1400" dirty="0"/>
              <a:t>系统内核载入并运行用户程序</a:t>
            </a:r>
          </a:p>
        </p:txBody>
      </p:sp>
      <p:cxnSp>
        <p:nvCxnSpPr>
          <p:cNvPr id="53" name="直接箭头连接符 52">
            <a:extLst>
              <a:ext uri="{FF2B5EF4-FFF2-40B4-BE49-F238E27FC236}">
                <a16:creationId xmlns:a16="http://schemas.microsoft.com/office/drawing/2014/main" id="{5F5E2CAC-3F93-6942-C483-2F05179E7857}"/>
              </a:ext>
            </a:extLst>
          </p:cNvPr>
          <p:cNvCxnSpPr>
            <a:cxnSpLocks/>
          </p:cNvCxnSpPr>
          <p:nvPr/>
        </p:nvCxnSpPr>
        <p:spPr>
          <a:xfrm>
            <a:off x="10477849" y="1869018"/>
            <a:ext cx="0" cy="365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9D134EF0-6F7A-B4C7-7D78-3A479373D17A}"/>
              </a:ext>
            </a:extLst>
          </p:cNvPr>
          <p:cNvCxnSpPr>
            <a:cxnSpLocks/>
          </p:cNvCxnSpPr>
          <p:nvPr/>
        </p:nvCxnSpPr>
        <p:spPr>
          <a:xfrm>
            <a:off x="8253944" y="2575633"/>
            <a:ext cx="0" cy="447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0606CC28-F1EF-A580-BDB5-241CCE5D3557}"/>
              </a:ext>
            </a:extLst>
          </p:cNvPr>
          <p:cNvCxnSpPr>
            <a:cxnSpLocks/>
          </p:cNvCxnSpPr>
          <p:nvPr/>
        </p:nvCxnSpPr>
        <p:spPr>
          <a:xfrm flipH="1">
            <a:off x="9836092" y="2589051"/>
            <a:ext cx="899146" cy="3936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20DF7F99-E8E2-C108-04A3-B7966093D8D5}"/>
              </a:ext>
            </a:extLst>
          </p:cNvPr>
          <p:cNvSpPr txBox="1"/>
          <p:nvPr/>
        </p:nvSpPr>
        <p:spPr>
          <a:xfrm>
            <a:off x="8715313" y="2625217"/>
            <a:ext cx="865338" cy="276999"/>
          </a:xfrm>
          <a:prstGeom prst="rect">
            <a:avLst/>
          </a:prstGeom>
          <a:noFill/>
        </p:spPr>
        <p:txBody>
          <a:bodyPr wrap="square" rtlCol="0">
            <a:spAutoFit/>
          </a:bodyPr>
          <a:lstStyle/>
          <a:p>
            <a:r>
              <a:rPr lang="en-US" altLang="zh-CN" sz="1200" dirty="0">
                <a:solidFill>
                  <a:srgbClr val="CC6600"/>
                </a:solidFill>
              </a:rPr>
              <a:t>./</a:t>
            </a:r>
            <a:r>
              <a:rPr lang="en-US" altLang="zh-CN" sz="1200" dirty="0" err="1">
                <a:solidFill>
                  <a:srgbClr val="CC6600"/>
                </a:solidFill>
              </a:rPr>
              <a:t>Makefile</a:t>
            </a:r>
            <a:endParaRPr lang="zh-CN" altLang="en-US" sz="1200" dirty="0">
              <a:solidFill>
                <a:srgbClr val="CC6600"/>
              </a:solidFill>
            </a:endParaRPr>
          </a:p>
        </p:txBody>
      </p:sp>
      <p:sp>
        <p:nvSpPr>
          <p:cNvPr id="66" name="文本框 65">
            <a:extLst>
              <a:ext uri="{FF2B5EF4-FFF2-40B4-BE49-F238E27FC236}">
                <a16:creationId xmlns:a16="http://schemas.microsoft.com/office/drawing/2014/main" id="{C9A40C54-49DF-E3D1-7018-11BEB7E1ACF4}"/>
              </a:ext>
            </a:extLst>
          </p:cNvPr>
          <p:cNvSpPr txBox="1"/>
          <p:nvPr/>
        </p:nvSpPr>
        <p:spPr>
          <a:xfrm>
            <a:off x="8878583" y="4156406"/>
            <a:ext cx="1081855" cy="276999"/>
          </a:xfrm>
          <a:prstGeom prst="rect">
            <a:avLst/>
          </a:prstGeom>
          <a:noFill/>
        </p:spPr>
        <p:txBody>
          <a:bodyPr wrap="square" rtlCol="0">
            <a:spAutoFit/>
          </a:bodyPr>
          <a:lstStyle/>
          <a:p>
            <a:r>
              <a:rPr lang="en-US" altLang="zh-CN" sz="1200" dirty="0" err="1">
                <a:solidFill>
                  <a:srgbClr val="CC6600"/>
                </a:solidFill>
              </a:rPr>
              <a:t>ramdisk</a:t>
            </a:r>
            <a:r>
              <a:rPr lang="zh-CN" altLang="en-US" sz="1200" dirty="0">
                <a:solidFill>
                  <a:srgbClr val="CC6600"/>
                </a:solidFill>
              </a:rPr>
              <a:t>命令</a:t>
            </a:r>
          </a:p>
        </p:txBody>
      </p:sp>
      <p:sp>
        <p:nvSpPr>
          <p:cNvPr id="67" name="文本框 66">
            <a:extLst>
              <a:ext uri="{FF2B5EF4-FFF2-40B4-BE49-F238E27FC236}">
                <a16:creationId xmlns:a16="http://schemas.microsoft.com/office/drawing/2014/main" id="{D699EFCC-7DB6-F7C6-687B-B7D8AC906E53}"/>
              </a:ext>
            </a:extLst>
          </p:cNvPr>
          <p:cNvSpPr txBox="1"/>
          <p:nvPr/>
        </p:nvSpPr>
        <p:spPr>
          <a:xfrm>
            <a:off x="8712881" y="5010831"/>
            <a:ext cx="3130891" cy="276999"/>
          </a:xfrm>
          <a:prstGeom prst="rect">
            <a:avLst/>
          </a:prstGeom>
          <a:noFill/>
        </p:spPr>
        <p:txBody>
          <a:bodyPr wrap="square" rtlCol="0">
            <a:spAutoFit/>
          </a:bodyPr>
          <a:lstStyle/>
          <a:p>
            <a:r>
              <a:rPr lang="en-US" altLang="zh-CN" sz="1200" dirty="0">
                <a:solidFill>
                  <a:srgbClr val="CC6600"/>
                </a:solidFill>
              </a:rPr>
              <a:t>nanos$ make ARCH=isa-platform update</a:t>
            </a:r>
            <a:endParaRPr lang="zh-CN" altLang="en-US" sz="1200" dirty="0">
              <a:solidFill>
                <a:srgbClr val="CC6600"/>
              </a:solidFill>
            </a:endParaRPr>
          </a:p>
        </p:txBody>
      </p:sp>
      <p:sp>
        <p:nvSpPr>
          <p:cNvPr id="68" name="文本框 67">
            <a:extLst>
              <a:ext uri="{FF2B5EF4-FFF2-40B4-BE49-F238E27FC236}">
                <a16:creationId xmlns:a16="http://schemas.microsoft.com/office/drawing/2014/main" id="{2269C667-679A-3E53-0F0C-1205ADD61C11}"/>
              </a:ext>
            </a:extLst>
          </p:cNvPr>
          <p:cNvSpPr txBox="1"/>
          <p:nvPr/>
        </p:nvSpPr>
        <p:spPr>
          <a:xfrm>
            <a:off x="8715313" y="5841828"/>
            <a:ext cx="3130891" cy="276999"/>
          </a:xfrm>
          <a:prstGeom prst="rect">
            <a:avLst/>
          </a:prstGeom>
          <a:noFill/>
        </p:spPr>
        <p:txBody>
          <a:bodyPr wrap="square" rtlCol="0">
            <a:spAutoFit/>
          </a:bodyPr>
          <a:lstStyle/>
          <a:p>
            <a:r>
              <a:rPr lang="en-US" altLang="zh-CN" sz="1200" dirty="0">
                <a:solidFill>
                  <a:srgbClr val="CC6600"/>
                </a:solidFill>
              </a:rPr>
              <a:t>nanos$ make ARCH=isa-platform run</a:t>
            </a:r>
            <a:endParaRPr lang="zh-CN" altLang="en-US" sz="1200" dirty="0">
              <a:solidFill>
                <a:srgbClr val="CC6600"/>
              </a:solidFill>
            </a:endParaRPr>
          </a:p>
        </p:txBody>
      </p:sp>
      <p:cxnSp>
        <p:nvCxnSpPr>
          <p:cNvPr id="69" name="直接箭头连接符 68">
            <a:extLst>
              <a:ext uri="{FF2B5EF4-FFF2-40B4-BE49-F238E27FC236}">
                <a16:creationId xmlns:a16="http://schemas.microsoft.com/office/drawing/2014/main" id="{08E1EC36-9668-F264-821B-8ED30B54A787}"/>
              </a:ext>
            </a:extLst>
          </p:cNvPr>
          <p:cNvCxnSpPr>
            <a:cxnSpLocks/>
          </p:cNvCxnSpPr>
          <p:nvPr/>
        </p:nvCxnSpPr>
        <p:spPr>
          <a:xfrm>
            <a:off x="8617726" y="5698009"/>
            <a:ext cx="0" cy="438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CD3040DC-F625-F33E-1A75-FB02C47F96AB}"/>
              </a:ext>
            </a:extLst>
          </p:cNvPr>
          <p:cNvCxnSpPr>
            <a:cxnSpLocks/>
          </p:cNvCxnSpPr>
          <p:nvPr/>
        </p:nvCxnSpPr>
        <p:spPr>
          <a:xfrm>
            <a:off x="8677931" y="1226388"/>
            <a:ext cx="0" cy="3710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文本框 77">
            <a:extLst>
              <a:ext uri="{FF2B5EF4-FFF2-40B4-BE49-F238E27FC236}">
                <a16:creationId xmlns:a16="http://schemas.microsoft.com/office/drawing/2014/main" id="{C7BB545C-AB0D-D215-6841-5CAE496F0928}"/>
              </a:ext>
            </a:extLst>
          </p:cNvPr>
          <p:cNvSpPr txBox="1"/>
          <p:nvPr/>
        </p:nvSpPr>
        <p:spPr>
          <a:xfrm>
            <a:off x="389255" y="3167597"/>
            <a:ext cx="6096698" cy="369332"/>
          </a:xfrm>
          <a:prstGeom prst="rect">
            <a:avLst/>
          </a:prstGeom>
          <a:noFill/>
        </p:spPr>
        <p:txBody>
          <a:bodyPr wrap="square">
            <a:spAutoFit/>
          </a:bodyPr>
          <a:lstStyle/>
          <a:p>
            <a:r>
              <a:rPr lang="en-US" altLang="zh-CN" dirty="0"/>
              <a:t>navy/</a:t>
            </a:r>
            <a:r>
              <a:rPr lang="en-US" altLang="zh-CN" dirty="0" err="1"/>
              <a:t>Makefile</a:t>
            </a:r>
            <a:r>
              <a:rPr lang="zh-CN" altLang="en-US" dirty="0"/>
              <a:t>有以下关键命令</a:t>
            </a:r>
            <a:r>
              <a:rPr lang="en-US" altLang="zh-CN" dirty="0"/>
              <a:t>:</a:t>
            </a:r>
          </a:p>
        </p:txBody>
      </p:sp>
    </p:spTree>
    <p:extLst>
      <p:ext uri="{BB962C8B-B14F-4D97-AF65-F5344CB8AC3E}">
        <p14:creationId xmlns:p14="http://schemas.microsoft.com/office/powerpoint/2010/main" val="178692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fade">
                                      <p:cBhvr>
                                        <p:cTn id="12" dur="500"/>
                                        <p:tgtEl>
                                          <p:spTgt spid="7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fade">
                                      <p:cBhvr>
                                        <p:cTn id="15" dur="500"/>
                                        <p:tgtEl>
                                          <p:spTgt spid="4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fade">
                                      <p:cBhvr>
                                        <p:cTn id="20" dur="500"/>
                                        <p:tgtEl>
                                          <p:spTgt spid="5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fade">
                                      <p:cBhvr>
                                        <p:cTn id="23" dur="500"/>
                                        <p:tgtEl>
                                          <p:spTgt spid="56"/>
                                        </p:tgtEl>
                                      </p:cBhvr>
                                    </p:animEffect>
                                  </p:childTnLst>
                                </p:cTn>
                              </p:par>
                              <p:par>
                                <p:cTn id="24" presetID="10" presetClass="entr" presetSubtype="0" fill="hold" nodeType="with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fade">
                                      <p:cBhvr>
                                        <p:cTn id="26" dur="500"/>
                                        <p:tgtEl>
                                          <p:spTgt spid="5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500"/>
                                        <p:tgtEl>
                                          <p:spTgt spid="3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500"/>
                                        <p:tgtEl>
                                          <p:spTgt spid="4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fade">
                                      <p:cBhvr>
                                        <p:cTn id="37" dur="500"/>
                                        <p:tgtEl>
                                          <p:spTgt spid="5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5"/>
                                        </p:tgtEl>
                                        <p:attrNameLst>
                                          <p:attrName>style.visibility</p:attrName>
                                        </p:attrNameLst>
                                      </p:cBhvr>
                                      <p:to>
                                        <p:strVal val="visible"/>
                                      </p:to>
                                    </p:set>
                                    <p:animEffect transition="in" filter="fade">
                                      <p:cBhvr>
                                        <p:cTn id="40" dur="500"/>
                                        <p:tgtEl>
                                          <p:spTgt spid="65"/>
                                        </p:tgtEl>
                                      </p:cBhvr>
                                    </p:animEffect>
                                  </p:childTnLst>
                                </p:cTn>
                              </p:par>
                              <p:par>
                                <p:cTn id="41" presetID="10" presetClass="entr" presetSubtype="0" fill="hold" nodeType="with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fade">
                                      <p:cBhvr>
                                        <p:cTn id="43" dur="500"/>
                                        <p:tgtEl>
                                          <p:spTgt spid="6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fade">
                                      <p:cBhvr>
                                        <p:cTn id="54" dur="500"/>
                                        <p:tgtEl>
                                          <p:spTgt spid="5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fade">
                                      <p:cBhvr>
                                        <p:cTn id="57" dur="500"/>
                                        <p:tgtEl>
                                          <p:spTgt spid="4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fade">
                                      <p:cBhvr>
                                        <p:cTn id="62" dur="500"/>
                                        <p:tgtEl>
                                          <p:spTgt spid="66"/>
                                        </p:tgtEl>
                                      </p:cBhvr>
                                    </p:animEffect>
                                  </p:childTnLst>
                                </p:cTn>
                              </p:par>
                              <p:par>
                                <p:cTn id="63" presetID="10" presetClass="entr" presetSubtype="0" fill="hold" nodeType="with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fade">
                                      <p:cBhvr>
                                        <p:cTn id="65" dur="500"/>
                                        <p:tgtEl>
                                          <p:spTgt spid="3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6"/>
                                        </p:tgtEl>
                                        <p:attrNameLst>
                                          <p:attrName>style.visibility</p:attrName>
                                        </p:attrNameLst>
                                      </p:cBhvr>
                                      <p:to>
                                        <p:strVal val="visible"/>
                                      </p:to>
                                    </p:set>
                                    <p:animEffect transition="in" filter="fade">
                                      <p:cBhvr>
                                        <p:cTn id="68" dur="500"/>
                                        <p:tgtEl>
                                          <p:spTgt spid="46"/>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500"/>
                                        <p:tgtEl>
                                          <p:spTgt spid="3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7"/>
                                        </p:tgtEl>
                                        <p:attrNameLst>
                                          <p:attrName>style.visibility</p:attrName>
                                        </p:attrNameLst>
                                      </p:cBhvr>
                                      <p:to>
                                        <p:strVal val="visible"/>
                                      </p:to>
                                    </p:set>
                                    <p:animEffect transition="in" filter="fade">
                                      <p:cBhvr>
                                        <p:cTn id="76" dur="500"/>
                                        <p:tgtEl>
                                          <p:spTgt spid="6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500"/>
                                        <p:tgtEl>
                                          <p:spTgt spid="49"/>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69"/>
                                        </p:tgtEl>
                                        <p:attrNameLst>
                                          <p:attrName>style.visibility</p:attrName>
                                        </p:attrNameLst>
                                      </p:cBhvr>
                                      <p:to>
                                        <p:strVal val="visible"/>
                                      </p:to>
                                    </p:set>
                                    <p:animEffect transition="in" filter="fade">
                                      <p:cBhvr>
                                        <p:cTn id="84" dur="500"/>
                                        <p:tgtEl>
                                          <p:spTgt spid="6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68"/>
                                        </p:tgtEl>
                                        <p:attrNameLst>
                                          <p:attrName>style.visibility</p:attrName>
                                        </p:attrNameLst>
                                      </p:cBhvr>
                                      <p:to>
                                        <p:strVal val="visible"/>
                                      </p:to>
                                    </p:set>
                                    <p:animEffect transition="in" filter="fade">
                                      <p:cBhvr>
                                        <p:cTn id="87" dur="500"/>
                                        <p:tgtEl>
                                          <p:spTgt spid="6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8"/>
                                        </p:tgtEl>
                                        <p:attrNameLst>
                                          <p:attrName>style.visibility</p:attrName>
                                        </p:attrNameLst>
                                      </p:cBhvr>
                                      <p:to>
                                        <p:strVal val="visible"/>
                                      </p:to>
                                    </p:set>
                                    <p:animEffect transition="in" filter="fade">
                                      <p:cBhvr>
                                        <p:cTn id="9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3" grpId="0"/>
      <p:bldP spid="38" grpId="0"/>
      <p:bldP spid="45" grpId="0"/>
      <p:bldP spid="46" grpId="0"/>
      <p:bldP spid="49" grpId="0"/>
      <p:bldP spid="54" grpId="0"/>
      <p:bldP spid="56" grpId="0"/>
      <p:bldP spid="43" grpId="0"/>
      <p:bldP spid="44" grpId="0"/>
      <p:bldP spid="48" grpId="0"/>
      <p:bldP spid="65" grpId="0"/>
      <p:bldP spid="66" grpId="0"/>
      <p:bldP spid="67" grpId="0"/>
      <p:bldP spid="68"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E9BBF55-558C-B2B2-D37A-25AFDCCCCC09}"/>
            </a:ext>
          </a:extLst>
        </p:cNvPr>
        <p:cNvGrpSpPr/>
        <p:nvPr/>
      </p:nvGrpSpPr>
      <p:grpSpPr bwMode="auto">
        <a:xfrm>
          <a:off x="0" y="0"/>
          <a:ext cx="0" cy="0"/>
          <a:chOff x="0" y="0"/>
          <a:chExt cx="0" cy="0"/>
        </a:xfrm>
      </p:grpSpPr>
      <p:sp>
        <p:nvSpPr>
          <p:cNvPr id="2" name="powerpoint template design by DAJU_PPT正版来源小红书大橘PPT微信DAJU_PPT请勿抄袭搬运！盗版必究！">
            <a:extLst>
              <a:ext uri="{FF2B5EF4-FFF2-40B4-BE49-F238E27FC236}">
                <a16:creationId xmlns:a16="http://schemas.microsoft.com/office/drawing/2014/main" id="{4E408062-CE01-086E-4F96-96F8E0B14001}"/>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3" name="powerpoint template design by DAJU_PPT正版来源小红书大橘PPT微信DAJU_PPT请勿抄袭搬运！盗版必究！">
            <a:extLst>
              <a:ext uri="{FF2B5EF4-FFF2-40B4-BE49-F238E27FC236}">
                <a16:creationId xmlns:a16="http://schemas.microsoft.com/office/drawing/2014/main" id="{B4A0A541-5B37-CB36-D578-991780091A28}"/>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4" name="powerpoint template design by DAJU_PPT正版来源小红书大橘PPT微信DAJU_PPT请勿抄袭搬运！盗版必究！">
            <a:extLst>
              <a:ext uri="{FF2B5EF4-FFF2-40B4-BE49-F238E27FC236}">
                <a16:creationId xmlns:a16="http://schemas.microsoft.com/office/drawing/2014/main" id="{23B0429C-03D0-4212-DF8F-9996DF4879C7}"/>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000" i="0" u="none" strike="noStrike" cap="none" spc="0" dirty="0">
                <a:ln>
                  <a:noFill/>
                </a:ln>
                <a:solidFill>
                  <a:schemeClr val="bg1">
                    <a:alpha val="70000"/>
                  </a:schemeClr>
                </a:solidFill>
                <a:cs typeface="+mn-ea"/>
              </a:rPr>
              <a:t>考核题目讲解</a:t>
            </a:r>
            <a:endParaRPr lang="en-US" sz="2000" i="0" u="none" strike="noStrike" cap="none" spc="0" dirty="0">
              <a:ln>
                <a:noFill/>
              </a:ln>
              <a:solidFill>
                <a:schemeClr val="bg1">
                  <a:alpha val="70000"/>
                </a:schemeClr>
              </a:solidFill>
              <a:cs typeface="+mn-ea"/>
            </a:endParaRPr>
          </a:p>
        </p:txBody>
      </p:sp>
      <p:cxnSp>
        <p:nvCxnSpPr>
          <p:cNvPr id="5" name="powerpoint template design by DAJU_PPT正版来源小红书大橘PPT微信DAJU_PPT请勿抄袭搬运！盗版必究！">
            <a:extLst>
              <a:ext uri="{FF2B5EF4-FFF2-40B4-BE49-F238E27FC236}">
                <a16:creationId xmlns:a16="http://schemas.microsoft.com/office/drawing/2014/main" id="{EA93F234-C3A9-929F-FC95-F298ABEA06FE}"/>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powerpoint template design by DAJU_PPT正版来源小红书大橘PPT微信DAJU_PPT请勿抄袭搬运！盗版必究！">
            <a:extLst>
              <a:ext uri="{FF2B5EF4-FFF2-40B4-BE49-F238E27FC236}">
                <a16:creationId xmlns:a16="http://schemas.microsoft.com/office/drawing/2014/main" id="{38ED270A-F75B-FB9B-9B17-60E8A0AB4558}"/>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powerpoint template design by DAJU_PPT正版来源小红书大橘PPT微信DAJU_PPT请勿抄袭搬运！盗版必究！">
            <a:extLst>
              <a:ext uri="{FF2B5EF4-FFF2-40B4-BE49-F238E27FC236}">
                <a16:creationId xmlns:a16="http://schemas.microsoft.com/office/drawing/2014/main" id="{B91DF605-96FB-D237-85CF-C21976DCC004}"/>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8" name="图片 3">
            <a:extLst>
              <a:ext uri="{FF2B5EF4-FFF2-40B4-BE49-F238E27FC236}">
                <a16:creationId xmlns:a16="http://schemas.microsoft.com/office/drawing/2014/main" id="{3CDEC1AA-0E0C-C9BA-6CA7-07D156B5551A}"/>
              </a:ext>
            </a:extLst>
          </p:cNvPr>
          <p:cNvPicPr>
            <a:picLocks noChangeAspect="1"/>
          </p:cNvPicPr>
          <p:nvPr/>
        </p:nvPicPr>
        <p:blipFill rotWithShape="1">
          <a:blip r:embed="rId3"/>
          <a:stretch/>
        </p:blipFill>
        <p:spPr bwMode="auto">
          <a:xfrm>
            <a:off x="0" y="0"/>
            <a:ext cx="778510" cy="720090"/>
          </a:xfrm>
          <a:prstGeom prst="rect">
            <a:avLst/>
          </a:prstGeom>
        </p:spPr>
      </p:pic>
      <p:sp>
        <p:nvSpPr>
          <p:cNvPr id="9" name="powerpoint template design by DAJU_PPT正版来源小红书大橘PPT微信DAJU_PPT请勿抄袭搬运！盗版必究！">
            <a:extLst>
              <a:ext uri="{FF2B5EF4-FFF2-40B4-BE49-F238E27FC236}">
                <a16:creationId xmlns:a16="http://schemas.microsoft.com/office/drawing/2014/main" id="{9B2B8F27-B789-E275-6FC3-D20EA1B5D1A3}"/>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400" b="1" i="0" u="none" strike="noStrike" cap="none" spc="0" dirty="0">
                <a:ln>
                  <a:noFill/>
                </a:ln>
                <a:solidFill>
                  <a:srgbClr val="00B050">
                    <a:alpha val="70000"/>
                  </a:srgbClr>
                </a:solidFill>
                <a:cs typeface="+mn-ea"/>
              </a:rPr>
              <a:t>NPC</a:t>
            </a:r>
            <a:r>
              <a:rPr lang="zh-CN" altLang="en-US" sz="2400" b="1" i="0" u="none" strike="noStrike" cap="none" spc="0" dirty="0">
                <a:ln>
                  <a:noFill/>
                </a:ln>
                <a:solidFill>
                  <a:srgbClr val="00B050">
                    <a:alpha val="70000"/>
                  </a:srgbClr>
                </a:solidFill>
                <a:cs typeface="+mn-ea"/>
              </a:rPr>
              <a:t>架构</a:t>
            </a:r>
            <a:endParaRPr lang="en-US" sz="2400" b="1" i="0" u="none" strike="noStrike" cap="none" spc="0" dirty="0">
              <a:ln>
                <a:noFill/>
              </a:ln>
              <a:solidFill>
                <a:srgbClr val="00B050">
                  <a:alpha val="70000"/>
                </a:srgbClr>
              </a:solidFill>
              <a:cs typeface="+mn-ea"/>
            </a:endParaRPr>
          </a:p>
        </p:txBody>
      </p:sp>
      <p:sp>
        <p:nvSpPr>
          <p:cNvPr id="10" name="powerpoint template design by DAJU_PPT正版来源小红书大橘PPT微信DAJU_PPT请勿抄袭搬运！盗版必究！">
            <a:extLst>
              <a:ext uri="{FF2B5EF4-FFF2-40B4-BE49-F238E27FC236}">
                <a16:creationId xmlns:a16="http://schemas.microsoft.com/office/drawing/2014/main" id="{90087E65-FC01-9251-BCA5-1FD3ACDCCFB5}"/>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dirty="0" err="1">
                <a:solidFill>
                  <a:schemeClr val="bg1">
                    <a:alpha val="70000"/>
                  </a:schemeClr>
                </a:solidFill>
                <a:cs typeface="+mn-ea"/>
              </a:rPr>
              <a:t>Makefile</a:t>
            </a:r>
            <a:r>
              <a:rPr lang="zh-CN" altLang="en-US" sz="2000" dirty="0">
                <a:solidFill>
                  <a:schemeClr val="bg1">
                    <a:alpha val="70000"/>
                  </a:schemeClr>
                </a:solidFill>
                <a:cs typeface="+mn-ea"/>
              </a:rPr>
              <a:t>调用链</a:t>
            </a:r>
            <a:endParaRPr lang="en-US" sz="2000" i="0" u="none" strike="noStrike" cap="none" spc="0" dirty="0">
              <a:ln>
                <a:noFill/>
              </a:ln>
              <a:solidFill>
                <a:schemeClr val="bg1">
                  <a:alpha val="70000"/>
                </a:schemeClr>
              </a:solidFill>
              <a:cs typeface="+mn-ea"/>
            </a:endParaRPr>
          </a:p>
        </p:txBody>
      </p:sp>
      <p:sp>
        <p:nvSpPr>
          <p:cNvPr id="11" name="powerpoint template design by DAJU_PPT正版来源小红书大橘PPT微信DAJU_PPT请勿抄袭搬运！盗版必究！">
            <a:extLst>
              <a:ext uri="{FF2B5EF4-FFF2-40B4-BE49-F238E27FC236}">
                <a16:creationId xmlns:a16="http://schemas.microsoft.com/office/drawing/2014/main" id="{6241B849-AD35-E232-9EE2-9972D971AF83}"/>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000" i="0" u="none" strike="noStrike" cap="none" spc="0" dirty="0">
                <a:ln>
                  <a:noFill/>
                </a:ln>
                <a:solidFill>
                  <a:schemeClr val="bg1">
                    <a:alpha val="70000"/>
                  </a:schemeClr>
                </a:solidFill>
                <a:cs typeface="+mn-ea"/>
              </a:rPr>
              <a:t>架构</a:t>
            </a:r>
            <a:r>
              <a:rPr lang="zh-CN" sz="2000" i="0" u="none" strike="noStrike" cap="none" spc="0" dirty="0">
                <a:ln>
                  <a:noFill/>
                </a:ln>
                <a:solidFill>
                  <a:schemeClr val="bg1">
                    <a:alpha val="70000"/>
                  </a:schemeClr>
                </a:solidFill>
                <a:cs typeface="+mn-ea"/>
              </a:rPr>
              <a:t>讲解</a:t>
            </a:r>
            <a:endParaRPr lang="en-US" sz="2000" i="0" u="none" strike="noStrike" cap="none" spc="0" dirty="0">
              <a:ln>
                <a:noFill/>
              </a:ln>
              <a:solidFill>
                <a:schemeClr val="bg1">
                  <a:alpha val="70000"/>
                </a:schemeClr>
              </a:solidFill>
              <a:cs typeface="+mn-ea"/>
            </a:endParaRPr>
          </a:p>
        </p:txBody>
      </p:sp>
      <p:cxnSp>
        <p:nvCxnSpPr>
          <p:cNvPr id="12" name="直接连接符 11">
            <a:extLst>
              <a:ext uri="{FF2B5EF4-FFF2-40B4-BE49-F238E27FC236}">
                <a16:creationId xmlns:a16="http://schemas.microsoft.com/office/drawing/2014/main" id="{52E16805-079D-10D8-855B-E1893E1BD0E7}"/>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2C08D4B-1B72-0625-8460-2CF49257A9F9}"/>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标题 2">
            <a:extLst>
              <a:ext uri="{FF2B5EF4-FFF2-40B4-BE49-F238E27FC236}">
                <a16:creationId xmlns:a16="http://schemas.microsoft.com/office/drawing/2014/main" id="{B79699C3-B188-B712-67DC-B5DDD20A5175}"/>
              </a:ext>
            </a:extLst>
          </p:cNvPr>
          <p:cNvSpPr>
            <a:spLocks noGrp="1"/>
          </p:cNvSpPr>
          <p:nvPr>
            <p:ph type="title"/>
          </p:nvPr>
        </p:nvSpPr>
        <p:spPr bwMode="auto">
          <a:xfrm>
            <a:off x="443230" y="873125"/>
            <a:ext cx="5554980" cy="403225"/>
          </a:xfrm>
        </p:spPr>
        <p:txBody>
          <a:bodyPr wrap="square"/>
          <a:lstStyle/>
          <a:p>
            <a:pPr>
              <a:defRPr/>
            </a:pPr>
            <a:r>
              <a:rPr lang="en-US" altLang="zh-CN" dirty="0"/>
              <a:t>NPC</a:t>
            </a:r>
            <a:r>
              <a:rPr lang="zh-CN" altLang="en-US" dirty="0"/>
              <a:t>结构图</a:t>
            </a:r>
            <a:endParaRPr dirty="0"/>
          </a:p>
        </p:txBody>
      </p:sp>
      <p:cxnSp>
        <p:nvCxnSpPr>
          <p:cNvPr id="15" name="powerpoint template design by DAJU_PPT正版来源小红书大橘PPT微信DAJU_PPT请勿抄袭搬运！盗版必究！">
            <a:extLst>
              <a:ext uri="{FF2B5EF4-FFF2-40B4-BE49-F238E27FC236}">
                <a16:creationId xmlns:a16="http://schemas.microsoft.com/office/drawing/2014/main" id="{37EC0B5D-F233-181E-1586-E74132CA5083}"/>
              </a:ext>
            </a:extLst>
          </p:cNvPr>
          <p:cNvCxnSpPr/>
          <p:nvPr/>
        </p:nvCxnSpPr>
        <p:spPr bwMode="auto">
          <a:xfrm>
            <a:off x="481890" y="1354204"/>
            <a:ext cx="276348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图片 16">
            <a:extLst>
              <a:ext uri="{FF2B5EF4-FFF2-40B4-BE49-F238E27FC236}">
                <a16:creationId xmlns:a16="http://schemas.microsoft.com/office/drawing/2014/main" id="{9C82EE64-E103-FC2F-47C7-2BD638D81A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1624" y="1583866"/>
            <a:ext cx="6275134" cy="4853424"/>
          </a:xfrm>
          <a:prstGeom prst="rect">
            <a:avLst/>
          </a:prstGeom>
        </p:spPr>
      </p:pic>
      <p:sp>
        <p:nvSpPr>
          <p:cNvPr id="18" name="文本框 17">
            <a:extLst>
              <a:ext uri="{FF2B5EF4-FFF2-40B4-BE49-F238E27FC236}">
                <a16:creationId xmlns:a16="http://schemas.microsoft.com/office/drawing/2014/main" id="{4723FB05-3E66-C059-BA7B-26ED0D194774}"/>
              </a:ext>
            </a:extLst>
          </p:cNvPr>
          <p:cNvSpPr txBox="1"/>
          <p:nvPr/>
        </p:nvSpPr>
        <p:spPr>
          <a:xfrm>
            <a:off x="8000151" y="2052034"/>
            <a:ext cx="3460124" cy="1704954"/>
          </a:xfrm>
          <a:prstGeom prst="rect">
            <a:avLst/>
          </a:prstGeom>
          <a:noFill/>
        </p:spPr>
        <p:txBody>
          <a:bodyPr wrap="square" rtlCol="0">
            <a:spAutoFit/>
          </a:bodyPr>
          <a:lstStyle/>
          <a:p>
            <a:pPr>
              <a:lnSpc>
                <a:spcPct val="150000"/>
              </a:lnSpc>
            </a:pPr>
            <a:r>
              <a:rPr lang="zh-CN" altLang="en-US" dirty="0"/>
              <a:t>基于该架构图的微调</a:t>
            </a:r>
            <a:endParaRPr lang="en-US" altLang="zh-CN" dirty="0"/>
          </a:p>
          <a:p>
            <a:pPr>
              <a:lnSpc>
                <a:spcPct val="150000"/>
              </a:lnSpc>
            </a:pPr>
            <a:r>
              <a:rPr lang="en-US" altLang="zh-CN" dirty="0"/>
              <a:t>1. </a:t>
            </a:r>
            <a:r>
              <a:rPr lang="zh-CN" altLang="en-US" dirty="0"/>
              <a:t>支持</a:t>
            </a:r>
            <a:r>
              <a:rPr lang="en-US" altLang="zh-CN" dirty="0"/>
              <a:t>CSR</a:t>
            </a:r>
            <a:r>
              <a:rPr lang="zh-CN" altLang="en-US" dirty="0"/>
              <a:t>寄存器堆</a:t>
            </a:r>
            <a:endParaRPr lang="en-US" altLang="zh-CN" dirty="0"/>
          </a:p>
          <a:p>
            <a:pPr>
              <a:lnSpc>
                <a:spcPct val="150000"/>
              </a:lnSpc>
            </a:pPr>
            <a:r>
              <a:rPr lang="en-US" altLang="zh-CN" dirty="0"/>
              <a:t>2. </a:t>
            </a:r>
            <a:r>
              <a:rPr lang="zh-CN" altLang="en-US" dirty="0"/>
              <a:t>更多的</a:t>
            </a:r>
            <a:r>
              <a:rPr lang="en-US" altLang="zh-CN" dirty="0"/>
              <a:t>PC</a:t>
            </a:r>
            <a:r>
              <a:rPr lang="zh-CN" altLang="en-US" dirty="0"/>
              <a:t>数据来源</a:t>
            </a:r>
            <a:endParaRPr lang="en-US" altLang="zh-CN" dirty="0"/>
          </a:p>
          <a:p>
            <a:pPr>
              <a:lnSpc>
                <a:spcPct val="150000"/>
              </a:lnSpc>
            </a:pPr>
            <a:r>
              <a:rPr lang="en-US" altLang="zh-CN" dirty="0"/>
              <a:t>3. </a:t>
            </a:r>
            <a:r>
              <a:rPr lang="zh-CN" altLang="en-US" dirty="0"/>
              <a:t>跳转地址的计算复用了</a:t>
            </a:r>
            <a:r>
              <a:rPr lang="en-US" altLang="zh-CN" dirty="0"/>
              <a:t>ALU</a:t>
            </a:r>
          </a:p>
        </p:txBody>
      </p:sp>
      <p:sp>
        <p:nvSpPr>
          <p:cNvPr id="19" name="文本框 18">
            <a:extLst>
              <a:ext uri="{FF2B5EF4-FFF2-40B4-BE49-F238E27FC236}">
                <a16:creationId xmlns:a16="http://schemas.microsoft.com/office/drawing/2014/main" id="{55ADF8AF-FBEF-2327-C351-470D7A025610}"/>
              </a:ext>
            </a:extLst>
          </p:cNvPr>
          <p:cNvSpPr txBox="1"/>
          <p:nvPr/>
        </p:nvSpPr>
        <p:spPr>
          <a:xfrm>
            <a:off x="7955593" y="4153219"/>
            <a:ext cx="3460124" cy="1615827"/>
          </a:xfrm>
          <a:prstGeom prst="rect">
            <a:avLst/>
          </a:prstGeom>
          <a:noFill/>
        </p:spPr>
        <p:txBody>
          <a:bodyPr wrap="square" rtlCol="0">
            <a:spAutoFit/>
          </a:bodyPr>
          <a:lstStyle/>
          <a:p>
            <a:pPr>
              <a:lnSpc>
                <a:spcPct val="150000"/>
              </a:lnSpc>
            </a:pPr>
            <a:r>
              <a:rPr lang="zh-CN" altLang="en-US" dirty="0"/>
              <a:t>架构解决两个关键问题：</a:t>
            </a:r>
            <a:endParaRPr lang="en-US" altLang="zh-CN" dirty="0"/>
          </a:p>
          <a:p>
            <a:pPr>
              <a:lnSpc>
                <a:spcPct val="150000"/>
              </a:lnSpc>
            </a:pPr>
            <a:r>
              <a:rPr lang="en-US" altLang="zh-CN" dirty="0"/>
              <a:t>1. </a:t>
            </a:r>
            <a:r>
              <a:rPr lang="zh-CN" altLang="en-US" dirty="0"/>
              <a:t>数据流向</a:t>
            </a:r>
            <a:r>
              <a:rPr lang="en-US" altLang="zh-CN" dirty="0"/>
              <a:t>(</a:t>
            </a:r>
            <a:r>
              <a:rPr lang="zh-CN" altLang="en-US" dirty="0"/>
              <a:t>结构</a:t>
            </a:r>
            <a:r>
              <a:rPr lang="en-US" altLang="zh-CN" dirty="0"/>
              <a:t>)</a:t>
            </a:r>
          </a:p>
          <a:p>
            <a:pPr>
              <a:lnSpc>
                <a:spcPct val="150000"/>
              </a:lnSpc>
            </a:pPr>
            <a:r>
              <a:rPr lang="en-US" altLang="zh-CN" dirty="0"/>
              <a:t>2. </a:t>
            </a:r>
            <a:r>
              <a:rPr lang="zh-CN" altLang="en-US" dirty="0"/>
              <a:t>控制效果</a:t>
            </a:r>
            <a:r>
              <a:rPr lang="en-US" altLang="zh-CN" dirty="0"/>
              <a:t>(</a:t>
            </a:r>
            <a:r>
              <a:rPr lang="zh-CN" altLang="en-US" dirty="0"/>
              <a:t>策略</a:t>
            </a:r>
            <a:r>
              <a:rPr lang="en-US" altLang="zh-CN" dirty="0"/>
              <a:t>)</a:t>
            </a:r>
          </a:p>
          <a:p>
            <a:endParaRPr lang="en-US" altLang="zh-CN" dirty="0"/>
          </a:p>
        </p:txBody>
      </p:sp>
    </p:spTree>
    <p:extLst>
      <p:ext uri="{BB962C8B-B14F-4D97-AF65-F5344CB8AC3E}">
        <p14:creationId xmlns:p14="http://schemas.microsoft.com/office/powerpoint/2010/main" val="42716633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5EBDEBE-E52A-8EB6-26EB-3238DC4481D3}"/>
            </a:ext>
          </a:extLst>
        </p:cNvPr>
        <p:cNvGrpSpPr/>
        <p:nvPr/>
      </p:nvGrpSpPr>
      <p:grpSpPr bwMode="auto">
        <a:xfrm>
          <a:off x="0" y="0"/>
          <a:ext cx="0" cy="0"/>
          <a:chOff x="0" y="0"/>
          <a:chExt cx="0" cy="0"/>
        </a:xfrm>
      </p:grpSpPr>
      <p:sp>
        <p:nvSpPr>
          <p:cNvPr id="2" name="powerpoint template design by DAJU_PPT正版来源小红书大橘PPT微信DAJU_PPT请勿抄袭搬运！盗版必究！">
            <a:extLst>
              <a:ext uri="{FF2B5EF4-FFF2-40B4-BE49-F238E27FC236}">
                <a16:creationId xmlns:a16="http://schemas.microsoft.com/office/drawing/2014/main" id="{A35BA6EF-2BDE-2E9C-6BC4-172A40AEE19D}"/>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3" name="powerpoint template design by DAJU_PPT正版来源小红书大橘PPT微信DAJU_PPT请勿抄袭搬运！盗版必究！">
            <a:extLst>
              <a:ext uri="{FF2B5EF4-FFF2-40B4-BE49-F238E27FC236}">
                <a16:creationId xmlns:a16="http://schemas.microsoft.com/office/drawing/2014/main" id="{BFB38824-4190-2A1F-5C74-D6C95A2AD729}"/>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4" name="powerpoint template design by DAJU_PPT正版来源小红书大橘PPT微信DAJU_PPT请勿抄袭搬运！盗版必究！">
            <a:extLst>
              <a:ext uri="{FF2B5EF4-FFF2-40B4-BE49-F238E27FC236}">
                <a16:creationId xmlns:a16="http://schemas.microsoft.com/office/drawing/2014/main" id="{5FA74423-BA7D-649E-486F-3A8CFAFD5F06}"/>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400" b="1" i="0" u="none" strike="noStrike" cap="none" spc="0" dirty="0">
                <a:ln>
                  <a:noFill/>
                </a:ln>
                <a:solidFill>
                  <a:srgbClr val="00B050">
                    <a:alpha val="70000"/>
                  </a:srgbClr>
                </a:solidFill>
                <a:cs typeface="+mn-ea"/>
              </a:rPr>
              <a:t>考核题目讲解</a:t>
            </a:r>
            <a:endParaRPr lang="en-US" sz="2400" b="1" i="0" u="none" strike="noStrike" cap="none" spc="0" dirty="0">
              <a:ln>
                <a:noFill/>
              </a:ln>
              <a:solidFill>
                <a:srgbClr val="00B050">
                  <a:alpha val="70000"/>
                </a:srgbClr>
              </a:solidFill>
              <a:cs typeface="+mn-ea"/>
            </a:endParaRPr>
          </a:p>
        </p:txBody>
      </p:sp>
      <p:cxnSp>
        <p:nvCxnSpPr>
          <p:cNvPr id="5" name="powerpoint template design by DAJU_PPT正版来源小红书大橘PPT微信DAJU_PPT请勿抄袭搬运！盗版必究！">
            <a:extLst>
              <a:ext uri="{FF2B5EF4-FFF2-40B4-BE49-F238E27FC236}">
                <a16:creationId xmlns:a16="http://schemas.microsoft.com/office/drawing/2014/main" id="{0E29821C-167D-9D81-4A4E-8E393D4DA3CA}"/>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powerpoint template design by DAJU_PPT正版来源小红书大橘PPT微信DAJU_PPT请勿抄袭搬运！盗版必究！">
            <a:extLst>
              <a:ext uri="{FF2B5EF4-FFF2-40B4-BE49-F238E27FC236}">
                <a16:creationId xmlns:a16="http://schemas.microsoft.com/office/drawing/2014/main" id="{BED0B0E9-FBDC-E718-8247-8804A962E270}"/>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powerpoint template design by DAJU_PPT正版来源小红书大橘PPT微信DAJU_PPT请勿抄袭搬运！盗版必究！">
            <a:extLst>
              <a:ext uri="{FF2B5EF4-FFF2-40B4-BE49-F238E27FC236}">
                <a16:creationId xmlns:a16="http://schemas.microsoft.com/office/drawing/2014/main" id="{B30802C1-DA5E-6741-CCCA-DE6AFEFD6BEA}"/>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8" name="图片 3">
            <a:extLst>
              <a:ext uri="{FF2B5EF4-FFF2-40B4-BE49-F238E27FC236}">
                <a16:creationId xmlns:a16="http://schemas.microsoft.com/office/drawing/2014/main" id="{12976FFA-E243-7064-26F8-033D27EFCFD0}"/>
              </a:ext>
            </a:extLst>
          </p:cNvPr>
          <p:cNvPicPr>
            <a:picLocks noChangeAspect="1"/>
          </p:cNvPicPr>
          <p:nvPr/>
        </p:nvPicPr>
        <p:blipFill rotWithShape="1">
          <a:blip r:embed="rId3"/>
          <a:stretch/>
        </p:blipFill>
        <p:spPr bwMode="auto">
          <a:xfrm>
            <a:off x="0" y="0"/>
            <a:ext cx="778510" cy="720090"/>
          </a:xfrm>
          <a:prstGeom prst="rect">
            <a:avLst/>
          </a:prstGeom>
        </p:spPr>
      </p:pic>
      <p:sp>
        <p:nvSpPr>
          <p:cNvPr id="9" name="powerpoint template design by DAJU_PPT正版来源小红书大橘PPT微信DAJU_PPT请勿抄袭搬运！盗版必究！">
            <a:extLst>
              <a:ext uri="{FF2B5EF4-FFF2-40B4-BE49-F238E27FC236}">
                <a16:creationId xmlns:a16="http://schemas.microsoft.com/office/drawing/2014/main" id="{6020947F-569D-90A7-D97E-DE95149D2DBD}"/>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10" name="powerpoint template design by DAJU_PPT正版来源小红书大橘PPT微信DAJU_PPT请勿抄袭搬运！盗版必究！">
            <a:extLst>
              <a:ext uri="{FF2B5EF4-FFF2-40B4-BE49-F238E27FC236}">
                <a16:creationId xmlns:a16="http://schemas.microsoft.com/office/drawing/2014/main" id="{1561B430-B253-25B9-B3A6-6451EDF103A0}"/>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dirty="0" err="1">
                <a:solidFill>
                  <a:schemeClr val="bg1">
                    <a:alpha val="70000"/>
                  </a:schemeClr>
                </a:solidFill>
                <a:cs typeface="+mn-ea"/>
              </a:rPr>
              <a:t>Makefile</a:t>
            </a:r>
            <a:r>
              <a:rPr lang="zh-CN" altLang="en-US" sz="2000" dirty="0">
                <a:solidFill>
                  <a:schemeClr val="bg1">
                    <a:alpha val="70000"/>
                  </a:schemeClr>
                </a:solidFill>
                <a:cs typeface="+mn-ea"/>
              </a:rPr>
              <a:t>调用链</a:t>
            </a:r>
            <a:endParaRPr lang="en-US" sz="2000" i="0" u="none" strike="noStrike" cap="none" spc="0" dirty="0">
              <a:ln>
                <a:noFill/>
              </a:ln>
              <a:solidFill>
                <a:schemeClr val="bg1">
                  <a:alpha val="70000"/>
                </a:schemeClr>
              </a:solidFill>
              <a:cs typeface="+mn-ea"/>
            </a:endParaRPr>
          </a:p>
        </p:txBody>
      </p:sp>
      <p:sp>
        <p:nvSpPr>
          <p:cNvPr id="11" name="powerpoint template design by DAJU_PPT正版来源小红书大橘PPT微信DAJU_PPT请勿抄袭搬运！盗版必究！">
            <a:extLst>
              <a:ext uri="{FF2B5EF4-FFF2-40B4-BE49-F238E27FC236}">
                <a16:creationId xmlns:a16="http://schemas.microsoft.com/office/drawing/2014/main" id="{FEA44028-2D95-56F3-ED23-D4486200090D}"/>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000" i="0" u="none" strike="noStrike" cap="none" spc="0" dirty="0">
                <a:ln>
                  <a:noFill/>
                </a:ln>
                <a:solidFill>
                  <a:schemeClr val="bg1">
                    <a:alpha val="70000"/>
                  </a:schemeClr>
                </a:solidFill>
                <a:cs typeface="+mn-ea"/>
              </a:rPr>
              <a:t>架构</a:t>
            </a:r>
            <a:r>
              <a:rPr lang="zh-CN" sz="2000" i="0" u="none" strike="noStrike" cap="none" spc="0" dirty="0">
                <a:ln>
                  <a:noFill/>
                </a:ln>
                <a:solidFill>
                  <a:schemeClr val="bg1">
                    <a:alpha val="70000"/>
                  </a:schemeClr>
                </a:solidFill>
                <a:cs typeface="+mn-ea"/>
              </a:rPr>
              <a:t>讲解</a:t>
            </a:r>
            <a:endParaRPr lang="en-US" sz="2000" i="0" u="none" strike="noStrike" cap="none" spc="0" dirty="0">
              <a:ln>
                <a:noFill/>
              </a:ln>
              <a:solidFill>
                <a:schemeClr val="bg1">
                  <a:alpha val="70000"/>
                </a:schemeClr>
              </a:solidFill>
              <a:cs typeface="+mn-ea"/>
            </a:endParaRPr>
          </a:p>
        </p:txBody>
      </p:sp>
      <p:cxnSp>
        <p:nvCxnSpPr>
          <p:cNvPr id="12" name="直接连接符 11">
            <a:extLst>
              <a:ext uri="{FF2B5EF4-FFF2-40B4-BE49-F238E27FC236}">
                <a16:creationId xmlns:a16="http://schemas.microsoft.com/office/drawing/2014/main" id="{431F59F1-4ACD-9660-B00F-3594A16C76B9}"/>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C6486376-2ECC-2D9C-9C11-90E01E28A437}"/>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标题 2">
            <a:extLst>
              <a:ext uri="{FF2B5EF4-FFF2-40B4-BE49-F238E27FC236}">
                <a16:creationId xmlns:a16="http://schemas.microsoft.com/office/drawing/2014/main" id="{833B2DFB-709E-F780-CD1C-8DFB3DBDFF61}"/>
              </a:ext>
            </a:extLst>
          </p:cNvPr>
          <p:cNvSpPr>
            <a:spLocks noGrp="1"/>
          </p:cNvSpPr>
          <p:nvPr>
            <p:ph type="title"/>
          </p:nvPr>
        </p:nvSpPr>
        <p:spPr bwMode="auto">
          <a:xfrm>
            <a:off x="443230" y="873125"/>
            <a:ext cx="4901169" cy="403225"/>
          </a:xfrm>
        </p:spPr>
        <p:txBody>
          <a:bodyPr wrap="square"/>
          <a:lstStyle/>
          <a:p>
            <a:pPr>
              <a:defRPr/>
            </a:pPr>
            <a:r>
              <a:rPr lang="zh-CN" altLang="en-US" dirty="0"/>
              <a:t>打字游戏软硬件协同工作流程</a:t>
            </a:r>
            <a:endParaRPr dirty="0"/>
          </a:p>
        </p:txBody>
      </p:sp>
      <p:cxnSp>
        <p:nvCxnSpPr>
          <p:cNvPr id="15" name="powerpoint template design by DAJU_PPT正版来源小红书大橘PPT微信DAJU_PPT请勿抄袭搬运！盗版必究！">
            <a:extLst>
              <a:ext uri="{FF2B5EF4-FFF2-40B4-BE49-F238E27FC236}">
                <a16:creationId xmlns:a16="http://schemas.microsoft.com/office/drawing/2014/main" id="{31704565-28C3-79E8-FBC8-3534CC8AA8BB}"/>
              </a:ext>
            </a:extLst>
          </p:cNvPr>
          <p:cNvCxnSpPr/>
          <p:nvPr/>
        </p:nvCxnSpPr>
        <p:spPr bwMode="auto">
          <a:xfrm>
            <a:off x="481890" y="1354204"/>
            <a:ext cx="276348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4" name="组合 23">
            <a:extLst>
              <a:ext uri="{FF2B5EF4-FFF2-40B4-BE49-F238E27FC236}">
                <a16:creationId xmlns:a16="http://schemas.microsoft.com/office/drawing/2014/main" id="{8DC1E509-EE0F-B740-91EA-0CC78CF557A0}"/>
              </a:ext>
            </a:extLst>
          </p:cNvPr>
          <p:cNvGrpSpPr/>
          <p:nvPr/>
        </p:nvGrpSpPr>
        <p:grpSpPr>
          <a:xfrm>
            <a:off x="1378358" y="1641208"/>
            <a:ext cx="10036575" cy="1787772"/>
            <a:chOff x="1378358" y="1641208"/>
            <a:chExt cx="9932275" cy="2219062"/>
          </a:xfrm>
        </p:grpSpPr>
        <p:sp>
          <p:nvSpPr>
            <p:cNvPr id="25" name="任意多边形: 形状 24">
              <a:extLst>
                <a:ext uri="{FF2B5EF4-FFF2-40B4-BE49-F238E27FC236}">
                  <a16:creationId xmlns:a16="http://schemas.microsoft.com/office/drawing/2014/main" id="{28E3949F-57E3-59DD-EE47-7B6DF327533F}"/>
                </a:ext>
              </a:extLst>
            </p:cNvPr>
            <p:cNvSpPr/>
            <p:nvPr/>
          </p:nvSpPr>
          <p:spPr>
            <a:xfrm>
              <a:off x="1378358" y="1641208"/>
              <a:ext cx="1939897" cy="2219062"/>
            </a:xfrm>
            <a:custGeom>
              <a:avLst/>
              <a:gdLst>
                <a:gd name="connsiteX0" fmla="*/ 0 w 1939897"/>
                <a:gd name="connsiteY0" fmla="*/ 193990 h 2219062"/>
                <a:gd name="connsiteX1" fmla="*/ 193990 w 1939897"/>
                <a:gd name="connsiteY1" fmla="*/ 0 h 2219062"/>
                <a:gd name="connsiteX2" fmla="*/ 1745907 w 1939897"/>
                <a:gd name="connsiteY2" fmla="*/ 0 h 2219062"/>
                <a:gd name="connsiteX3" fmla="*/ 1939897 w 1939897"/>
                <a:gd name="connsiteY3" fmla="*/ 193990 h 2219062"/>
                <a:gd name="connsiteX4" fmla="*/ 1939897 w 1939897"/>
                <a:gd name="connsiteY4" fmla="*/ 2025072 h 2219062"/>
                <a:gd name="connsiteX5" fmla="*/ 1745907 w 1939897"/>
                <a:gd name="connsiteY5" fmla="*/ 2219062 h 2219062"/>
                <a:gd name="connsiteX6" fmla="*/ 193990 w 1939897"/>
                <a:gd name="connsiteY6" fmla="*/ 2219062 h 2219062"/>
                <a:gd name="connsiteX7" fmla="*/ 0 w 1939897"/>
                <a:gd name="connsiteY7" fmla="*/ 2025072 h 2219062"/>
                <a:gd name="connsiteX8" fmla="*/ 0 w 1939897"/>
                <a:gd name="connsiteY8" fmla="*/ 193990 h 221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897" h="2219062">
                  <a:moveTo>
                    <a:pt x="0" y="193990"/>
                  </a:moveTo>
                  <a:cubicBezTo>
                    <a:pt x="0" y="86852"/>
                    <a:pt x="86852" y="0"/>
                    <a:pt x="193990" y="0"/>
                  </a:cubicBezTo>
                  <a:lnTo>
                    <a:pt x="1745907" y="0"/>
                  </a:lnTo>
                  <a:cubicBezTo>
                    <a:pt x="1853045" y="0"/>
                    <a:pt x="1939897" y="86852"/>
                    <a:pt x="1939897" y="193990"/>
                  </a:cubicBezTo>
                  <a:lnTo>
                    <a:pt x="1939897" y="2025072"/>
                  </a:lnTo>
                  <a:cubicBezTo>
                    <a:pt x="1939897" y="2132210"/>
                    <a:pt x="1853045" y="2219062"/>
                    <a:pt x="1745907" y="2219062"/>
                  </a:cubicBezTo>
                  <a:lnTo>
                    <a:pt x="193990" y="2219062"/>
                  </a:lnTo>
                  <a:cubicBezTo>
                    <a:pt x="86852" y="2219062"/>
                    <a:pt x="0" y="2132210"/>
                    <a:pt x="0" y="2025072"/>
                  </a:cubicBezTo>
                  <a:lnTo>
                    <a:pt x="0" y="19399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6896" tIns="944520" rIns="56896" bIns="500710" numCol="1" spcCol="1270" anchor="ctr" anchorCtr="0">
              <a:noAutofit/>
            </a:bodyPr>
            <a:lstStyle/>
            <a:p>
              <a:pPr marL="0" lvl="0" indent="0" algn="ctr" defTabSz="355600">
                <a:lnSpc>
                  <a:spcPct val="90000"/>
                </a:lnSpc>
                <a:spcBef>
                  <a:spcPct val="0"/>
                </a:spcBef>
                <a:spcAft>
                  <a:spcPct val="35000"/>
                </a:spcAft>
                <a:buNone/>
              </a:pPr>
              <a:r>
                <a:rPr lang="zh-CN" sz="1000" kern="1200" dirty="0"/>
                <a:t>键盘产生扫描码，通过 </a:t>
              </a:r>
              <a:r>
                <a:rPr lang="en-US" sz="1000" kern="1200" dirty="0"/>
                <a:t>USB/PS2 </a:t>
              </a:r>
              <a:r>
                <a:rPr lang="zh-CN" sz="1000" kern="1200" dirty="0"/>
                <a:t>总线触发宿主机硬件中断</a:t>
              </a:r>
            </a:p>
          </p:txBody>
        </p:sp>
        <p:sp>
          <p:nvSpPr>
            <p:cNvPr id="26" name="椭圆 25">
              <a:extLst>
                <a:ext uri="{FF2B5EF4-FFF2-40B4-BE49-F238E27FC236}">
                  <a16:creationId xmlns:a16="http://schemas.microsoft.com/office/drawing/2014/main" id="{78EE562B-8405-A523-003E-84C81492CE17}"/>
                </a:ext>
              </a:extLst>
            </p:cNvPr>
            <p:cNvSpPr/>
            <p:nvPr/>
          </p:nvSpPr>
          <p:spPr>
            <a:xfrm>
              <a:off x="1548472" y="1743502"/>
              <a:ext cx="1552032" cy="587507"/>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algn="ctr"/>
              <a:r>
                <a:rPr lang="zh-CN" altLang="en-US" sz="1600" dirty="0">
                  <a:solidFill>
                    <a:schemeClr val="tx1"/>
                  </a:solidFill>
                </a:rPr>
                <a:t>硬件层</a:t>
              </a:r>
            </a:p>
          </p:txBody>
        </p:sp>
        <p:sp>
          <p:nvSpPr>
            <p:cNvPr id="27" name="任意多边形: 形状 26">
              <a:extLst>
                <a:ext uri="{FF2B5EF4-FFF2-40B4-BE49-F238E27FC236}">
                  <a16:creationId xmlns:a16="http://schemas.microsoft.com/office/drawing/2014/main" id="{B99637DE-3E37-41F4-DE8C-389657B3408E}"/>
                </a:ext>
              </a:extLst>
            </p:cNvPr>
            <p:cNvSpPr/>
            <p:nvPr/>
          </p:nvSpPr>
          <p:spPr>
            <a:xfrm>
              <a:off x="3376452" y="1641208"/>
              <a:ext cx="1939897" cy="2219062"/>
            </a:xfrm>
            <a:custGeom>
              <a:avLst/>
              <a:gdLst>
                <a:gd name="connsiteX0" fmla="*/ 0 w 1939897"/>
                <a:gd name="connsiteY0" fmla="*/ 193990 h 2219062"/>
                <a:gd name="connsiteX1" fmla="*/ 193990 w 1939897"/>
                <a:gd name="connsiteY1" fmla="*/ 0 h 2219062"/>
                <a:gd name="connsiteX2" fmla="*/ 1745907 w 1939897"/>
                <a:gd name="connsiteY2" fmla="*/ 0 h 2219062"/>
                <a:gd name="connsiteX3" fmla="*/ 1939897 w 1939897"/>
                <a:gd name="connsiteY3" fmla="*/ 193990 h 2219062"/>
                <a:gd name="connsiteX4" fmla="*/ 1939897 w 1939897"/>
                <a:gd name="connsiteY4" fmla="*/ 2025072 h 2219062"/>
                <a:gd name="connsiteX5" fmla="*/ 1745907 w 1939897"/>
                <a:gd name="connsiteY5" fmla="*/ 2219062 h 2219062"/>
                <a:gd name="connsiteX6" fmla="*/ 193990 w 1939897"/>
                <a:gd name="connsiteY6" fmla="*/ 2219062 h 2219062"/>
                <a:gd name="connsiteX7" fmla="*/ 0 w 1939897"/>
                <a:gd name="connsiteY7" fmla="*/ 2025072 h 2219062"/>
                <a:gd name="connsiteX8" fmla="*/ 0 w 1939897"/>
                <a:gd name="connsiteY8" fmla="*/ 193990 h 221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897" h="2219062">
                  <a:moveTo>
                    <a:pt x="0" y="193990"/>
                  </a:moveTo>
                  <a:cubicBezTo>
                    <a:pt x="0" y="86852"/>
                    <a:pt x="86852" y="0"/>
                    <a:pt x="193990" y="0"/>
                  </a:cubicBezTo>
                  <a:lnTo>
                    <a:pt x="1745907" y="0"/>
                  </a:lnTo>
                  <a:cubicBezTo>
                    <a:pt x="1853045" y="0"/>
                    <a:pt x="1939897" y="86852"/>
                    <a:pt x="1939897" y="193990"/>
                  </a:cubicBezTo>
                  <a:lnTo>
                    <a:pt x="1939897" y="2025072"/>
                  </a:lnTo>
                  <a:cubicBezTo>
                    <a:pt x="1939897" y="2132210"/>
                    <a:pt x="1853045" y="2219062"/>
                    <a:pt x="1745907" y="2219062"/>
                  </a:cubicBezTo>
                  <a:lnTo>
                    <a:pt x="193990" y="2219062"/>
                  </a:lnTo>
                  <a:cubicBezTo>
                    <a:pt x="86852" y="2219062"/>
                    <a:pt x="0" y="2132210"/>
                    <a:pt x="0" y="2025072"/>
                  </a:cubicBezTo>
                  <a:lnTo>
                    <a:pt x="0" y="19399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6896" tIns="944520" rIns="56896" bIns="500710" numCol="1" spcCol="1270" anchor="ctr" anchorCtr="0">
              <a:noAutofit/>
            </a:bodyPr>
            <a:lstStyle/>
            <a:p>
              <a:pPr marL="0" lvl="0" indent="0" algn="ctr" defTabSz="355600">
                <a:lnSpc>
                  <a:spcPct val="90000"/>
                </a:lnSpc>
                <a:spcBef>
                  <a:spcPct val="0"/>
                </a:spcBef>
                <a:spcAft>
                  <a:spcPct val="35000"/>
                </a:spcAft>
                <a:buNone/>
              </a:pPr>
              <a:r>
                <a:rPr lang="zh-CN" sz="1000" kern="1200" dirty="0"/>
                <a:t>中断处理程序调用键盘驱动，将扫描码转换为按键事件</a:t>
              </a:r>
              <a:r>
                <a:rPr lang="en-US" sz="1000" kern="1200" dirty="0"/>
                <a:t>,</a:t>
              </a:r>
              <a:r>
                <a:rPr lang="zh-CN" sz="1000" kern="1200" dirty="0"/>
                <a:t> 放入 </a:t>
              </a:r>
              <a:r>
                <a:rPr lang="en-US" sz="1000" kern="1200" dirty="0"/>
                <a:t>OS </a:t>
              </a:r>
              <a:r>
                <a:rPr lang="zh-CN" sz="1000" kern="1200" dirty="0"/>
                <a:t>事件队列</a:t>
              </a:r>
            </a:p>
          </p:txBody>
        </p:sp>
        <p:sp>
          <p:nvSpPr>
            <p:cNvPr id="29" name="任意多边形: 形状 28">
              <a:extLst>
                <a:ext uri="{FF2B5EF4-FFF2-40B4-BE49-F238E27FC236}">
                  <a16:creationId xmlns:a16="http://schemas.microsoft.com/office/drawing/2014/main" id="{BDE64665-5C2A-EFAC-EDCC-EB958D682537}"/>
                </a:ext>
              </a:extLst>
            </p:cNvPr>
            <p:cNvSpPr/>
            <p:nvPr/>
          </p:nvSpPr>
          <p:spPr>
            <a:xfrm>
              <a:off x="5374547" y="1641208"/>
              <a:ext cx="1939897" cy="2219062"/>
            </a:xfrm>
            <a:custGeom>
              <a:avLst/>
              <a:gdLst>
                <a:gd name="connsiteX0" fmla="*/ 0 w 1939897"/>
                <a:gd name="connsiteY0" fmla="*/ 193990 h 2219062"/>
                <a:gd name="connsiteX1" fmla="*/ 193990 w 1939897"/>
                <a:gd name="connsiteY1" fmla="*/ 0 h 2219062"/>
                <a:gd name="connsiteX2" fmla="*/ 1745907 w 1939897"/>
                <a:gd name="connsiteY2" fmla="*/ 0 h 2219062"/>
                <a:gd name="connsiteX3" fmla="*/ 1939897 w 1939897"/>
                <a:gd name="connsiteY3" fmla="*/ 193990 h 2219062"/>
                <a:gd name="connsiteX4" fmla="*/ 1939897 w 1939897"/>
                <a:gd name="connsiteY4" fmla="*/ 2025072 h 2219062"/>
                <a:gd name="connsiteX5" fmla="*/ 1745907 w 1939897"/>
                <a:gd name="connsiteY5" fmla="*/ 2219062 h 2219062"/>
                <a:gd name="connsiteX6" fmla="*/ 193990 w 1939897"/>
                <a:gd name="connsiteY6" fmla="*/ 2219062 h 2219062"/>
                <a:gd name="connsiteX7" fmla="*/ 0 w 1939897"/>
                <a:gd name="connsiteY7" fmla="*/ 2025072 h 2219062"/>
                <a:gd name="connsiteX8" fmla="*/ 0 w 1939897"/>
                <a:gd name="connsiteY8" fmla="*/ 193990 h 221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897" h="2219062">
                  <a:moveTo>
                    <a:pt x="0" y="193990"/>
                  </a:moveTo>
                  <a:cubicBezTo>
                    <a:pt x="0" y="86852"/>
                    <a:pt x="86852" y="0"/>
                    <a:pt x="193990" y="0"/>
                  </a:cubicBezTo>
                  <a:lnTo>
                    <a:pt x="1745907" y="0"/>
                  </a:lnTo>
                  <a:cubicBezTo>
                    <a:pt x="1853045" y="0"/>
                    <a:pt x="1939897" y="86852"/>
                    <a:pt x="1939897" y="193990"/>
                  </a:cubicBezTo>
                  <a:lnTo>
                    <a:pt x="1939897" y="2025072"/>
                  </a:lnTo>
                  <a:cubicBezTo>
                    <a:pt x="1939897" y="2132210"/>
                    <a:pt x="1853045" y="2219062"/>
                    <a:pt x="1745907" y="2219062"/>
                  </a:cubicBezTo>
                  <a:lnTo>
                    <a:pt x="193990" y="2219062"/>
                  </a:lnTo>
                  <a:cubicBezTo>
                    <a:pt x="86852" y="2219062"/>
                    <a:pt x="0" y="2132210"/>
                    <a:pt x="0" y="2025072"/>
                  </a:cubicBezTo>
                  <a:lnTo>
                    <a:pt x="0" y="19399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6896" tIns="944520" rIns="56896" bIns="500710" numCol="1" spcCol="1270" anchor="ctr" anchorCtr="0">
              <a:noAutofit/>
            </a:bodyPr>
            <a:lstStyle/>
            <a:p>
              <a:pPr marL="0" lvl="0" indent="0" algn="ctr" defTabSz="355600">
                <a:lnSpc>
                  <a:spcPct val="90000"/>
                </a:lnSpc>
                <a:spcBef>
                  <a:spcPct val="0"/>
                </a:spcBef>
                <a:spcAft>
                  <a:spcPct val="35000"/>
                </a:spcAft>
                <a:buNone/>
              </a:pPr>
              <a:r>
                <a:rPr lang="en-US" sz="1000" kern="1200" dirty="0"/>
                <a:t>NEMU </a:t>
              </a:r>
              <a:r>
                <a:rPr lang="zh-CN" sz="1000" kern="1200" dirty="0"/>
                <a:t>主循环调用 </a:t>
              </a:r>
              <a:r>
                <a:rPr lang="en-US" sz="1000" kern="1200" dirty="0" err="1"/>
                <a:t>SDL_PollEvent</a:t>
              </a:r>
              <a:r>
                <a:rPr lang="en-US" sz="1000" kern="1200" dirty="0"/>
                <a:t>()</a:t>
              </a:r>
              <a:r>
                <a:rPr lang="zh-CN" sz="1000" kern="1200" dirty="0"/>
                <a:t>，从 </a:t>
              </a:r>
              <a:r>
                <a:rPr lang="en-US" sz="1000" kern="1200" dirty="0"/>
                <a:t>OS </a:t>
              </a:r>
              <a:r>
                <a:rPr lang="zh-CN" sz="1000" kern="1200" dirty="0"/>
                <a:t>事件队列取出按键事件</a:t>
              </a:r>
              <a:r>
                <a:rPr lang="zh-CN" altLang="en-US" sz="1000" kern="1200" dirty="0"/>
                <a:t>，</a:t>
              </a:r>
              <a:r>
                <a:rPr lang="zh-CN" sz="1000" kern="1200" dirty="0"/>
                <a:t>写入 </a:t>
              </a:r>
              <a:r>
                <a:rPr lang="en-US" sz="1000" kern="1200" dirty="0"/>
                <a:t>NEMU </a:t>
              </a:r>
              <a:r>
                <a:rPr lang="zh-CN" sz="1000" kern="1200" dirty="0"/>
                <a:t>模拟的键盘寄存器</a:t>
              </a:r>
            </a:p>
          </p:txBody>
        </p:sp>
        <p:sp>
          <p:nvSpPr>
            <p:cNvPr id="31" name="任意多边形: 形状 30">
              <a:extLst>
                <a:ext uri="{FF2B5EF4-FFF2-40B4-BE49-F238E27FC236}">
                  <a16:creationId xmlns:a16="http://schemas.microsoft.com/office/drawing/2014/main" id="{A86A561B-6252-66C9-C569-D9D47614783F}"/>
                </a:ext>
              </a:extLst>
            </p:cNvPr>
            <p:cNvSpPr/>
            <p:nvPr/>
          </p:nvSpPr>
          <p:spPr>
            <a:xfrm>
              <a:off x="7372641" y="1641208"/>
              <a:ext cx="1939897" cy="2219062"/>
            </a:xfrm>
            <a:custGeom>
              <a:avLst/>
              <a:gdLst>
                <a:gd name="connsiteX0" fmla="*/ 0 w 1939897"/>
                <a:gd name="connsiteY0" fmla="*/ 193990 h 2219062"/>
                <a:gd name="connsiteX1" fmla="*/ 193990 w 1939897"/>
                <a:gd name="connsiteY1" fmla="*/ 0 h 2219062"/>
                <a:gd name="connsiteX2" fmla="*/ 1745907 w 1939897"/>
                <a:gd name="connsiteY2" fmla="*/ 0 h 2219062"/>
                <a:gd name="connsiteX3" fmla="*/ 1939897 w 1939897"/>
                <a:gd name="connsiteY3" fmla="*/ 193990 h 2219062"/>
                <a:gd name="connsiteX4" fmla="*/ 1939897 w 1939897"/>
                <a:gd name="connsiteY4" fmla="*/ 2025072 h 2219062"/>
                <a:gd name="connsiteX5" fmla="*/ 1745907 w 1939897"/>
                <a:gd name="connsiteY5" fmla="*/ 2219062 h 2219062"/>
                <a:gd name="connsiteX6" fmla="*/ 193990 w 1939897"/>
                <a:gd name="connsiteY6" fmla="*/ 2219062 h 2219062"/>
                <a:gd name="connsiteX7" fmla="*/ 0 w 1939897"/>
                <a:gd name="connsiteY7" fmla="*/ 2025072 h 2219062"/>
                <a:gd name="connsiteX8" fmla="*/ 0 w 1939897"/>
                <a:gd name="connsiteY8" fmla="*/ 193990 h 221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897" h="2219062">
                  <a:moveTo>
                    <a:pt x="0" y="193990"/>
                  </a:moveTo>
                  <a:cubicBezTo>
                    <a:pt x="0" y="86852"/>
                    <a:pt x="86852" y="0"/>
                    <a:pt x="193990" y="0"/>
                  </a:cubicBezTo>
                  <a:lnTo>
                    <a:pt x="1745907" y="0"/>
                  </a:lnTo>
                  <a:cubicBezTo>
                    <a:pt x="1853045" y="0"/>
                    <a:pt x="1939897" y="86852"/>
                    <a:pt x="1939897" y="193990"/>
                  </a:cubicBezTo>
                  <a:lnTo>
                    <a:pt x="1939897" y="2025072"/>
                  </a:lnTo>
                  <a:cubicBezTo>
                    <a:pt x="1939897" y="2132210"/>
                    <a:pt x="1853045" y="2219062"/>
                    <a:pt x="1745907" y="2219062"/>
                  </a:cubicBezTo>
                  <a:lnTo>
                    <a:pt x="193990" y="2219062"/>
                  </a:lnTo>
                  <a:cubicBezTo>
                    <a:pt x="86852" y="2219062"/>
                    <a:pt x="0" y="2132210"/>
                    <a:pt x="0" y="2025072"/>
                  </a:cubicBezTo>
                  <a:lnTo>
                    <a:pt x="0" y="19399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6896" tIns="944520" rIns="56896" bIns="500710" numCol="1" spcCol="1270" anchor="ctr" anchorCtr="0">
              <a:noAutofit/>
            </a:bodyPr>
            <a:lstStyle/>
            <a:p>
              <a:pPr marL="0" lvl="0" indent="0" algn="ctr" defTabSz="355600">
                <a:lnSpc>
                  <a:spcPct val="90000"/>
                </a:lnSpc>
                <a:spcBef>
                  <a:spcPct val="0"/>
                </a:spcBef>
                <a:spcAft>
                  <a:spcPct val="35000"/>
                </a:spcAft>
                <a:buNone/>
              </a:pPr>
              <a:r>
                <a:rPr lang="en-US" sz="1000" kern="1200" dirty="0"/>
                <a:t>typing-game </a:t>
              </a:r>
              <a:r>
                <a:rPr lang="zh-CN" sz="1000" kern="1200" dirty="0"/>
                <a:t>调用 </a:t>
              </a:r>
              <a:r>
                <a:rPr lang="en-US" sz="1000" kern="1200" dirty="0" err="1"/>
                <a:t>io_read</a:t>
              </a:r>
              <a:r>
                <a:rPr lang="en-US" sz="1000" kern="1200" dirty="0"/>
                <a:t>(AM_INPUT_KEYBRD)→ AM </a:t>
              </a:r>
              <a:r>
                <a:rPr lang="zh-CN" sz="1000" kern="1200" dirty="0"/>
                <a:t>层将其翻译为对 </a:t>
              </a:r>
              <a:r>
                <a:rPr lang="en-US" sz="1000" kern="1200" dirty="0"/>
                <a:t>NEMU </a:t>
              </a:r>
              <a:r>
                <a:rPr lang="zh-CN" sz="1000" kern="1200" dirty="0"/>
                <a:t>键盘设备寄存器的读操作→ 返回 </a:t>
              </a:r>
              <a:r>
                <a:rPr lang="en-US" sz="1000" kern="1200" dirty="0"/>
                <a:t>{keycode, </a:t>
              </a:r>
              <a:r>
                <a:rPr lang="en-US" sz="1000" kern="1200" dirty="0" err="1"/>
                <a:t>keydown</a:t>
              </a:r>
              <a:r>
                <a:rPr lang="en-US" sz="1000" kern="1200" dirty="0"/>
                <a:t>} </a:t>
              </a:r>
              <a:r>
                <a:rPr lang="zh-CN" sz="1000" kern="1200" dirty="0"/>
                <a:t>数据</a:t>
              </a:r>
            </a:p>
          </p:txBody>
        </p:sp>
        <p:sp>
          <p:nvSpPr>
            <p:cNvPr id="33" name="任意多边形: 形状 32">
              <a:extLst>
                <a:ext uri="{FF2B5EF4-FFF2-40B4-BE49-F238E27FC236}">
                  <a16:creationId xmlns:a16="http://schemas.microsoft.com/office/drawing/2014/main" id="{C77B69D1-9771-E5D6-3ABA-2B2EA90E267A}"/>
                </a:ext>
              </a:extLst>
            </p:cNvPr>
            <p:cNvSpPr/>
            <p:nvPr/>
          </p:nvSpPr>
          <p:spPr>
            <a:xfrm>
              <a:off x="9370736" y="1641208"/>
              <a:ext cx="1939897" cy="2219062"/>
            </a:xfrm>
            <a:custGeom>
              <a:avLst/>
              <a:gdLst>
                <a:gd name="connsiteX0" fmla="*/ 0 w 1939897"/>
                <a:gd name="connsiteY0" fmla="*/ 193990 h 2219062"/>
                <a:gd name="connsiteX1" fmla="*/ 193990 w 1939897"/>
                <a:gd name="connsiteY1" fmla="*/ 0 h 2219062"/>
                <a:gd name="connsiteX2" fmla="*/ 1745907 w 1939897"/>
                <a:gd name="connsiteY2" fmla="*/ 0 h 2219062"/>
                <a:gd name="connsiteX3" fmla="*/ 1939897 w 1939897"/>
                <a:gd name="connsiteY3" fmla="*/ 193990 h 2219062"/>
                <a:gd name="connsiteX4" fmla="*/ 1939897 w 1939897"/>
                <a:gd name="connsiteY4" fmla="*/ 2025072 h 2219062"/>
                <a:gd name="connsiteX5" fmla="*/ 1745907 w 1939897"/>
                <a:gd name="connsiteY5" fmla="*/ 2219062 h 2219062"/>
                <a:gd name="connsiteX6" fmla="*/ 193990 w 1939897"/>
                <a:gd name="connsiteY6" fmla="*/ 2219062 h 2219062"/>
                <a:gd name="connsiteX7" fmla="*/ 0 w 1939897"/>
                <a:gd name="connsiteY7" fmla="*/ 2025072 h 2219062"/>
                <a:gd name="connsiteX8" fmla="*/ 0 w 1939897"/>
                <a:gd name="connsiteY8" fmla="*/ 193990 h 221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897" h="2219062">
                  <a:moveTo>
                    <a:pt x="0" y="193990"/>
                  </a:moveTo>
                  <a:cubicBezTo>
                    <a:pt x="0" y="86852"/>
                    <a:pt x="86852" y="0"/>
                    <a:pt x="193990" y="0"/>
                  </a:cubicBezTo>
                  <a:lnTo>
                    <a:pt x="1745907" y="0"/>
                  </a:lnTo>
                  <a:cubicBezTo>
                    <a:pt x="1853045" y="0"/>
                    <a:pt x="1939897" y="86852"/>
                    <a:pt x="1939897" y="193990"/>
                  </a:cubicBezTo>
                  <a:lnTo>
                    <a:pt x="1939897" y="2025072"/>
                  </a:lnTo>
                  <a:cubicBezTo>
                    <a:pt x="1939897" y="2132210"/>
                    <a:pt x="1853045" y="2219062"/>
                    <a:pt x="1745907" y="2219062"/>
                  </a:cubicBezTo>
                  <a:lnTo>
                    <a:pt x="193990" y="2219062"/>
                  </a:lnTo>
                  <a:cubicBezTo>
                    <a:pt x="86852" y="2219062"/>
                    <a:pt x="0" y="2132210"/>
                    <a:pt x="0" y="2025072"/>
                  </a:cubicBezTo>
                  <a:lnTo>
                    <a:pt x="0" y="19399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6896" tIns="944520" rIns="56896" bIns="500710" numCol="1" spcCol="1270" anchor="ctr" anchorCtr="0">
              <a:noAutofit/>
            </a:bodyPr>
            <a:lstStyle/>
            <a:p>
              <a:pPr marL="0" lvl="0" indent="0" algn="ctr" defTabSz="355600">
                <a:lnSpc>
                  <a:spcPct val="90000"/>
                </a:lnSpc>
                <a:spcBef>
                  <a:spcPct val="0"/>
                </a:spcBef>
                <a:spcAft>
                  <a:spcPct val="35000"/>
                </a:spcAft>
                <a:buNone/>
              </a:pPr>
              <a:r>
                <a:rPr lang="en-US" sz="1000" kern="1200" dirty="0" err="1"/>
                <a:t>Game_logic_update</a:t>
              </a:r>
              <a:r>
                <a:rPr lang="en-US" sz="1000" kern="1200" dirty="0"/>
                <a:t>(),</a:t>
              </a:r>
              <a:r>
                <a:rPr lang="en-US" sz="1000" kern="1200" dirty="0" err="1"/>
                <a:t>check_hit</a:t>
              </a:r>
              <a:r>
                <a:rPr lang="en-US" sz="1000" kern="1200" dirty="0"/>
                <a:t>() </a:t>
              </a:r>
              <a:r>
                <a:rPr lang="zh-CN" sz="1000" kern="1200" dirty="0"/>
                <a:t>处理按键，更新游戏状态（</a:t>
              </a:r>
              <a:r>
                <a:rPr lang="en-US" sz="1000" kern="1200" dirty="0"/>
                <a:t>hit/miss/wrong/</a:t>
              </a:r>
              <a:r>
                <a:rPr lang="zh-CN" sz="1000" kern="1200" dirty="0"/>
                <a:t>字符速度</a:t>
              </a:r>
              <a:r>
                <a:rPr lang="zh-CN" sz="900" kern="1200" dirty="0"/>
                <a:t>）</a:t>
              </a:r>
            </a:p>
          </p:txBody>
        </p:sp>
        <p:sp>
          <p:nvSpPr>
            <p:cNvPr id="36" name="椭圆 35">
              <a:extLst>
                <a:ext uri="{FF2B5EF4-FFF2-40B4-BE49-F238E27FC236}">
                  <a16:creationId xmlns:a16="http://schemas.microsoft.com/office/drawing/2014/main" id="{684361C4-8F61-5335-C889-012C8D25432C}"/>
                </a:ext>
              </a:extLst>
            </p:cNvPr>
            <p:cNvSpPr/>
            <p:nvPr/>
          </p:nvSpPr>
          <p:spPr>
            <a:xfrm>
              <a:off x="3628582" y="1766030"/>
              <a:ext cx="1552032" cy="587507"/>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algn="ctr"/>
              <a:r>
                <a:rPr lang="zh-CN" altLang="en-US" sz="1600" dirty="0">
                  <a:solidFill>
                    <a:schemeClr val="tx1"/>
                  </a:solidFill>
                </a:rPr>
                <a:t>宿主机</a:t>
              </a:r>
              <a:r>
                <a:rPr lang="en-US" altLang="zh-CN" sz="1600" dirty="0">
                  <a:solidFill>
                    <a:schemeClr val="tx1"/>
                  </a:solidFill>
                </a:rPr>
                <a:t>OS</a:t>
              </a:r>
              <a:endParaRPr lang="zh-CN" altLang="en-US" sz="1600" dirty="0">
                <a:solidFill>
                  <a:schemeClr val="tx1"/>
                </a:solidFill>
              </a:endParaRPr>
            </a:p>
          </p:txBody>
        </p:sp>
      </p:grpSp>
      <p:grpSp>
        <p:nvGrpSpPr>
          <p:cNvPr id="37" name="组合 36">
            <a:extLst>
              <a:ext uri="{FF2B5EF4-FFF2-40B4-BE49-F238E27FC236}">
                <a16:creationId xmlns:a16="http://schemas.microsoft.com/office/drawing/2014/main" id="{F8578F89-8ADF-72BE-7E91-8524197BA5B4}"/>
              </a:ext>
            </a:extLst>
          </p:cNvPr>
          <p:cNvGrpSpPr/>
          <p:nvPr/>
        </p:nvGrpSpPr>
        <p:grpSpPr>
          <a:xfrm>
            <a:off x="1337756" y="4581499"/>
            <a:ext cx="10105428" cy="1849778"/>
            <a:chOff x="1310220" y="4005661"/>
            <a:chExt cx="10000412" cy="2296027"/>
          </a:xfrm>
        </p:grpSpPr>
        <p:sp>
          <p:nvSpPr>
            <p:cNvPr id="38" name="任意多边形: 形状 37">
              <a:extLst>
                <a:ext uri="{FF2B5EF4-FFF2-40B4-BE49-F238E27FC236}">
                  <a16:creationId xmlns:a16="http://schemas.microsoft.com/office/drawing/2014/main" id="{47E10203-0D5A-0F7B-AEC5-9C9AC6782CFB}"/>
                </a:ext>
              </a:extLst>
            </p:cNvPr>
            <p:cNvSpPr/>
            <p:nvPr/>
          </p:nvSpPr>
          <p:spPr>
            <a:xfrm>
              <a:off x="1310220" y="4005661"/>
              <a:ext cx="1953205" cy="2296027"/>
            </a:xfrm>
            <a:custGeom>
              <a:avLst/>
              <a:gdLst>
                <a:gd name="connsiteX0" fmla="*/ 0 w 1953205"/>
                <a:gd name="connsiteY0" fmla="*/ 195321 h 2296027"/>
                <a:gd name="connsiteX1" fmla="*/ 195321 w 1953205"/>
                <a:gd name="connsiteY1" fmla="*/ 0 h 2296027"/>
                <a:gd name="connsiteX2" fmla="*/ 1757885 w 1953205"/>
                <a:gd name="connsiteY2" fmla="*/ 0 h 2296027"/>
                <a:gd name="connsiteX3" fmla="*/ 1953206 w 1953205"/>
                <a:gd name="connsiteY3" fmla="*/ 195321 h 2296027"/>
                <a:gd name="connsiteX4" fmla="*/ 1953205 w 1953205"/>
                <a:gd name="connsiteY4" fmla="*/ 2100707 h 2296027"/>
                <a:gd name="connsiteX5" fmla="*/ 1757884 w 1953205"/>
                <a:gd name="connsiteY5" fmla="*/ 2296028 h 2296027"/>
                <a:gd name="connsiteX6" fmla="*/ 195321 w 1953205"/>
                <a:gd name="connsiteY6" fmla="*/ 2296027 h 2296027"/>
                <a:gd name="connsiteX7" fmla="*/ 0 w 1953205"/>
                <a:gd name="connsiteY7" fmla="*/ 2100706 h 2296027"/>
                <a:gd name="connsiteX8" fmla="*/ 0 w 1953205"/>
                <a:gd name="connsiteY8" fmla="*/ 195321 h 229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3205" h="2296027">
                  <a:moveTo>
                    <a:pt x="0" y="195321"/>
                  </a:moveTo>
                  <a:cubicBezTo>
                    <a:pt x="0" y="87448"/>
                    <a:pt x="87448" y="0"/>
                    <a:pt x="195321" y="0"/>
                  </a:cubicBezTo>
                  <a:lnTo>
                    <a:pt x="1757885" y="0"/>
                  </a:lnTo>
                  <a:cubicBezTo>
                    <a:pt x="1865758" y="0"/>
                    <a:pt x="1953206" y="87448"/>
                    <a:pt x="1953206" y="195321"/>
                  </a:cubicBezTo>
                  <a:cubicBezTo>
                    <a:pt x="1953206" y="830450"/>
                    <a:pt x="1953205" y="1465578"/>
                    <a:pt x="1953205" y="2100707"/>
                  </a:cubicBezTo>
                  <a:cubicBezTo>
                    <a:pt x="1953205" y="2208580"/>
                    <a:pt x="1865757" y="2296028"/>
                    <a:pt x="1757884" y="2296028"/>
                  </a:cubicBezTo>
                  <a:lnTo>
                    <a:pt x="195321" y="2296027"/>
                  </a:lnTo>
                  <a:cubicBezTo>
                    <a:pt x="87448" y="2296027"/>
                    <a:pt x="0" y="2208579"/>
                    <a:pt x="0" y="2100706"/>
                  </a:cubicBezTo>
                  <a:lnTo>
                    <a:pt x="0" y="19532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008" tIns="982418" rIns="64008" bIns="523215" numCol="1" spcCol="1270" anchor="ctr" anchorCtr="0">
              <a:noAutofit/>
            </a:bodyPr>
            <a:lstStyle/>
            <a:p>
              <a:pPr marL="0" lvl="0" indent="0" algn="ctr" defTabSz="400050">
                <a:lnSpc>
                  <a:spcPct val="90000"/>
                </a:lnSpc>
                <a:spcBef>
                  <a:spcPct val="0"/>
                </a:spcBef>
                <a:spcAft>
                  <a:spcPct val="35000"/>
                </a:spcAft>
                <a:buNone/>
              </a:pPr>
              <a:r>
                <a:rPr lang="en-US" altLang="en-US" sz="1050" kern="1200" dirty="0"/>
                <a:t>GPU </a:t>
              </a:r>
              <a:r>
                <a:rPr lang="zh-CN" altLang="en-US" sz="1050" kern="1200" dirty="0"/>
                <a:t>处理像素数据，通过 </a:t>
              </a:r>
              <a:r>
                <a:rPr lang="en-US" altLang="en-US" sz="1050" kern="1200" dirty="0"/>
                <a:t>HDMI/DP </a:t>
              </a:r>
              <a:r>
                <a:rPr lang="zh-CN" altLang="en-US" sz="1050" kern="1200" dirty="0"/>
                <a:t>总线输出，显示器刷新画面</a:t>
              </a:r>
            </a:p>
          </p:txBody>
        </p:sp>
        <p:sp>
          <p:nvSpPr>
            <p:cNvPr id="40" name="任意多边形: 形状 39">
              <a:extLst>
                <a:ext uri="{FF2B5EF4-FFF2-40B4-BE49-F238E27FC236}">
                  <a16:creationId xmlns:a16="http://schemas.microsoft.com/office/drawing/2014/main" id="{3FC3EF87-52D3-85C3-81F4-16F90FC70BC5}"/>
                </a:ext>
              </a:extLst>
            </p:cNvPr>
            <p:cNvSpPr/>
            <p:nvPr/>
          </p:nvSpPr>
          <p:spPr>
            <a:xfrm>
              <a:off x="3322021" y="4005661"/>
              <a:ext cx="1953205" cy="2296027"/>
            </a:xfrm>
            <a:custGeom>
              <a:avLst/>
              <a:gdLst>
                <a:gd name="connsiteX0" fmla="*/ 0 w 1953205"/>
                <a:gd name="connsiteY0" fmla="*/ 195321 h 2296027"/>
                <a:gd name="connsiteX1" fmla="*/ 195321 w 1953205"/>
                <a:gd name="connsiteY1" fmla="*/ 0 h 2296027"/>
                <a:gd name="connsiteX2" fmla="*/ 1757885 w 1953205"/>
                <a:gd name="connsiteY2" fmla="*/ 0 h 2296027"/>
                <a:gd name="connsiteX3" fmla="*/ 1953206 w 1953205"/>
                <a:gd name="connsiteY3" fmla="*/ 195321 h 2296027"/>
                <a:gd name="connsiteX4" fmla="*/ 1953205 w 1953205"/>
                <a:gd name="connsiteY4" fmla="*/ 2100707 h 2296027"/>
                <a:gd name="connsiteX5" fmla="*/ 1757884 w 1953205"/>
                <a:gd name="connsiteY5" fmla="*/ 2296028 h 2296027"/>
                <a:gd name="connsiteX6" fmla="*/ 195321 w 1953205"/>
                <a:gd name="connsiteY6" fmla="*/ 2296027 h 2296027"/>
                <a:gd name="connsiteX7" fmla="*/ 0 w 1953205"/>
                <a:gd name="connsiteY7" fmla="*/ 2100706 h 2296027"/>
                <a:gd name="connsiteX8" fmla="*/ 0 w 1953205"/>
                <a:gd name="connsiteY8" fmla="*/ 195321 h 229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3205" h="2296027">
                  <a:moveTo>
                    <a:pt x="0" y="195321"/>
                  </a:moveTo>
                  <a:cubicBezTo>
                    <a:pt x="0" y="87448"/>
                    <a:pt x="87448" y="0"/>
                    <a:pt x="195321" y="0"/>
                  </a:cubicBezTo>
                  <a:lnTo>
                    <a:pt x="1757885" y="0"/>
                  </a:lnTo>
                  <a:cubicBezTo>
                    <a:pt x="1865758" y="0"/>
                    <a:pt x="1953206" y="87448"/>
                    <a:pt x="1953206" y="195321"/>
                  </a:cubicBezTo>
                  <a:cubicBezTo>
                    <a:pt x="1953206" y="830450"/>
                    <a:pt x="1953205" y="1465578"/>
                    <a:pt x="1953205" y="2100707"/>
                  </a:cubicBezTo>
                  <a:cubicBezTo>
                    <a:pt x="1953205" y="2208580"/>
                    <a:pt x="1865757" y="2296028"/>
                    <a:pt x="1757884" y="2296028"/>
                  </a:cubicBezTo>
                  <a:lnTo>
                    <a:pt x="195321" y="2296027"/>
                  </a:lnTo>
                  <a:cubicBezTo>
                    <a:pt x="87448" y="2296027"/>
                    <a:pt x="0" y="2208579"/>
                    <a:pt x="0" y="2100706"/>
                  </a:cubicBezTo>
                  <a:lnTo>
                    <a:pt x="0" y="19532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008" tIns="982418" rIns="64008" bIns="523215" numCol="1" spcCol="1270" anchor="ctr" anchorCtr="0">
              <a:noAutofit/>
            </a:bodyPr>
            <a:lstStyle/>
            <a:p>
              <a:pPr marL="0" lvl="0" indent="0" algn="ctr" defTabSz="400050">
                <a:lnSpc>
                  <a:spcPct val="90000"/>
                </a:lnSpc>
                <a:spcBef>
                  <a:spcPct val="0"/>
                </a:spcBef>
                <a:spcAft>
                  <a:spcPct val="35000"/>
                </a:spcAft>
                <a:buNone/>
              </a:pPr>
              <a:r>
                <a:rPr lang="zh-CN" altLang="en-US" sz="1050" kern="1200" dirty="0"/>
                <a:t>通过图形子系统（如 </a:t>
              </a:r>
              <a:r>
                <a:rPr lang="en-US" altLang="en-US" sz="1050" kern="1200" dirty="0"/>
                <a:t>X11/Wayland/DWM</a:t>
              </a:r>
              <a:r>
                <a:rPr lang="zh-CN" altLang="en-US" sz="1050" kern="1200" dirty="0"/>
                <a:t>）将数据交给 </a:t>
              </a:r>
              <a:r>
                <a:rPr lang="en-US" altLang="en-US" sz="1050" kern="1200" dirty="0"/>
                <a:t>GPU </a:t>
              </a:r>
              <a:r>
                <a:rPr lang="zh-CN" altLang="en-US" sz="1050" kern="1200" dirty="0"/>
                <a:t>驱动</a:t>
              </a:r>
            </a:p>
          </p:txBody>
        </p:sp>
        <p:sp>
          <p:nvSpPr>
            <p:cNvPr id="42" name="任意多边形: 形状 41">
              <a:extLst>
                <a:ext uri="{FF2B5EF4-FFF2-40B4-BE49-F238E27FC236}">
                  <a16:creationId xmlns:a16="http://schemas.microsoft.com/office/drawing/2014/main" id="{9C0E126B-56AA-9E3A-BBBB-A6660C6D7E5D}"/>
                </a:ext>
              </a:extLst>
            </p:cNvPr>
            <p:cNvSpPr/>
            <p:nvPr/>
          </p:nvSpPr>
          <p:spPr>
            <a:xfrm>
              <a:off x="5333823" y="4005661"/>
              <a:ext cx="1953205" cy="2296027"/>
            </a:xfrm>
            <a:custGeom>
              <a:avLst/>
              <a:gdLst>
                <a:gd name="connsiteX0" fmla="*/ 0 w 1953205"/>
                <a:gd name="connsiteY0" fmla="*/ 195321 h 2296027"/>
                <a:gd name="connsiteX1" fmla="*/ 195321 w 1953205"/>
                <a:gd name="connsiteY1" fmla="*/ 0 h 2296027"/>
                <a:gd name="connsiteX2" fmla="*/ 1757885 w 1953205"/>
                <a:gd name="connsiteY2" fmla="*/ 0 h 2296027"/>
                <a:gd name="connsiteX3" fmla="*/ 1953206 w 1953205"/>
                <a:gd name="connsiteY3" fmla="*/ 195321 h 2296027"/>
                <a:gd name="connsiteX4" fmla="*/ 1953205 w 1953205"/>
                <a:gd name="connsiteY4" fmla="*/ 2100707 h 2296027"/>
                <a:gd name="connsiteX5" fmla="*/ 1757884 w 1953205"/>
                <a:gd name="connsiteY5" fmla="*/ 2296028 h 2296027"/>
                <a:gd name="connsiteX6" fmla="*/ 195321 w 1953205"/>
                <a:gd name="connsiteY6" fmla="*/ 2296027 h 2296027"/>
                <a:gd name="connsiteX7" fmla="*/ 0 w 1953205"/>
                <a:gd name="connsiteY7" fmla="*/ 2100706 h 2296027"/>
                <a:gd name="connsiteX8" fmla="*/ 0 w 1953205"/>
                <a:gd name="connsiteY8" fmla="*/ 195321 h 229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3205" h="2296027">
                  <a:moveTo>
                    <a:pt x="0" y="195321"/>
                  </a:moveTo>
                  <a:cubicBezTo>
                    <a:pt x="0" y="87448"/>
                    <a:pt x="87448" y="0"/>
                    <a:pt x="195321" y="0"/>
                  </a:cubicBezTo>
                  <a:lnTo>
                    <a:pt x="1757885" y="0"/>
                  </a:lnTo>
                  <a:cubicBezTo>
                    <a:pt x="1865758" y="0"/>
                    <a:pt x="1953206" y="87448"/>
                    <a:pt x="1953206" y="195321"/>
                  </a:cubicBezTo>
                  <a:cubicBezTo>
                    <a:pt x="1953206" y="830450"/>
                    <a:pt x="1953205" y="1465578"/>
                    <a:pt x="1953205" y="2100707"/>
                  </a:cubicBezTo>
                  <a:cubicBezTo>
                    <a:pt x="1953205" y="2208580"/>
                    <a:pt x="1865757" y="2296028"/>
                    <a:pt x="1757884" y="2296028"/>
                  </a:cubicBezTo>
                  <a:lnTo>
                    <a:pt x="195321" y="2296027"/>
                  </a:lnTo>
                  <a:cubicBezTo>
                    <a:pt x="87448" y="2296027"/>
                    <a:pt x="0" y="2208579"/>
                    <a:pt x="0" y="2100706"/>
                  </a:cubicBezTo>
                  <a:lnTo>
                    <a:pt x="0" y="19532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008" tIns="982418" rIns="64008" bIns="523215" numCol="1" spcCol="1270" anchor="ctr" anchorCtr="0">
              <a:noAutofit/>
            </a:bodyPr>
            <a:lstStyle/>
            <a:p>
              <a:pPr marL="0" lvl="0" indent="0" algn="ctr" defTabSz="400050">
                <a:lnSpc>
                  <a:spcPct val="90000"/>
                </a:lnSpc>
                <a:spcBef>
                  <a:spcPct val="0"/>
                </a:spcBef>
                <a:spcAft>
                  <a:spcPct val="35000"/>
                </a:spcAft>
                <a:buNone/>
              </a:pPr>
              <a:r>
                <a:rPr lang="en-US" altLang="en-US" sz="1050" kern="1200" dirty="0"/>
                <a:t>NEMU </a:t>
              </a:r>
              <a:r>
                <a:rPr lang="zh-CN" altLang="en-US" sz="1050" kern="1200" dirty="0"/>
                <a:t>调用 </a:t>
              </a:r>
              <a:r>
                <a:rPr lang="en-US" altLang="en-US" sz="1050" kern="1200" dirty="0" err="1"/>
                <a:t>SDL_UpdateTexture</a:t>
              </a:r>
              <a:r>
                <a:rPr lang="en-US" altLang="en-US" sz="1050" kern="1200" dirty="0"/>
                <a:t>() + </a:t>
              </a:r>
              <a:r>
                <a:rPr lang="en-US" altLang="en-US" sz="1050" kern="1200" dirty="0" err="1"/>
                <a:t>SDL_RenderPresent</a:t>
              </a:r>
              <a:r>
                <a:rPr lang="en-US" altLang="en-US" sz="1050" kern="1200" dirty="0"/>
                <a:t>()</a:t>
              </a:r>
              <a:r>
                <a:rPr lang="zh-CN" altLang="en-US" sz="1050" kern="1200" dirty="0"/>
                <a:t>，将帧缓冲提交给宿主机</a:t>
              </a:r>
            </a:p>
          </p:txBody>
        </p:sp>
        <p:sp>
          <p:nvSpPr>
            <p:cNvPr id="44" name="任意多边形: 形状 43">
              <a:extLst>
                <a:ext uri="{FF2B5EF4-FFF2-40B4-BE49-F238E27FC236}">
                  <a16:creationId xmlns:a16="http://schemas.microsoft.com/office/drawing/2014/main" id="{3C404AEA-FD88-9467-62D2-D756170A64FA}"/>
                </a:ext>
              </a:extLst>
            </p:cNvPr>
            <p:cNvSpPr/>
            <p:nvPr/>
          </p:nvSpPr>
          <p:spPr>
            <a:xfrm>
              <a:off x="7345625" y="4005661"/>
              <a:ext cx="1953205" cy="2296027"/>
            </a:xfrm>
            <a:custGeom>
              <a:avLst/>
              <a:gdLst>
                <a:gd name="connsiteX0" fmla="*/ 0 w 1953205"/>
                <a:gd name="connsiteY0" fmla="*/ 195321 h 2296027"/>
                <a:gd name="connsiteX1" fmla="*/ 195321 w 1953205"/>
                <a:gd name="connsiteY1" fmla="*/ 0 h 2296027"/>
                <a:gd name="connsiteX2" fmla="*/ 1757885 w 1953205"/>
                <a:gd name="connsiteY2" fmla="*/ 0 h 2296027"/>
                <a:gd name="connsiteX3" fmla="*/ 1953206 w 1953205"/>
                <a:gd name="connsiteY3" fmla="*/ 195321 h 2296027"/>
                <a:gd name="connsiteX4" fmla="*/ 1953205 w 1953205"/>
                <a:gd name="connsiteY4" fmla="*/ 2100707 h 2296027"/>
                <a:gd name="connsiteX5" fmla="*/ 1757884 w 1953205"/>
                <a:gd name="connsiteY5" fmla="*/ 2296028 h 2296027"/>
                <a:gd name="connsiteX6" fmla="*/ 195321 w 1953205"/>
                <a:gd name="connsiteY6" fmla="*/ 2296027 h 2296027"/>
                <a:gd name="connsiteX7" fmla="*/ 0 w 1953205"/>
                <a:gd name="connsiteY7" fmla="*/ 2100706 h 2296027"/>
                <a:gd name="connsiteX8" fmla="*/ 0 w 1953205"/>
                <a:gd name="connsiteY8" fmla="*/ 195321 h 229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3205" h="2296027">
                  <a:moveTo>
                    <a:pt x="0" y="195321"/>
                  </a:moveTo>
                  <a:cubicBezTo>
                    <a:pt x="0" y="87448"/>
                    <a:pt x="87448" y="0"/>
                    <a:pt x="195321" y="0"/>
                  </a:cubicBezTo>
                  <a:lnTo>
                    <a:pt x="1757885" y="0"/>
                  </a:lnTo>
                  <a:cubicBezTo>
                    <a:pt x="1865758" y="0"/>
                    <a:pt x="1953206" y="87448"/>
                    <a:pt x="1953206" y="195321"/>
                  </a:cubicBezTo>
                  <a:cubicBezTo>
                    <a:pt x="1953206" y="830450"/>
                    <a:pt x="1953205" y="1465578"/>
                    <a:pt x="1953205" y="2100707"/>
                  </a:cubicBezTo>
                  <a:cubicBezTo>
                    <a:pt x="1953205" y="2208580"/>
                    <a:pt x="1865757" y="2296028"/>
                    <a:pt x="1757884" y="2296028"/>
                  </a:cubicBezTo>
                  <a:lnTo>
                    <a:pt x="195321" y="2296027"/>
                  </a:lnTo>
                  <a:cubicBezTo>
                    <a:pt x="87448" y="2296027"/>
                    <a:pt x="0" y="2208579"/>
                    <a:pt x="0" y="2100706"/>
                  </a:cubicBezTo>
                  <a:lnTo>
                    <a:pt x="0" y="19532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008" tIns="982418" rIns="64008" bIns="523215" numCol="1" spcCol="1270" anchor="ctr" anchorCtr="0">
              <a:noAutofit/>
            </a:bodyPr>
            <a:lstStyle/>
            <a:p>
              <a:pPr marL="0" lvl="0" indent="0" algn="ctr" defTabSz="400050">
                <a:lnSpc>
                  <a:spcPct val="90000"/>
                </a:lnSpc>
                <a:spcBef>
                  <a:spcPct val="0"/>
                </a:spcBef>
                <a:spcAft>
                  <a:spcPct val="35000"/>
                </a:spcAft>
                <a:buNone/>
              </a:pPr>
              <a:r>
                <a:rPr lang="en-US" altLang="en-US" sz="1050" kern="1200" dirty="0"/>
                <a:t>AM </a:t>
              </a:r>
              <a:r>
                <a:rPr lang="zh-CN" altLang="en-US" sz="1050" kern="1200" dirty="0"/>
                <a:t>层将其翻译为对 </a:t>
              </a:r>
              <a:r>
                <a:rPr lang="en-US" altLang="en-US" sz="1050" kern="1200" dirty="0"/>
                <a:t>NEMU </a:t>
              </a:r>
              <a:r>
                <a:rPr lang="zh-CN" altLang="en-US" sz="1050" kern="1200" dirty="0"/>
                <a:t>虚拟 </a:t>
              </a:r>
              <a:r>
                <a:rPr lang="en-US" altLang="en-US" sz="1050" kern="1200" dirty="0"/>
                <a:t>GPU </a:t>
              </a:r>
              <a:r>
                <a:rPr lang="zh-CN" altLang="en-US" sz="1050" kern="1200" dirty="0"/>
                <a:t>帧缓冲的写操作 → 像素数据写入 </a:t>
              </a:r>
              <a:r>
                <a:rPr lang="en-US" altLang="en-US" sz="1050" kern="1200" dirty="0"/>
                <a:t>NEMU </a:t>
              </a:r>
              <a:r>
                <a:rPr lang="zh-CN" altLang="en-US" sz="1050" kern="1200" dirty="0"/>
                <a:t>维护的内存帧缓冲</a:t>
              </a:r>
            </a:p>
          </p:txBody>
        </p:sp>
        <p:sp>
          <p:nvSpPr>
            <p:cNvPr id="46" name="任意多边形: 形状 45">
              <a:extLst>
                <a:ext uri="{FF2B5EF4-FFF2-40B4-BE49-F238E27FC236}">
                  <a16:creationId xmlns:a16="http://schemas.microsoft.com/office/drawing/2014/main" id="{354AFEC9-E760-E7BA-A378-CC04E6CF4871}"/>
                </a:ext>
              </a:extLst>
            </p:cNvPr>
            <p:cNvSpPr/>
            <p:nvPr/>
          </p:nvSpPr>
          <p:spPr>
            <a:xfrm>
              <a:off x="9357427" y="4005661"/>
              <a:ext cx="1953205" cy="2296027"/>
            </a:xfrm>
            <a:custGeom>
              <a:avLst/>
              <a:gdLst>
                <a:gd name="connsiteX0" fmla="*/ 0 w 1953205"/>
                <a:gd name="connsiteY0" fmla="*/ 195321 h 2296027"/>
                <a:gd name="connsiteX1" fmla="*/ 195321 w 1953205"/>
                <a:gd name="connsiteY1" fmla="*/ 0 h 2296027"/>
                <a:gd name="connsiteX2" fmla="*/ 1757885 w 1953205"/>
                <a:gd name="connsiteY2" fmla="*/ 0 h 2296027"/>
                <a:gd name="connsiteX3" fmla="*/ 1953206 w 1953205"/>
                <a:gd name="connsiteY3" fmla="*/ 195321 h 2296027"/>
                <a:gd name="connsiteX4" fmla="*/ 1953205 w 1953205"/>
                <a:gd name="connsiteY4" fmla="*/ 2100707 h 2296027"/>
                <a:gd name="connsiteX5" fmla="*/ 1757884 w 1953205"/>
                <a:gd name="connsiteY5" fmla="*/ 2296028 h 2296027"/>
                <a:gd name="connsiteX6" fmla="*/ 195321 w 1953205"/>
                <a:gd name="connsiteY6" fmla="*/ 2296027 h 2296027"/>
                <a:gd name="connsiteX7" fmla="*/ 0 w 1953205"/>
                <a:gd name="connsiteY7" fmla="*/ 2100706 h 2296027"/>
                <a:gd name="connsiteX8" fmla="*/ 0 w 1953205"/>
                <a:gd name="connsiteY8" fmla="*/ 195321 h 229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3205" h="2296027">
                  <a:moveTo>
                    <a:pt x="0" y="195321"/>
                  </a:moveTo>
                  <a:cubicBezTo>
                    <a:pt x="0" y="87448"/>
                    <a:pt x="87448" y="0"/>
                    <a:pt x="195321" y="0"/>
                  </a:cubicBezTo>
                  <a:lnTo>
                    <a:pt x="1757885" y="0"/>
                  </a:lnTo>
                  <a:cubicBezTo>
                    <a:pt x="1865758" y="0"/>
                    <a:pt x="1953206" y="87448"/>
                    <a:pt x="1953206" y="195321"/>
                  </a:cubicBezTo>
                  <a:cubicBezTo>
                    <a:pt x="1953206" y="830450"/>
                    <a:pt x="1953205" y="1465578"/>
                    <a:pt x="1953205" y="2100707"/>
                  </a:cubicBezTo>
                  <a:cubicBezTo>
                    <a:pt x="1953205" y="2208580"/>
                    <a:pt x="1865757" y="2296028"/>
                    <a:pt x="1757884" y="2296028"/>
                  </a:cubicBezTo>
                  <a:lnTo>
                    <a:pt x="195321" y="2296027"/>
                  </a:lnTo>
                  <a:cubicBezTo>
                    <a:pt x="87448" y="2296027"/>
                    <a:pt x="0" y="2208579"/>
                    <a:pt x="0" y="2100706"/>
                  </a:cubicBezTo>
                  <a:lnTo>
                    <a:pt x="0" y="19532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008" tIns="982418" rIns="64008" bIns="523215" numCol="1" spcCol="1270" anchor="ctr" anchorCtr="0">
              <a:noAutofit/>
            </a:bodyPr>
            <a:lstStyle/>
            <a:p>
              <a:pPr marL="0" lvl="0" indent="0" algn="ctr" defTabSz="400050">
                <a:lnSpc>
                  <a:spcPct val="90000"/>
                </a:lnSpc>
                <a:spcBef>
                  <a:spcPct val="0"/>
                </a:spcBef>
                <a:spcAft>
                  <a:spcPct val="35000"/>
                </a:spcAft>
                <a:buNone/>
              </a:pPr>
              <a:r>
                <a:rPr lang="en-US" altLang="en-US" sz="1050" kern="1200" dirty="0"/>
                <a:t>render() </a:t>
              </a:r>
              <a:r>
                <a:rPr lang="zh-CN" altLang="en-US" sz="1050" kern="1200" dirty="0"/>
                <a:t>根据字符状态选择纹理，调用 </a:t>
              </a:r>
              <a:r>
                <a:rPr lang="en-US" altLang="en-US" sz="1050" kern="1200" dirty="0" err="1"/>
                <a:t>io_write</a:t>
              </a:r>
              <a:r>
                <a:rPr lang="en-US" altLang="en-US" sz="1050" kern="1200" dirty="0"/>
                <a:t>(AM_GPU_FBDRAW, ...)</a:t>
              </a:r>
              <a:endParaRPr lang="zh-CN" altLang="en-US" sz="1050" kern="1200" dirty="0"/>
            </a:p>
          </p:txBody>
        </p:sp>
      </p:grpSp>
      <p:sp>
        <p:nvSpPr>
          <p:cNvPr id="49" name="椭圆 48">
            <a:extLst>
              <a:ext uri="{FF2B5EF4-FFF2-40B4-BE49-F238E27FC236}">
                <a16:creationId xmlns:a16="http://schemas.microsoft.com/office/drawing/2014/main" id="{5384679C-5C4B-A9B1-AF1C-9D94D2118D45}"/>
              </a:ext>
            </a:extLst>
          </p:cNvPr>
          <p:cNvSpPr/>
          <p:nvPr/>
        </p:nvSpPr>
        <p:spPr bwMode="auto">
          <a:xfrm>
            <a:off x="5606305" y="1741770"/>
            <a:ext cx="1568330" cy="473321"/>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algn="ctr"/>
            <a:r>
              <a:rPr lang="en-US" altLang="zh-CN" dirty="0">
                <a:solidFill>
                  <a:schemeClr val="tx1"/>
                </a:solidFill>
              </a:rPr>
              <a:t>SDL</a:t>
            </a:r>
            <a:r>
              <a:rPr lang="zh-CN" altLang="en-US" dirty="0">
                <a:solidFill>
                  <a:schemeClr val="tx1"/>
                </a:solidFill>
              </a:rPr>
              <a:t>库</a:t>
            </a:r>
          </a:p>
        </p:txBody>
      </p:sp>
      <p:sp>
        <p:nvSpPr>
          <p:cNvPr id="50" name="椭圆 49">
            <a:extLst>
              <a:ext uri="{FF2B5EF4-FFF2-40B4-BE49-F238E27FC236}">
                <a16:creationId xmlns:a16="http://schemas.microsoft.com/office/drawing/2014/main" id="{46E00A54-CFB6-4882-7475-652B707608EB}"/>
              </a:ext>
            </a:extLst>
          </p:cNvPr>
          <p:cNvSpPr/>
          <p:nvPr/>
        </p:nvSpPr>
        <p:spPr bwMode="auto">
          <a:xfrm>
            <a:off x="7631557" y="1741769"/>
            <a:ext cx="1568330" cy="473321"/>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algn="ctr"/>
            <a:r>
              <a:rPr lang="en-US" altLang="zh-CN" sz="1400" dirty="0">
                <a:solidFill>
                  <a:schemeClr val="tx1"/>
                </a:solidFill>
              </a:rPr>
              <a:t>AM/NEMU</a:t>
            </a:r>
            <a:endParaRPr lang="zh-CN" altLang="en-US" sz="1400" dirty="0">
              <a:solidFill>
                <a:schemeClr val="tx1"/>
              </a:solidFill>
            </a:endParaRPr>
          </a:p>
        </p:txBody>
      </p:sp>
      <p:sp>
        <p:nvSpPr>
          <p:cNvPr id="51" name="椭圆 50">
            <a:extLst>
              <a:ext uri="{FF2B5EF4-FFF2-40B4-BE49-F238E27FC236}">
                <a16:creationId xmlns:a16="http://schemas.microsoft.com/office/drawing/2014/main" id="{4D9F7DBD-36DA-BB9C-80EE-1B53676C913F}"/>
              </a:ext>
            </a:extLst>
          </p:cNvPr>
          <p:cNvSpPr/>
          <p:nvPr/>
        </p:nvSpPr>
        <p:spPr bwMode="auto">
          <a:xfrm>
            <a:off x="9650634" y="1741769"/>
            <a:ext cx="1568330" cy="473321"/>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algn="ctr"/>
            <a:r>
              <a:rPr lang="zh-CN" altLang="en-US" dirty="0">
                <a:solidFill>
                  <a:schemeClr val="tx1"/>
                </a:solidFill>
              </a:rPr>
              <a:t>应用层</a:t>
            </a:r>
          </a:p>
        </p:txBody>
      </p:sp>
      <p:sp>
        <p:nvSpPr>
          <p:cNvPr id="53" name="箭头: 右弧形 52">
            <a:extLst>
              <a:ext uri="{FF2B5EF4-FFF2-40B4-BE49-F238E27FC236}">
                <a16:creationId xmlns:a16="http://schemas.microsoft.com/office/drawing/2014/main" id="{9A376AA0-8128-EA7C-3E56-888E46172418}"/>
              </a:ext>
            </a:extLst>
          </p:cNvPr>
          <p:cNvSpPr/>
          <p:nvPr/>
        </p:nvSpPr>
        <p:spPr bwMode="auto">
          <a:xfrm>
            <a:off x="2115832" y="3642759"/>
            <a:ext cx="8155792" cy="851332"/>
          </a:xfrm>
          <a:prstGeom prst="curvedLef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4" name="文本框 53">
            <a:extLst>
              <a:ext uri="{FF2B5EF4-FFF2-40B4-BE49-F238E27FC236}">
                <a16:creationId xmlns:a16="http://schemas.microsoft.com/office/drawing/2014/main" id="{F9C604E4-DA4A-C905-6B58-8E1B1DE6A2E9}"/>
              </a:ext>
            </a:extLst>
          </p:cNvPr>
          <p:cNvSpPr txBox="1"/>
          <p:nvPr/>
        </p:nvSpPr>
        <p:spPr>
          <a:xfrm>
            <a:off x="1403181" y="3564348"/>
            <a:ext cx="807788" cy="369332"/>
          </a:xfrm>
          <a:prstGeom prst="rect">
            <a:avLst/>
          </a:prstGeom>
          <a:noFill/>
        </p:spPr>
        <p:txBody>
          <a:bodyPr wrap="square" rtlCol="0">
            <a:spAutoFit/>
          </a:bodyPr>
          <a:lstStyle/>
          <a:p>
            <a:r>
              <a:rPr lang="zh-CN" altLang="en-US" dirty="0"/>
              <a:t>输入</a:t>
            </a:r>
          </a:p>
        </p:txBody>
      </p:sp>
      <p:sp>
        <p:nvSpPr>
          <p:cNvPr id="55" name="文本框 54">
            <a:extLst>
              <a:ext uri="{FF2B5EF4-FFF2-40B4-BE49-F238E27FC236}">
                <a16:creationId xmlns:a16="http://schemas.microsoft.com/office/drawing/2014/main" id="{70E06408-98FD-3D5E-2351-0990F25A99EB}"/>
              </a:ext>
            </a:extLst>
          </p:cNvPr>
          <p:cNvSpPr txBox="1"/>
          <p:nvPr/>
        </p:nvSpPr>
        <p:spPr>
          <a:xfrm>
            <a:off x="1403181" y="4124759"/>
            <a:ext cx="807788" cy="369332"/>
          </a:xfrm>
          <a:prstGeom prst="rect">
            <a:avLst/>
          </a:prstGeom>
          <a:noFill/>
        </p:spPr>
        <p:txBody>
          <a:bodyPr wrap="square" rtlCol="0">
            <a:spAutoFit/>
          </a:bodyPr>
          <a:lstStyle/>
          <a:p>
            <a:r>
              <a:rPr lang="zh-CN" altLang="en-US" dirty="0"/>
              <a:t>输出</a:t>
            </a:r>
          </a:p>
        </p:txBody>
      </p:sp>
      <p:sp>
        <p:nvSpPr>
          <p:cNvPr id="67" name="椭圆 66">
            <a:extLst>
              <a:ext uri="{FF2B5EF4-FFF2-40B4-BE49-F238E27FC236}">
                <a16:creationId xmlns:a16="http://schemas.microsoft.com/office/drawing/2014/main" id="{47C3BF64-347D-0CFE-F82F-3198A0C8DDF8}"/>
              </a:ext>
            </a:extLst>
          </p:cNvPr>
          <p:cNvSpPr/>
          <p:nvPr/>
        </p:nvSpPr>
        <p:spPr bwMode="auto">
          <a:xfrm>
            <a:off x="5679629" y="4684990"/>
            <a:ext cx="1568330" cy="473321"/>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algn="ctr"/>
            <a:r>
              <a:rPr lang="en-US" altLang="zh-CN" dirty="0">
                <a:solidFill>
                  <a:schemeClr val="tx1"/>
                </a:solidFill>
              </a:rPr>
              <a:t>SDL</a:t>
            </a:r>
            <a:r>
              <a:rPr lang="zh-CN" altLang="en-US" dirty="0">
                <a:solidFill>
                  <a:schemeClr val="tx1"/>
                </a:solidFill>
              </a:rPr>
              <a:t>库</a:t>
            </a:r>
          </a:p>
        </p:txBody>
      </p:sp>
      <p:sp>
        <p:nvSpPr>
          <p:cNvPr id="68" name="椭圆 67">
            <a:extLst>
              <a:ext uri="{FF2B5EF4-FFF2-40B4-BE49-F238E27FC236}">
                <a16:creationId xmlns:a16="http://schemas.microsoft.com/office/drawing/2014/main" id="{C445E89C-65CF-C226-DF5E-46002D9E887B}"/>
              </a:ext>
            </a:extLst>
          </p:cNvPr>
          <p:cNvSpPr/>
          <p:nvPr/>
        </p:nvSpPr>
        <p:spPr bwMode="auto">
          <a:xfrm>
            <a:off x="7704881" y="4684989"/>
            <a:ext cx="1568330" cy="473321"/>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algn="ctr"/>
            <a:r>
              <a:rPr lang="en-US" altLang="zh-CN" sz="1400" dirty="0">
                <a:solidFill>
                  <a:schemeClr val="tx1"/>
                </a:solidFill>
              </a:rPr>
              <a:t>AM/NEMU</a:t>
            </a:r>
            <a:endParaRPr lang="zh-CN" altLang="en-US" sz="1400" dirty="0">
              <a:solidFill>
                <a:schemeClr val="tx1"/>
              </a:solidFill>
            </a:endParaRPr>
          </a:p>
        </p:txBody>
      </p:sp>
      <p:sp>
        <p:nvSpPr>
          <p:cNvPr id="69" name="椭圆 68">
            <a:extLst>
              <a:ext uri="{FF2B5EF4-FFF2-40B4-BE49-F238E27FC236}">
                <a16:creationId xmlns:a16="http://schemas.microsoft.com/office/drawing/2014/main" id="{BF7E60A9-6DE9-5702-D9CC-98457298293F}"/>
              </a:ext>
            </a:extLst>
          </p:cNvPr>
          <p:cNvSpPr/>
          <p:nvPr/>
        </p:nvSpPr>
        <p:spPr bwMode="auto">
          <a:xfrm>
            <a:off x="9723958" y="4684989"/>
            <a:ext cx="1568330" cy="473321"/>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algn="ctr"/>
            <a:r>
              <a:rPr lang="zh-CN" altLang="en-US" dirty="0">
                <a:solidFill>
                  <a:schemeClr val="tx1"/>
                </a:solidFill>
              </a:rPr>
              <a:t>应用层</a:t>
            </a:r>
          </a:p>
        </p:txBody>
      </p:sp>
      <p:sp>
        <p:nvSpPr>
          <p:cNvPr id="73" name="椭圆 72">
            <a:extLst>
              <a:ext uri="{FF2B5EF4-FFF2-40B4-BE49-F238E27FC236}">
                <a16:creationId xmlns:a16="http://schemas.microsoft.com/office/drawing/2014/main" id="{F9AED1ED-28F9-7C9E-6B4D-270F3CEDAF2D}"/>
              </a:ext>
            </a:extLst>
          </p:cNvPr>
          <p:cNvSpPr/>
          <p:nvPr/>
        </p:nvSpPr>
        <p:spPr bwMode="auto">
          <a:xfrm>
            <a:off x="3630088" y="4714376"/>
            <a:ext cx="1568330" cy="473321"/>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algn="ctr"/>
            <a:r>
              <a:rPr lang="zh-CN" altLang="en-US" sz="1600" dirty="0">
                <a:solidFill>
                  <a:schemeClr val="tx1"/>
                </a:solidFill>
              </a:rPr>
              <a:t>宿主机</a:t>
            </a:r>
            <a:r>
              <a:rPr lang="en-US" altLang="zh-CN" sz="1600" dirty="0">
                <a:solidFill>
                  <a:schemeClr val="tx1"/>
                </a:solidFill>
              </a:rPr>
              <a:t>OS</a:t>
            </a:r>
            <a:endParaRPr lang="zh-CN" altLang="en-US" sz="1600" dirty="0">
              <a:solidFill>
                <a:schemeClr val="tx1"/>
              </a:solidFill>
            </a:endParaRPr>
          </a:p>
        </p:txBody>
      </p:sp>
      <p:sp>
        <p:nvSpPr>
          <p:cNvPr id="74" name="椭圆 73">
            <a:extLst>
              <a:ext uri="{FF2B5EF4-FFF2-40B4-BE49-F238E27FC236}">
                <a16:creationId xmlns:a16="http://schemas.microsoft.com/office/drawing/2014/main" id="{0EC04CF5-0EBC-B6E1-A848-E5F1AD57D116}"/>
              </a:ext>
            </a:extLst>
          </p:cNvPr>
          <p:cNvSpPr/>
          <p:nvPr/>
        </p:nvSpPr>
        <p:spPr bwMode="auto">
          <a:xfrm>
            <a:off x="1580547" y="4743762"/>
            <a:ext cx="1568330" cy="473321"/>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algn="ctr"/>
            <a:r>
              <a:rPr lang="zh-CN" altLang="en-US" dirty="0">
                <a:solidFill>
                  <a:schemeClr val="tx1"/>
                </a:solidFill>
              </a:rPr>
              <a:t>硬件层</a:t>
            </a:r>
          </a:p>
        </p:txBody>
      </p:sp>
    </p:spTree>
    <p:extLst>
      <p:ext uri="{BB962C8B-B14F-4D97-AF65-F5344CB8AC3E}">
        <p14:creationId xmlns:p14="http://schemas.microsoft.com/office/powerpoint/2010/main" val="30174637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DE7F2E4-E2C4-12EC-96C8-E685B553B813}"/>
            </a:ext>
          </a:extLst>
        </p:cNvPr>
        <p:cNvGrpSpPr/>
        <p:nvPr/>
      </p:nvGrpSpPr>
      <p:grpSpPr bwMode="auto">
        <a:xfrm>
          <a:off x="0" y="0"/>
          <a:ext cx="0" cy="0"/>
          <a:chOff x="0" y="0"/>
          <a:chExt cx="0" cy="0"/>
        </a:xfrm>
      </p:grpSpPr>
      <p:sp>
        <p:nvSpPr>
          <p:cNvPr id="2" name="powerpoint template design by DAJU_PPT正版来源小红书大橘PPT微信DAJU_PPT请勿抄袭搬运！盗版必究！">
            <a:extLst>
              <a:ext uri="{FF2B5EF4-FFF2-40B4-BE49-F238E27FC236}">
                <a16:creationId xmlns:a16="http://schemas.microsoft.com/office/drawing/2014/main" id="{1F9759B4-ED9F-DE17-3BA5-27D8F225E144}"/>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3" name="powerpoint template design by DAJU_PPT正版来源小红书大橘PPT微信DAJU_PPT请勿抄袭搬运！盗版必究！">
            <a:extLst>
              <a:ext uri="{FF2B5EF4-FFF2-40B4-BE49-F238E27FC236}">
                <a16:creationId xmlns:a16="http://schemas.microsoft.com/office/drawing/2014/main" id="{48743519-8D7C-035F-EE7A-9B0133D7EFE3}"/>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4" name="powerpoint template design by DAJU_PPT正版来源小红书大橘PPT微信DAJU_PPT请勿抄袭搬运！盗版必究！">
            <a:extLst>
              <a:ext uri="{FF2B5EF4-FFF2-40B4-BE49-F238E27FC236}">
                <a16:creationId xmlns:a16="http://schemas.microsoft.com/office/drawing/2014/main" id="{099CB213-AE6E-B015-4598-B6FA6E1A9E80}"/>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400" b="1" i="0" u="none" strike="noStrike" cap="none" spc="0" dirty="0">
                <a:ln>
                  <a:noFill/>
                </a:ln>
                <a:solidFill>
                  <a:srgbClr val="00B050">
                    <a:alpha val="70000"/>
                  </a:srgbClr>
                </a:solidFill>
                <a:cs typeface="+mn-ea"/>
              </a:rPr>
              <a:t>考核题目讲解</a:t>
            </a:r>
            <a:endParaRPr lang="en-US" sz="2400" b="1" i="0" u="none" strike="noStrike" cap="none" spc="0" dirty="0">
              <a:ln>
                <a:noFill/>
              </a:ln>
              <a:solidFill>
                <a:srgbClr val="00B050">
                  <a:alpha val="70000"/>
                </a:srgbClr>
              </a:solidFill>
              <a:cs typeface="+mn-ea"/>
            </a:endParaRPr>
          </a:p>
        </p:txBody>
      </p:sp>
      <p:cxnSp>
        <p:nvCxnSpPr>
          <p:cNvPr id="5" name="powerpoint template design by DAJU_PPT正版来源小红书大橘PPT微信DAJU_PPT请勿抄袭搬运！盗版必究！">
            <a:extLst>
              <a:ext uri="{FF2B5EF4-FFF2-40B4-BE49-F238E27FC236}">
                <a16:creationId xmlns:a16="http://schemas.microsoft.com/office/drawing/2014/main" id="{148B8053-B5AE-3D8E-9F83-6A53A0AA5A54}"/>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powerpoint template design by DAJU_PPT正版来源小红书大橘PPT微信DAJU_PPT请勿抄袭搬运！盗版必究！">
            <a:extLst>
              <a:ext uri="{FF2B5EF4-FFF2-40B4-BE49-F238E27FC236}">
                <a16:creationId xmlns:a16="http://schemas.microsoft.com/office/drawing/2014/main" id="{E9F52EC5-AED4-A34C-F7F0-08872E03CA0D}"/>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powerpoint template design by DAJU_PPT正版来源小红书大橘PPT微信DAJU_PPT请勿抄袭搬运！盗版必究！">
            <a:extLst>
              <a:ext uri="{FF2B5EF4-FFF2-40B4-BE49-F238E27FC236}">
                <a16:creationId xmlns:a16="http://schemas.microsoft.com/office/drawing/2014/main" id="{61A30B69-C298-4ACC-2E56-319A99259697}"/>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8" name="图片 3">
            <a:extLst>
              <a:ext uri="{FF2B5EF4-FFF2-40B4-BE49-F238E27FC236}">
                <a16:creationId xmlns:a16="http://schemas.microsoft.com/office/drawing/2014/main" id="{C1E156E9-F844-A5D7-3893-AEE89D32EEEF}"/>
              </a:ext>
            </a:extLst>
          </p:cNvPr>
          <p:cNvPicPr>
            <a:picLocks noChangeAspect="1"/>
          </p:cNvPicPr>
          <p:nvPr/>
        </p:nvPicPr>
        <p:blipFill rotWithShape="1">
          <a:blip r:embed="rId3"/>
          <a:stretch/>
        </p:blipFill>
        <p:spPr bwMode="auto">
          <a:xfrm>
            <a:off x="0" y="0"/>
            <a:ext cx="778510" cy="720090"/>
          </a:xfrm>
          <a:prstGeom prst="rect">
            <a:avLst/>
          </a:prstGeom>
        </p:spPr>
      </p:pic>
      <p:sp>
        <p:nvSpPr>
          <p:cNvPr id="9" name="powerpoint template design by DAJU_PPT正版来源小红书大橘PPT微信DAJU_PPT请勿抄袭搬运！盗版必究！">
            <a:extLst>
              <a:ext uri="{FF2B5EF4-FFF2-40B4-BE49-F238E27FC236}">
                <a16:creationId xmlns:a16="http://schemas.microsoft.com/office/drawing/2014/main" id="{1355595A-BD33-C281-1A66-7F2AA17F4828}"/>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10" name="powerpoint template design by DAJU_PPT正版来源小红书大橘PPT微信DAJU_PPT请勿抄袭搬运！盗版必究！">
            <a:extLst>
              <a:ext uri="{FF2B5EF4-FFF2-40B4-BE49-F238E27FC236}">
                <a16:creationId xmlns:a16="http://schemas.microsoft.com/office/drawing/2014/main" id="{AEDCEE9D-C451-4F7F-69F4-40086F5320DB}"/>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dirty="0" err="1">
                <a:solidFill>
                  <a:schemeClr val="bg1">
                    <a:alpha val="70000"/>
                  </a:schemeClr>
                </a:solidFill>
                <a:cs typeface="+mn-ea"/>
              </a:rPr>
              <a:t>Makefile</a:t>
            </a:r>
            <a:r>
              <a:rPr lang="zh-CN" altLang="en-US" sz="2000" dirty="0">
                <a:solidFill>
                  <a:schemeClr val="bg1">
                    <a:alpha val="70000"/>
                  </a:schemeClr>
                </a:solidFill>
                <a:cs typeface="+mn-ea"/>
              </a:rPr>
              <a:t>调用链</a:t>
            </a:r>
            <a:endParaRPr lang="en-US" sz="2000" i="0" u="none" strike="noStrike" cap="none" spc="0" dirty="0">
              <a:ln>
                <a:noFill/>
              </a:ln>
              <a:solidFill>
                <a:schemeClr val="bg1">
                  <a:alpha val="70000"/>
                </a:schemeClr>
              </a:solidFill>
              <a:cs typeface="+mn-ea"/>
            </a:endParaRPr>
          </a:p>
        </p:txBody>
      </p:sp>
      <p:sp>
        <p:nvSpPr>
          <p:cNvPr id="11" name="powerpoint template design by DAJU_PPT正版来源小红书大橘PPT微信DAJU_PPT请勿抄袭搬运！盗版必究！">
            <a:extLst>
              <a:ext uri="{FF2B5EF4-FFF2-40B4-BE49-F238E27FC236}">
                <a16:creationId xmlns:a16="http://schemas.microsoft.com/office/drawing/2014/main" id="{24937206-3831-42D3-9DD6-87DBC8A18C5F}"/>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000" i="0" u="none" strike="noStrike" cap="none" spc="0" dirty="0">
                <a:ln>
                  <a:noFill/>
                </a:ln>
                <a:solidFill>
                  <a:schemeClr val="bg1">
                    <a:alpha val="70000"/>
                  </a:schemeClr>
                </a:solidFill>
                <a:cs typeface="+mn-ea"/>
              </a:rPr>
              <a:t>架构</a:t>
            </a:r>
            <a:r>
              <a:rPr lang="zh-CN" sz="2000" i="0" u="none" strike="noStrike" cap="none" spc="0" dirty="0">
                <a:ln>
                  <a:noFill/>
                </a:ln>
                <a:solidFill>
                  <a:schemeClr val="bg1">
                    <a:alpha val="70000"/>
                  </a:schemeClr>
                </a:solidFill>
                <a:cs typeface="+mn-ea"/>
              </a:rPr>
              <a:t>讲解</a:t>
            </a:r>
            <a:endParaRPr lang="en-US" sz="2000" i="0" u="none" strike="noStrike" cap="none" spc="0" dirty="0">
              <a:ln>
                <a:noFill/>
              </a:ln>
              <a:solidFill>
                <a:schemeClr val="bg1">
                  <a:alpha val="70000"/>
                </a:schemeClr>
              </a:solidFill>
              <a:cs typeface="+mn-ea"/>
            </a:endParaRPr>
          </a:p>
        </p:txBody>
      </p:sp>
      <p:cxnSp>
        <p:nvCxnSpPr>
          <p:cNvPr id="12" name="直接连接符 11">
            <a:extLst>
              <a:ext uri="{FF2B5EF4-FFF2-40B4-BE49-F238E27FC236}">
                <a16:creationId xmlns:a16="http://schemas.microsoft.com/office/drawing/2014/main" id="{2EC07F14-BD02-7A10-0BE2-6996DE70D235}"/>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9CD591C5-36F7-972A-FC54-E7D50A459FDD}"/>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标题 2">
            <a:extLst>
              <a:ext uri="{FF2B5EF4-FFF2-40B4-BE49-F238E27FC236}">
                <a16:creationId xmlns:a16="http://schemas.microsoft.com/office/drawing/2014/main" id="{751DC87C-5674-F161-36E9-00E74C501C5C}"/>
              </a:ext>
            </a:extLst>
          </p:cNvPr>
          <p:cNvSpPr>
            <a:spLocks noGrp="1"/>
          </p:cNvSpPr>
          <p:nvPr>
            <p:ph type="title"/>
          </p:nvPr>
        </p:nvSpPr>
        <p:spPr bwMode="auto">
          <a:xfrm>
            <a:off x="443230" y="873125"/>
            <a:ext cx="3714625" cy="403225"/>
          </a:xfrm>
        </p:spPr>
        <p:txBody>
          <a:bodyPr wrap="square"/>
          <a:lstStyle/>
          <a:p>
            <a:pPr>
              <a:defRPr/>
            </a:pPr>
            <a:r>
              <a:rPr lang="zh-CN" altLang="en-US" dirty="0"/>
              <a:t>打字游戏与状态机的联系</a:t>
            </a:r>
            <a:endParaRPr dirty="0"/>
          </a:p>
        </p:txBody>
      </p:sp>
      <p:cxnSp>
        <p:nvCxnSpPr>
          <p:cNvPr id="15" name="powerpoint template design by DAJU_PPT正版来源小红书大橘PPT微信DAJU_PPT请勿抄袭搬运！盗版必究！">
            <a:extLst>
              <a:ext uri="{FF2B5EF4-FFF2-40B4-BE49-F238E27FC236}">
                <a16:creationId xmlns:a16="http://schemas.microsoft.com/office/drawing/2014/main" id="{E3CAFDEE-793E-C561-5A19-F267CB4B6925}"/>
              </a:ext>
            </a:extLst>
          </p:cNvPr>
          <p:cNvCxnSpPr/>
          <p:nvPr/>
        </p:nvCxnSpPr>
        <p:spPr bwMode="auto">
          <a:xfrm>
            <a:off x="481890" y="1354204"/>
            <a:ext cx="276348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7" name="表格 16">
            <a:extLst>
              <a:ext uri="{FF2B5EF4-FFF2-40B4-BE49-F238E27FC236}">
                <a16:creationId xmlns:a16="http://schemas.microsoft.com/office/drawing/2014/main" id="{AFE1F4E6-899F-7305-805E-5D109E61EC26}"/>
              </a:ext>
            </a:extLst>
          </p:cNvPr>
          <p:cNvGraphicFramePr>
            <a:graphicFrameLocks noGrp="1"/>
          </p:cNvGraphicFramePr>
          <p:nvPr>
            <p:extLst>
              <p:ext uri="{D42A27DB-BD31-4B8C-83A1-F6EECF244321}">
                <p14:modId xmlns:p14="http://schemas.microsoft.com/office/powerpoint/2010/main" val="2732204725"/>
              </p:ext>
            </p:extLst>
          </p:nvPr>
        </p:nvGraphicFramePr>
        <p:xfrm>
          <a:off x="1557656" y="1683929"/>
          <a:ext cx="8127999" cy="25552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858812323"/>
                    </a:ext>
                  </a:extLst>
                </a:gridCol>
                <a:gridCol w="2709333">
                  <a:extLst>
                    <a:ext uri="{9D8B030D-6E8A-4147-A177-3AD203B41FA5}">
                      <a16:colId xmlns:a16="http://schemas.microsoft.com/office/drawing/2014/main" val="2591619130"/>
                    </a:ext>
                  </a:extLst>
                </a:gridCol>
                <a:gridCol w="2709333">
                  <a:extLst>
                    <a:ext uri="{9D8B030D-6E8A-4147-A177-3AD203B41FA5}">
                      <a16:colId xmlns:a16="http://schemas.microsoft.com/office/drawing/2014/main" val="1176556925"/>
                    </a:ext>
                  </a:extLst>
                </a:gridCol>
              </a:tblGrid>
              <a:tr h="370840">
                <a:tc>
                  <a:txBody>
                    <a:bodyPr/>
                    <a:lstStyle/>
                    <a:p>
                      <a:r>
                        <a:rPr lang="zh-CN" altLang="en-US" dirty="0"/>
                        <a:t>游戏组成</a:t>
                      </a:r>
                    </a:p>
                  </a:txBody>
                  <a:tcPr/>
                </a:tc>
                <a:tc>
                  <a:txBody>
                    <a:bodyPr/>
                    <a:lstStyle/>
                    <a:p>
                      <a:r>
                        <a:rPr lang="zh-CN" altLang="en-US" dirty="0"/>
                        <a:t>实现</a:t>
                      </a:r>
                    </a:p>
                  </a:txBody>
                  <a:tcPr/>
                </a:tc>
                <a:tc>
                  <a:txBody>
                    <a:bodyPr/>
                    <a:lstStyle/>
                    <a:p>
                      <a:r>
                        <a:rPr lang="zh-CN" altLang="en-US" dirty="0"/>
                        <a:t>状态机对应部分</a:t>
                      </a:r>
                    </a:p>
                  </a:txBody>
                  <a:tcPr/>
                </a:tc>
                <a:extLst>
                  <a:ext uri="{0D108BD9-81ED-4DB2-BD59-A6C34878D82A}">
                    <a16:rowId xmlns:a16="http://schemas.microsoft.com/office/drawing/2014/main" val="2807624239"/>
                  </a:ext>
                </a:extLst>
              </a:tr>
              <a:tr h="370840">
                <a:tc>
                  <a:txBody>
                    <a:bodyPr/>
                    <a:lstStyle/>
                    <a:p>
                      <a:r>
                        <a:rPr lang="zh-CN" altLang="en-US" dirty="0"/>
                        <a:t>外设初始化</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io_init(),video_init()</a:t>
                      </a:r>
                    </a:p>
                  </a:txBody>
                  <a:tcPr/>
                </a:tc>
                <a:tc>
                  <a:txBody>
                    <a:bodyPr/>
                    <a:lstStyle/>
                    <a:p>
                      <a:r>
                        <a:rPr lang="zh-CN" altLang="en-US" dirty="0"/>
                        <a:t>内部状态必要初始化</a:t>
                      </a:r>
                    </a:p>
                  </a:txBody>
                  <a:tcPr/>
                </a:tc>
                <a:extLst>
                  <a:ext uri="{0D108BD9-81ED-4DB2-BD59-A6C34878D82A}">
                    <a16:rowId xmlns:a16="http://schemas.microsoft.com/office/drawing/2014/main" val="3674776036"/>
                  </a:ext>
                </a:extLst>
              </a:tr>
              <a:tr h="370840">
                <a:tc>
                  <a:txBody>
                    <a:bodyPr/>
                    <a:lstStyle/>
                    <a:p>
                      <a:r>
                        <a:rPr lang="zh-CN" altLang="en-US" dirty="0"/>
                        <a:t>游戏对象数据</a:t>
                      </a:r>
                    </a:p>
                  </a:txBody>
                  <a:tcPr/>
                </a:tc>
                <a:tc>
                  <a:txBody>
                    <a:bodyPr/>
                    <a:lstStyle/>
                    <a:p>
                      <a:r>
                        <a:rPr lang="en-US" altLang="zh-CN" dirty="0"/>
                        <a:t>chars</a:t>
                      </a:r>
                      <a:r>
                        <a:rPr lang="zh-CN" altLang="en-US" dirty="0"/>
                        <a:t>数组以及全局变量</a:t>
                      </a:r>
                    </a:p>
                  </a:txBody>
                  <a:tcPr/>
                </a:tc>
                <a:tc>
                  <a:txBody>
                    <a:bodyPr/>
                    <a:lstStyle/>
                    <a:p>
                      <a:r>
                        <a:rPr lang="zh-CN" altLang="en-US" dirty="0"/>
                        <a:t>状态机内部状态</a:t>
                      </a:r>
                    </a:p>
                  </a:txBody>
                  <a:tcPr/>
                </a:tc>
                <a:extLst>
                  <a:ext uri="{0D108BD9-81ED-4DB2-BD59-A6C34878D82A}">
                    <a16:rowId xmlns:a16="http://schemas.microsoft.com/office/drawing/2014/main" val="705221944"/>
                  </a:ext>
                </a:extLst>
              </a:tr>
              <a:tr h="370840">
                <a:tc>
                  <a:txBody>
                    <a:bodyPr/>
                    <a:lstStyle/>
                    <a:p>
                      <a:r>
                        <a:rPr lang="zh-CN" altLang="en-US" dirty="0"/>
                        <a:t>键盘输入检测</a:t>
                      </a:r>
                    </a:p>
                  </a:txBody>
                  <a:tcPr/>
                </a:tc>
                <a:tc>
                  <a:txBody>
                    <a:bodyPr/>
                    <a:lstStyle/>
                    <a:p>
                      <a:r>
                        <a:rPr lang="en-US" altLang="zh-CN" dirty="0" err="1"/>
                        <a:t>io_read</a:t>
                      </a:r>
                      <a:r>
                        <a:rPr lang="en-US" altLang="zh-CN" dirty="0"/>
                        <a:t>(AM_INPUT)</a:t>
                      </a:r>
                      <a:endParaRPr lang="zh-CN" altLang="en-US" dirty="0"/>
                    </a:p>
                  </a:txBody>
                  <a:tcPr/>
                </a:tc>
                <a:tc>
                  <a:txBody>
                    <a:bodyPr/>
                    <a:lstStyle/>
                    <a:p>
                      <a:r>
                        <a:rPr lang="zh-CN" altLang="en-US" dirty="0"/>
                        <a:t>外部输入</a:t>
                      </a:r>
                    </a:p>
                  </a:txBody>
                  <a:tcPr/>
                </a:tc>
                <a:extLst>
                  <a:ext uri="{0D108BD9-81ED-4DB2-BD59-A6C34878D82A}">
                    <a16:rowId xmlns:a16="http://schemas.microsoft.com/office/drawing/2014/main" val="1045550276"/>
                  </a:ext>
                </a:extLst>
              </a:tr>
              <a:tr h="370840">
                <a:tc>
                  <a:txBody>
                    <a:bodyPr/>
                    <a:lstStyle/>
                    <a:p>
                      <a:r>
                        <a:rPr lang="zh-CN" altLang="en-US" dirty="0"/>
                        <a:t>游戏主程逻辑</a:t>
                      </a:r>
                    </a:p>
                  </a:txBody>
                  <a:tcPr/>
                </a:tc>
                <a:tc>
                  <a:txBody>
                    <a:bodyPr/>
                    <a:lstStyle/>
                    <a:p>
                      <a:r>
                        <a:rPr lang="en-US" altLang="zh-CN" sz="1400" dirty="0" err="1"/>
                        <a:t>new_char</a:t>
                      </a:r>
                      <a:r>
                        <a:rPr lang="en-US" altLang="zh-CN" sz="1400" dirty="0"/>
                        <a:t>()</a:t>
                      </a:r>
                    </a:p>
                    <a:p>
                      <a:r>
                        <a:rPr lang="en-US" altLang="zh-CN" sz="1400" dirty="0" err="1"/>
                        <a:t>game_logic_update</a:t>
                      </a:r>
                      <a:r>
                        <a:rPr lang="en-US" altLang="zh-CN" sz="1400" dirty="0"/>
                        <a:t>()</a:t>
                      </a:r>
                      <a:br>
                        <a:rPr lang="en-US" altLang="zh-CN" sz="1200" dirty="0"/>
                      </a:br>
                      <a:r>
                        <a:rPr lang="en-US" altLang="zh-CN" sz="1200" dirty="0" err="1"/>
                        <a:t>check_hit</a:t>
                      </a:r>
                      <a:r>
                        <a:rPr lang="en-US" altLang="zh-CN" sz="1200" dirty="0"/>
                        <a:t>()</a:t>
                      </a:r>
                      <a:endParaRPr lang="zh-CN" altLang="en-US" sz="1400" dirty="0"/>
                    </a:p>
                  </a:txBody>
                  <a:tcPr/>
                </a:tc>
                <a:tc>
                  <a:txBody>
                    <a:bodyPr/>
                    <a:lstStyle/>
                    <a:p>
                      <a:r>
                        <a:rPr lang="zh-CN" altLang="en-US" dirty="0"/>
                        <a:t>内部迭代规则</a:t>
                      </a:r>
                    </a:p>
                  </a:txBody>
                  <a:tcPr/>
                </a:tc>
                <a:extLst>
                  <a:ext uri="{0D108BD9-81ED-4DB2-BD59-A6C34878D82A}">
                    <a16:rowId xmlns:a16="http://schemas.microsoft.com/office/drawing/2014/main" val="3355818173"/>
                  </a:ext>
                </a:extLst>
              </a:tr>
              <a:tr h="370840">
                <a:tc>
                  <a:txBody>
                    <a:bodyPr/>
                    <a:lstStyle/>
                    <a:p>
                      <a:r>
                        <a:rPr lang="zh-CN" altLang="en-US" dirty="0"/>
                        <a:t>渲染输出</a:t>
                      </a:r>
                    </a:p>
                  </a:txBody>
                  <a:tcPr/>
                </a:tc>
                <a:tc>
                  <a:txBody>
                    <a:bodyPr/>
                    <a:lstStyle/>
                    <a:p>
                      <a:r>
                        <a:rPr lang="en-US" altLang="zh-CN" sz="1600" dirty="0" err="1"/>
                        <a:t>io_write</a:t>
                      </a:r>
                      <a:r>
                        <a:rPr lang="en-US" altLang="zh-CN" sz="1600" dirty="0"/>
                        <a:t>(AM_GPU_FBDAW)</a:t>
                      </a:r>
                      <a:endParaRPr lang="zh-CN" altLang="en-US" sz="1600" dirty="0"/>
                    </a:p>
                  </a:txBody>
                  <a:tcPr/>
                </a:tc>
                <a:tc>
                  <a:txBody>
                    <a:bodyPr/>
                    <a:lstStyle/>
                    <a:p>
                      <a:r>
                        <a:rPr lang="zh-CN" altLang="en-US" dirty="0"/>
                        <a:t>状态机输出</a:t>
                      </a:r>
                    </a:p>
                  </a:txBody>
                  <a:tcPr/>
                </a:tc>
                <a:extLst>
                  <a:ext uri="{0D108BD9-81ED-4DB2-BD59-A6C34878D82A}">
                    <a16:rowId xmlns:a16="http://schemas.microsoft.com/office/drawing/2014/main" val="42394560"/>
                  </a:ext>
                </a:extLst>
              </a:tr>
            </a:tbl>
          </a:graphicData>
        </a:graphic>
      </p:graphicFrame>
      <p:sp>
        <p:nvSpPr>
          <p:cNvPr id="27" name="任意多边形: 形状 26">
            <a:extLst>
              <a:ext uri="{FF2B5EF4-FFF2-40B4-BE49-F238E27FC236}">
                <a16:creationId xmlns:a16="http://schemas.microsoft.com/office/drawing/2014/main" id="{44CAA296-98F0-0BC8-FF45-20BAD29BF55B}"/>
              </a:ext>
            </a:extLst>
          </p:cNvPr>
          <p:cNvSpPr/>
          <p:nvPr/>
        </p:nvSpPr>
        <p:spPr>
          <a:xfrm>
            <a:off x="4027034" y="4891836"/>
            <a:ext cx="2796112" cy="775125"/>
          </a:xfrm>
          <a:custGeom>
            <a:avLst/>
            <a:gdLst>
              <a:gd name="connsiteX0" fmla="*/ 0 w 2796112"/>
              <a:gd name="connsiteY0" fmla="*/ 129190 h 775125"/>
              <a:gd name="connsiteX1" fmla="*/ 129190 w 2796112"/>
              <a:gd name="connsiteY1" fmla="*/ 0 h 775125"/>
              <a:gd name="connsiteX2" fmla="*/ 2666922 w 2796112"/>
              <a:gd name="connsiteY2" fmla="*/ 0 h 775125"/>
              <a:gd name="connsiteX3" fmla="*/ 2796112 w 2796112"/>
              <a:gd name="connsiteY3" fmla="*/ 129190 h 775125"/>
              <a:gd name="connsiteX4" fmla="*/ 2796112 w 2796112"/>
              <a:gd name="connsiteY4" fmla="*/ 645935 h 775125"/>
              <a:gd name="connsiteX5" fmla="*/ 2666922 w 2796112"/>
              <a:gd name="connsiteY5" fmla="*/ 775125 h 775125"/>
              <a:gd name="connsiteX6" fmla="*/ 129190 w 2796112"/>
              <a:gd name="connsiteY6" fmla="*/ 775125 h 775125"/>
              <a:gd name="connsiteX7" fmla="*/ 0 w 2796112"/>
              <a:gd name="connsiteY7" fmla="*/ 645935 h 775125"/>
              <a:gd name="connsiteX8" fmla="*/ 0 w 2796112"/>
              <a:gd name="connsiteY8" fmla="*/ 129190 h 7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96112" h="775125">
                <a:moveTo>
                  <a:pt x="0" y="129190"/>
                </a:moveTo>
                <a:cubicBezTo>
                  <a:pt x="0" y="57840"/>
                  <a:pt x="57840" y="0"/>
                  <a:pt x="129190" y="0"/>
                </a:cubicBezTo>
                <a:lnTo>
                  <a:pt x="2666922" y="0"/>
                </a:lnTo>
                <a:cubicBezTo>
                  <a:pt x="2738272" y="0"/>
                  <a:pt x="2796112" y="57840"/>
                  <a:pt x="2796112" y="129190"/>
                </a:cubicBezTo>
                <a:lnTo>
                  <a:pt x="2796112" y="645935"/>
                </a:lnTo>
                <a:cubicBezTo>
                  <a:pt x="2796112" y="717285"/>
                  <a:pt x="2738272" y="775125"/>
                  <a:pt x="2666922" y="775125"/>
                </a:cubicBezTo>
                <a:lnTo>
                  <a:pt x="129190" y="775125"/>
                </a:lnTo>
                <a:cubicBezTo>
                  <a:pt x="57840" y="775125"/>
                  <a:pt x="0" y="717285"/>
                  <a:pt x="0" y="645935"/>
                </a:cubicBezTo>
                <a:lnTo>
                  <a:pt x="0" y="12919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3088" tIns="133088" rIns="133088" bIns="133088" numCol="1" spcCol="1270" anchor="ctr" anchorCtr="0">
            <a:noAutofit/>
          </a:bodyPr>
          <a:lstStyle/>
          <a:p>
            <a:pPr marL="0" lvl="0" indent="0" algn="l" defTabSz="1111250">
              <a:lnSpc>
                <a:spcPct val="90000"/>
              </a:lnSpc>
              <a:spcBef>
                <a:spcPct val="0"/>
              </a:spcBef>
              <a:spcAft>
                <a:spcPct val="35000"/>
              </a:spcAft>
              <a:buNone/>
            </a:pPr>
            <a:r>
              <a:rPr lang="zh-CN" sz="2500" kern="1200" dirty="0"/>
              <a:t>程序就是状态机</a:t>
            </a:r>
          </a:p>
        </p:txBody>
      </p:sp>
    </p:spTree>
    <p:extLst>
      <p:ext uri="{BB962C8B-B14F-4D97-AF65-F5344CB8AC3E}">
        <p14:creationId xmlns:p14="http://schemas.microsoft.com/office/powerpoint/2010/main" val="32887638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81E168A-6DEE-0698-4A2F-8E09D1318659}"/>
            </a:ext>
          </a:extLst>
        </p:cNvPr>
        <p:cNvGrpSpPr/>
        <p:nvPr/>
      </p:nvGrpSpPr>
      <p:grpSpPr bwMode="auto">
        <a:xfrm>
          <a:off x="0" y="0"/>
          <a:ext cx="0" cy="0"/>
          <a:chOff x="0" y="0"/>
          <a:chExt cx="0" cy="0"/>
        </a:xfrm>
      </p:grpSpPr>
      <p:sp>
        <p:nvSpPr>
          <p:cNvPr id="2" name="powerpoint template design by DAJU_PPT正版来源小红书大橘PPT微信DAJU_PPT请勿抄袭搬运！盗版必究！">
            <a:extLst>
              <a:ext uri="{FF2B5EF4-FFF2-40B4-BE49-F238E27FC236}">
                <a16:creationId xmlns:a16="http://schemas.microsoft.com/office/drawing/2014/main" id="{03914549-5369-54CC-F8C2-CFE17BBB84F7}"/>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3" name="powerpoint template design by DAJU_PPT正版来源小红书大橘PPT微信DAJU_PPT请勿抄袭搬运！盗版必究！">
            <a:extLst>
              <a:ext uri="{FF2B5EF4-FFF2-40B4-BE49-F238E27FC236}">
                <a16:creationId xmlns:a16="http://schemas.microsoft.com/office/drawing/2014/main" id="{49669D3A-5DB8-9C19-705B-AAF2052934B2}"/>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4" name="powerpoint template design by DAJU_PPT正版来源小红书大橘PPT微信DAJU_PPT请勿抄袭搬运！盗版必究！">
            <a:extLst>
              <a:ext uri="{FF2B5EF4-FFF2-40B4-BE49-F238E27FC236}">
                <a16:creationId xmlns:a16="http://schemas.microsoft.com/office/drawing/2014/main" id="{E7A39E3B-B49E-5F7E-2D10-F51BE7582D72}"/>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sz="2400" b="1" i="0" u="none" strike="noStrike" cap="none" spc="0" dirty="0">
                <a:ln>
                  <a:noFill/>
                </a:ln>
                <a:solidFill>
                  <a:srgbClr val="00B050">
                    <a:alpha val="70000"/>
                  </a:srgbClr>
                </a:solidFill>
                <a:cs typeface="+mn-ea"/>
              </a:rPr>
              <a:t>考核题目讲解</a:t>
            </a:r>
            <a:endParaRPr lang="en-US" sz="2400" b="1" i="0" u="none" strike="noStrike" cap="none" spc="0" dirty="0">
              <a:ln>
                <a:noFill/>
              </a:ln>
              <a:solidFill>
                <a:srgbClr val="00B050">
                  <a:alpha val="70000"/>
                </a:srgbClr>
              </a:solidFill>
              <a:cs typeface="+mn-ea"/>
            </a:endParaRPr>
          </a:p>
        </p:txBody>
      </p:sp>
      <p:cxnSp>
        <p:nvCxnSpPr>
          <p:cNvPr id="5" name="powerpoint template design by DAJU_PPT正版来源小红书大橘PPT微信DAJU_PPT请勿抄袭搬运！盗版必究！">
            <a:extLst>
              <a:ext uri="{FF2B5EF4-FFF2-40B4-BE49-F238E27FC236}">
                <a16:creationId xmlns:a16="http://schemas.microsoft.com/office/drawing/2014/main" id="{17850077-7B87-D201-3DA1-33F85FD5DA8E}"/>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powerpoint template design by DAJU_PPT正版来源小红书大橘PPT微信DAJU_PPT请勿抄袭搬运！盗版必究！">
            <a:extLst>
              <a:ext uri="{FF2B5EF4-FFF2-40B4-BE49-F238E27FC236}">
                <a16:creationId xmlns:a16="http://schemas.microsoft.com/office/drawing/2014/main" id="{A815E1CB-5E6B-9640-ECA1-8610F0A10432}"/>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powerpoint template design by DAJU_PPT正版来源小红书大橘PPT微信DAJU_PPT请勿抄袭搬运！盗版必究！">
            <a:extLst>
              <a:ext uri="{FF2B5EF4-FFF2-40B4-BE49-F238E27FC236}">
                <a16:creationId xmlns:a16="http://schemas.microsoft.com/office/drawing/2014/main" id="{F9BA9AAA-F6E8-A7E5-3088-D6F7B95C968D}"/>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000" dirty="0">
                <a:ln>
                  <a:noFill/>
                </a:ln>
                <a:solidFill>
                  <a:schemeClr val="bg1">
                    <a:alpha val="70000"/>
                  </a:schemeClr>
                </a:solidFill>
                <a:cs typeface="+mn-ea"/>
              </a:rPr>
              <a:t>后记总结</a:t>
            </a:r>
            <a:endParaRPr lang="zh-CN" sz="2000" i="0" u="none" strike="noStrike" cap="none" spc="0" dirty="0">
              <a:ln>
                <a:noFill/>
              </a:ln>
              <a:solidFill>
                <a:schemeClr val="bg1">
                  <a:alpha val="70000"/>
                </a:schemeClr>
              </a:solidFill>
              <a:cs typeface="+mn-ea"/>
            </a:endParaRPr>
          </a:p>
        </p:txBody>
      </p:sp>
      <p:pic>
        <p:nvPicPr>
          <p:cNvPr id="8" name="图片 3">
            <a:extLst>
              <a:ext uri="{FF2B5EF4-FFF2-40B4-BE49-F238E27FC236}">
                <a16:creationId xmlns:a16="http://schemas.microsoft.com/office/drawing/2014/main" id="{44CB1690-1902-5E80-0387-B42F20AC3322}"/>
              </a:ext>
            </a:extLst>
          </p:cNvPr>
          <p:cNvPicPr>
            <a:picLocks noChangeAspect="1"/>
          </p:cNvPicPr>
          <p:nvPr/>
        </p:nvPicPr>
        <p:blipFill rotWithShape="1">
          <a:blip r:embed="rId3"/>
          <a:stretch/>
        </p:blipFill>
        <p:spPr bwMode="auto">
          <a:xfrm>
            <a:off x="0" y="0"/>
            <a:ext cx="778510" cy="720090"/>
          </a:xfrm>
          <a:prstGeom prst="rect">
            <a:avLst/>
          </a:prstGeom>
        </p:spPr>
      </p:pic>
      <p:sp>
        <p:nvSpPr>
          <p:cNvPr id="9" name="powerpoint template design by DAJU_PPT正版来源小红书大橘PPT微信DAJU_PPT请勿抄袭搬运！盗版必究！">
            <a:extLst>
              <a:ext uri="{FF2B5EF4-FFF2-40B4-BE49-F238E27FC236}">
                <a16:creationId xmlns:a16="http://schemas.microsoft.com/office/drawing/2014/main" id="{260F3632-18CF-3644-B8C6-780000831399}"/>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10" name="powerpoint template design by DAJU_PPT正版来源小红书大橘PPT微信DAJU_PPT请勿抄袭搬运！盗版必究！">
            <a:extLst>
              <a:ext uri="{FF2B5EF4-FFF2-40B4-BE49-F238E27FC236}">
                <a16:creationId xmlns:a16="http://schemas.microsoft.com/office/drawing/2014/main" id="{FD0AE44B-7666-CD51-092A-288C7A6292B8}"/>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dirty="0" err="1">
                <a:solidFill>
                  <a:schemeClr val="bg1">
                    <a:alpha val="70000"/>
                  </a:schemeClr>
                </a:solidFill>
                <a:cs typeface="+mn-ea"/>
              </a:rPr>
              <a:t>Makefile</a:t>
            </a:r>
            <a:r>
              <a:rPr lang="zh-CN" altLang="en-US" sz="2000" dirty="0">
                <a:solidFill>
                  <a:schemeClr val="bg1">
                    <a:alpha val="70000"/>
                  </a:schemeClr>
                </a:solidFill>
                <a:cs typeface="+mn-ea"/>
              </a:rPr>
              <a:t>调用链</a:t>
            </a:r>
            <a:endParaRPr lang="en-US" sz="2000" i="0" u="none" strike="noStrike" cap="none" spc="0" dirty="0">
              <a:ln>
                <a:noFill/>
              </a:ln>
              <a:solidFill>
                <a:schemeClr val="bg1">
                  <a:alpha val="70000"/>
                </a:schemeClr>
              </a:solidFill>
              <a:cs typeface="+mn-ea"/>
            </a:endParaRPr>
          </a:p>
        </p:txBody>
      </p:sp>
      <p:sp>
        <p:nvSpPr>
          <p:cNvPr id="11" name="powerpoint template design by DAJU_PPT正版来源小红书大橘PPT微信DAJU_PPT请勿抄袭搬运！盗版必究！">
            <a:extLst>
              <a:ext uri="{FF2B5EF4-FFF2-40B4-BE49-F238E27FC236}">
                <a16:creationId xmlns:a16="http://schemas.microsoft.com/office/drawing/2014/main" id="{DD36E1AD-6554-8343-E97F-385E5BDD5256}"/>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000" i="0" u="none" strike="noStrike" cap="none" spc="0" dirty="0">
                <a:ln>
                  <a:noFill/>
                </a:ln>
                <a:solidFill>
                  <a:schemeClr val="bg1">
                    <a:alpha val="70000"/>
                  </a:schemeClr>
                </a:solidFill>
                <a:cs typeface="+mn-ea"/>
              </a:rPr>
              <a:t>架构</a:t>
            </a:r>
            <a:r>
              <a:rPr lang="zh-CN" sz="2000" i="0" u="none" strike="noStrike" cap="none" spc="0" dirty="0">
                <a:ln>
                  <a:noFill/>
                </a:ln>
                <a:solidFill>
                  <a:schemeClr val="bg1">
                    <a:alpha val="70000"/>
                  </a:schemeClr>
                </a:solidFill>
                <a:cs typeface="+mn-ea"/>
              </a:rPr>
              <a:t>讲解</a:t>
            </a:r>
            <a:endParaRPr lang="en-US" sz="2000" i="0" u="none" strike="noStrike" cap="none" spc="0" dirty="0">
              <a:ln>
                <a:noFill/>
              </a:ln>
              <a:solidFill>
                <a:schemeClr val="bg1">
                  <a:alpha val="70000"/>
                </a:schemeClr>
              </a:solidFill>
              <a:cs typeface="+mn-ea"/>
            </a:endParaRPr>
          </a:p>
        </p:txBody>
      </p:sp>
      <p:cxnSp>
        <p:nvCxnSpPr>
          <p:cNvPr id="12" name="直接连接符 11">
            <a:extLst>
              <a:ext uri="{FF2B5EF4-FFF2-40B4-BE49-F238E27FC236}">
                <a16:creationId xmlns:a16="http://schemas.microsoft.com/office/drawing/2014/main" id="{ACB13779-BFC8-2F07-DF6E-C10C00868324}"/>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2098CAA2-2B22-4DAF-F09A-C193D9087991}"/>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标题 2">
            <a:extLst>
              <a:ext uri="{FF2B5EF4-FFF2-40B4-BE49-F238E27FC236}">
                <a16:creationId xmlns:a16="http://schemas.microsoft.com/office/drawing/2014/main" id="{18C05B77-E122-8540-69AC-2C80852B2887}"/>
              </a:ext>
            </a:extLst>
          </p:cNvPr>
          <p:cNvSpPr>
            <a:spLocks noGrp="1"/>
          </p:cNvSpPr>
          <p:nvPr>
            <p:ph type="title"/>
          </p:nvPr>
        </p:nvSpPr>
        <p:spPr bwMode="auto">
          <a:xfrm>
            <a:off x="443230" y="873125"/>
            <a:ext cx="2957195" cy="403225"/>
          </a:xfrm>
        </p:spPr>
        <p:txBody>
          <a:bodyPr wrap="square"/>
          <a:lstStyle/>
          <a:p>
            <a:pPr>
              <a:defRPr/>
            </a:pPr>
            <a:r>
              <a:rPr lang="zh-CN" altLang="en-US" dirty="0"/>
              <a:t>打字游戏启示</a:t>
            </a:r>
            <a:endParaRPr dirty="0"/>
          </a:p>
        </p:txBody>
      </p:sp>
      <p:cxnSp>
        <p:nvCxnSpPr>
          <p:cNvPr id="15" name="powerpoint template design by DAJU_PPT正版来源小红书大橘PPT微信DAJU_PPT请勿抄袭搬运！盗版必究！">
            <a:extLst>
              <a:ext uri="{FF2B5EF4-FFF2-40B4-BE49-F238E27FC236}">
                <a16:creationId xmlns:a16="http://schemas.microsoft.com/office/drawing/2014/main" id="{2B199CD3-AC93-649D-F8AE-06F995E0224E}"/>
              </a:ext>
            </a:extLst>
          </p:cNvPr>
          <p:cNvCxnSpPr/>
          <p:nvPr/>
        </p:nvCxnSpPr>
        <p:spPr bwMode="auto">
          <a:xfrm>
            <a:off x="481890" y="1354204"/>
            <a:ext cx="276348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13694B4E-1B27-C3A6-3A03-A1CC5DDD3BD5}"/>
              </a:ext>
            </a:extLst>
          </p:cNvPr>
          <p:cNvGrpSpPr/>
          <p:nvPr/>
        </p:nvGrpSpPr>
        <p:grpSpPr>
          <a:xfrm>
            <a:off x="831952" y="2040942"/>
            <a:ext cx="4403845" cy="2112428"/>
            <a:chOff x="1908591" y="2716186"/>
            <a:chExt cx="4403845" cy="2112428"/>
          </a:xfrm>
        </p:grpSpPr>
        <p:sp>
          <p:nvSpPr>
            <p:cNvPr id="22" name="任意多边形: 形状 21">
              <a:extLst>
                <a:ext uri="{FF2B5EF4-FFF2-40B4-BE49-F238E27FC236}">
                  <a16:creationId xmlns:a16="http://schemas.microsoft.com/office/drawing/2014/main" id="{A2A5DE43-E8B2-383A-9D9B-87F70C666381}"/>
                </a:ext>
              </a:extLst>
            </p:cNvPr>
            <p:cNvSpPr/>
            <p:nvPr/>
          </p:nvSpPr>
          <p:spPr>
            <a:xfrm rot="21600000">
              <a:off x="2209351" y="2716186"/>
              <a:ext cx="4103085" cy="601522"/>
            </a:xfrm>
            <a:custGeom>
              <a:avLst/>
              <a:gdLst>
                <a:gd name="connsiteX0" fmla="*/ 0 w 4103085"/>
                <a:gd name="connsiteY0" fmla="*/ 0 h 601520"/>
                <a:gd name="connsiteX1" fmla="*/ 3802325 w 4103085"/>
                <a:gd name="connsiteY1" fmla="*/ 0 h 601520"/>
                <a:gd name="connsiteX2" fmla="*/ 4103085 w 4103085"/>
                <a:gd name="connsiteY2" fmla="*/ 300760 h 601520"/>
                <a:gd name="connsiteX3" fmla="*/ 3802325 w 4103085"/>
                <a:gd name="connsiteY3" fmla="*/ 601520 h 601520"/>
                <a:gd name="connsiteX4" fmla="*/ 0 w 4103085"/>
                <a:gd name="connsiteY4" fmla="*/ 601520 h 601520"/>
                <a:gd name="connsiteX5" fmla="*/ 0 w 4103085"/>
                <a:gd name="connsiteY5" fmla="*/ 0 h 60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3085" h="601520">
                  <a:moveTo>
                    <a:pt x="4103085" y="601519"/>
                  </a:moveTo>
                  <a:lnTo>
                    <a:pt x="300760" y="601519"/>
                  </a:lnTo>
                  <a:lnTo>
                    <a:pt x="0" y="300760"/>
                  </a:lnTo>
                  <a:lnTo>
                    <a:pt x="300760" y="1"/>
                  </a:lnTo>
                  <a:lnTo>
                    <a:pt x="4103085" y="1"/>
                  </a:lnTo>
                  <a:lnTo>
                    <a:pt x="4103085" y="60151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15634" tIns="45721" rIns="85344" bIns="45721" numCol="1" spcCol="1270" anchor="ctr" anchorCtr="0">
              <a:noAutofit/>
            </a:bodyPr>
            <a:lstStyle/>
            <a:p>
              <a:pPr marL="0" lvl="0" indent="0" algn="ctr" defTabSz="533400">
                <a:lnSpc>
                  <a:spcPct val="90000"/>
                </a:lnSpc>
                <a:spcBef>
                  <a:spcPct val="0"/>
                </a:spcBef>
                <a:spcAft>
                  <a:spcPct val="35000"/>
                </a:spcAft>
                <a:buNone/>
              </a:pPr>
              <a:r>
                <a:rPr lang="zh-CN" sz="1200" kern="1200"/>
                <a:t>声明全局静态字符对象池，程序内部管理对象生命周期，省去了动态内存分配</a:t>
              </a:r>
            </a:p>
          </p:txBody>
        </p:sp>
        <p:sp>
          <p:nvSpPr>
            <p:cNvPr id="23" name="椭圆 22">
              <a:extLst>
                <a:ext uri="{FF2B5EF4-FFF2-40B4-BE49-F238E27FC236}">
                  <a16:creationId xmlns:a16="http://schemas.microsoft.com/office/drawing/2014/main" id="{180DCD9E-DD65-EAB5-60F5-09380E586663}"/>
                </a:ext>
              </a:extLst>
            </p:cNvPr>
            <p:cNvSpPr/>
            <p:nvPr/>
          </p:nvSpPr>
          <p:spPr>
            <a:xfrm>
              <a:off x="1908591" y="2716187"/>
              <a:ext cx="601520" cy="601520"/>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r>
                <a:rPr lang="en-US" altLang="zh-CN" dirty="0">
                  <a:solidFill>
                    <a:schemeClr val="tx1"/>
                  </a:solidFill>
                </a:rPr>
                <a:t>1</a:t>
              </a:r>
              <a:endParaRPr lang="zh-CN" altLang="en-US" dirty="0">
                <a:solidFill>
                  <a:schemeClr val="tx1"/>
                </a:solidFill>
              </a:endParaRPr>
            </a:p>
          </p:txBody>
        </p:sp>
        <p:sp>
          <p:nvSpPr>
            <p:cNvPr id="24" name="任意多边形: 形状 23">
              <a:extLst>
                <a:ext uri="{FF2B5EF4-FFF2-40B4-BE49-F238E27FC236}">
                  <a16:creationId xmlns:a16="http://schemas.microsoft.com/office/drawing/2014/main" id="{549A434A-0DD9-7D76-DE44-EDDB6049F038}"/>
                </a:ext>
              </a:extLst>
            </p:cNvPr>
            <p:cNvSpPr/>
            <p:nvPr/>
          </p:nvSpPr>
          <p:spPr>
            <a:xfrm>
              <a:off x="2209351" y="3471639"/>
              <a:ext cx="4103085" cy="601522"/>
            </a:xfrm>
            <a:custGeom>
              <a:avLst/>
              <a:gdLst>
                <a:gd name="connsiteX0" fmla="*/ 0 w 4103085"/>
                <a:gd name="connsiteY0" fmla="*/ 0 h 601520"/>
                <a:gd name="connsiteX1" fmla="*/ 3802325 w 4103085"/>
                <a:gd name="connsiteY1" fmla="*/ 0 h 601520"/>
                <a:gd name="connsiteX2" fmla="*/ 4103085 w 4103085"/>
                <a:gd name="connsiteY2" fmla="*/ 300760 h 601520"/>
                <a:gd name="connsiteX3" fmla="*/ 3802325 w 4103085"/>
                <a:gd name="connsiteY3" fmla="*/ 601520 h 601520"/>
                <a:gd name="connsiteX4" fmla="*/ 0 w 4103085"/>
                <a:gd name="connsiteY4" fmla="*/ 601520 h 601520"/>
                <a:gd name="connsiteX5" fmla="*/ 0 w 4103085"/>
                <a:gd name="connsiteY5" fmla="*/ 0 h 60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3085" h="601520">
                  <a:moveTo>
                    <a:pt x="4103085" y="601519"/>
                  </a:moveTo>
                  <a:lnTo>
                    <a:pt x="300760" y="601519"/>
                  </a:lnTo>
                  <a:lnTo>
                    <a:pt x="0" y="300760"/>
                  </a:lnTo>
                  <a:lnTo>
                    <a:pt x="300760" y="1"/>
                  </a:lnTo>
                  <a:lnTo>
                    <a:pt x="4103085" y="1"/>
                  </a:lnTo>
                  <a:lnTo>
                    <a:pt x="4103085" y="60151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15634" tIns="45721" rIns="85344" bIns="45721" numCol="1" spcCol="1270" anchor="ctr" anchorCtr="0">
              <a:noAutofit/>
            </a:bodyPr>
            <a:lstStyle/>
            <a:p>
              <a:pPr marL="0" lvl="0" indent="0" algn="ctr" defTabSz="533400">
                <a:lnSpc>
                  <a:spcPct val="90000"/>
                </a:lnSpc>
                <a:spcBef>
                  <a:spcPct val="0"/>
                </a:spcBef>
                <a:spcAft>
                  <a:spcPct val="35000"/>
                </a:spcAft>
                <a:buNone/>
              </a:pPr>
              <a:r>
                <a:rPr lang="zh-CN" sz="1200" kern="1200" dirty="0"/>
                <a:t>记录字符位置，渲染刷新逻辑只擦除字符区域的显存而不用写全屏帧缓冲</a:t>
              </a:r>
            </a:p>
          </p:txBody>
        </p:sp>
        <p:sp>
          <p:nvSpPr>
            <p:cNvPr id="25" name="椭圆 24">
              <a:extLst>
                <a:ext uri="{FF2B5EF4-FFF2-40B4-BE49-F238E27FC236}">
                  <a16:creationId xmlns:a16="http://schemas.microsoft.com/office/drawing/2014/main" id="{D823A180-19A0-960E-D336-4F38E6E4F192}"/>
                </a:ext>
              </a:extLst>
            </p:cNvPr>
            <p:cNvSpPr/>
            <p:nvPr/>
          </p:nvSpPr>
          <p:spPr>
            <a:xfrm>
              <a:off x="1908591" y="3471640"/>
              <a:ext cx="601520" cy="601520"/>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r>
                <a:rPr lang="en-US" altLang="zh-CN" dirty="0">
                  <a:solidFill>
                    <a:schemeClr val="tx1"/>
                  </a:solidFill>
                </a:rPr>
                <a:t>2</a:t>
              </a:r>
              <a:endParaRPr lang="zh-CN" altLang="en-US" dirty="0">
                <a:solidFill>
                  <a:schemeClr val="tx1"/>
                </a:solidFill>
              </a:endParaRPr>
            </a:p>
          </p:txBody>
        </p:sp>
        <p:sp>
          <p:nvSpPr>
            <p:cNvPr id="26" name="任意多边形: 形状 25">
              <a:extLst>
                <a:ext uri="{FF2B5EF4-FFF2-40B4-BE49-F238E27FC236}">
                  <a16:creationId xmlns:a16="http://schemas.microsoft.com/office/drawing/2014/main" id="{72277494-3AC6-56D1-BB9E-36B184A90F88}"/>
                </a:ext>
              </a:extLst>
            </p:cNvPr>
            <p:cNvSpPr/>
            <p:nvPr/>
          </p:nvSpPr>
          <p:spPr>
            <a:xfrm rot="21600000">
              <a:off x="2209351" y="4227094"/>
              <a:ext cx="4103085" cy="601520"/>
            </a:xfrm>
            <a:custGeom>
              <a:avLst/>
              <a:gdLst>
                <a:gd name="connsiteX0" fmla="*/ 0 w 4103085"/>
                <a:gd name="connsiteY0" fmla="*/ 0 h 601520"/>
                <a:gd name="connsiteX1" fmla="*/ 3802325 w 4103085"/>
                <a:gd name="connsiteY1" fmla="*/ 0 h 601520"/>
                <a:gd name="connsiteX2" fmla="*/ 4103085 w 4103085"/>
                <a:gd name="connsiteY2" fmla="*/ 300760 h 601520"/>
                <a:gd name="connsiteX3" fmla="*/ 3802325 w 4103085"/>
                <a:gd name="connsiteY3" fmla="*/ 601520 h 601520"/>
                <a:gd name="connsiteX4" fmla="*/ 0 w 4103085"/>
                <a:gd name="connsiteY4" fmla="*/ 601520 h 601520"/>
                <a:gd name="connsiteX5" fmla="*/ 0 w 4103085"/>
                <a:gd name="connsiteY5" fmla="*/ 0 h 60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3085" h="601520">
                  <a:moveTo>
                    <a:pt x="4103085" y="601519"/>
                  </a:moveTo>
                  <a:lnTo>
                    <a:pt x="300760" y="601519"/>
                  </a:lnTo>
                  <a:lnTo>
                    <a:pt x="0" y="300760"/>
                  </a:lnTo>
                  <a:lnTo>
                    <a:pt x="300760" y="1"/>
                  </a:lnTo>
                  <a:lnTo>
                    <a:pt x="4103085" y="1"/>
                  </a:lnTo>
                  <a:lnTo>
                    <a:pt x="4103085" y="60151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15634" tIns="45720" rIns="85344" bIns="45720" numCol="1" spcCol="1270" anchor="ctr" anchorCtr="0">
              <a:noAutofit/>
            </a:bodyPr>
            <a:lstStyle/>
            <a:p>
              <a:pPr marL="0" lvl="0" indent="0" algn="ctr" defTabSz="533400">
                <a:lnSpc>
                  <a:spcPct val="90000"/>
                </a:lnSpc>
                <a:spcBef>
                  <a:spcPct val="0"/>
                </a:spcBef>
                <a:spcAft>
                  <a:spcPct val="35000"/>
                </a:spcAft>
                <a:buNone/>
              </a:pPr>
              <a:r>
                <a:rPr lang="zh-CN" sz="1200" kern="1200" dirty="0"/>
                <a:t>提前预计算</a:t>
              </a:r>
              <a:r>
                <a:rPr lang="zh-CN" altLang="en-US" sz="1200" kern="1200" dirty="0"/>
                <a:t>，空间换时间</a:t>
              </a:r>
              <a:r>
                <a:rPr lang="zh-CN" sz="1200" kern="1200" dirty="0"/>
                <a:t>，尽量减少IO和系统调用的思想</a:t>
              </a:r>
            </a:p>
          </p:txBody>
        </p:sp>
        <p:sp>
          <p:nvSpPr>
            <p:cNvPr id="27" name="椭圆 26">
              <a:extLst>
                <a:ext uri="{FF2B5EF4-FFF2-40B4-BE49-F238E27FC236}">
                  <a16:creationId xmlns:a16="http://schemas.microsoft.com/office/drawing/2014/main" id="{CBBD1BE3-BB80-06D4-4683-55564ED0120C}"/>
                </a:ext>
              </a:extLst>
            </p:cNvPr>
            <p:cNvSpPr/>
            <p:nvPr/>
          </p:nvSpPr>
          <p:spPr>
            <a:xfrm>
              <a:off x="1908591" y="4227094"/>
              <a:ext cx="601520" cy="601520"/>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r>
                <a:rPr lang="en-US" altLang="zh-CN" dirty="0">
                  <a:solidFill>
                    <a:schemeClr val="tx1"/>
                  </a:solidFill>
                </a:rPr>
                <a:t>3</a:t>
              </a:r>
              <a:endParaRPr lang="zh-CN" altLang="en-US" dirty="0">
                <a:solidFill>
                  <a:schemeClr val="tx1"/>
                </a:solidFill>
              </a:endParaRPr>
            </a:p>
          </p:txBody>
        </p:sp>
      </p:grpSp>
      <p:sp>
        <p:nvSpPr>
          <p:cNvPr id="20" name="标题 2">
            <a:extLst>
              <a:ext uri="{FF2B5EF4-FFF2-40B4-BE49-F238E27FC236}">
                <a16:creationId xmlns:a16="http://schemas.microsoft.com/office/drawing/2014/main" id="{5F802A79-3281-39E8-9D6D-3348CBFAB6DE}"/>
              </a:ext>
            </a:extLst>
          </p:cNvPr>
          <p:cNvSpPr txBox="1">
            <a:spLocks/>
          </p:cNvSpPr>
          <p:nvPr/>
        </p:nvSpPr>
        <p:spPr bwMode="auto">
          <a:xfrm>
            <a:off x="7785959" y="892175"/>
            <a:ext cx="2957195" cy="403225"/>
          </a:xfrm>
          <a:prstGeom prst="rect">
            <a:avLst/>
          </a:prstGeom>
        </p:spPr>
        <p:txBody>
          <a:bodyPr wrap="square" lIns="72000" tIns="36000" rIns="72000" bIns="36000">
            <a:spAutoFit/>
          </a:bodyPr>
          <a:lstStyle>
            <a:lvl1pPr algn="l" defTabSz="914400" rtl="0">
              <a:lnSpc>
                <a:spcPct val="90000"/>
              </a:lnSpc>
              <a:spcBef>
                <a:spcPts val="0"/>
              </a:spcBef>
              <a:buNone/>
              <a:defRPr lang="zh-CN" sz="2400" b="1" spc="0">
                <a:solidFill>
                  <a:schemeClr val="accent1"/>
                </a:solidFill>
                <a:latin typeface="+mj-ea"/>
                <a:ea typeface="+mj-ea"/>
                <a:cs typeface="+mn-cs"/>
              </a:defRPr>
            </a:lvl1pPr>
          </a:lstStyle>
          <a:p>
            <a:pPr>
              <a:defRPr/>
            </a:pPr>
            <a:r>
              <a:rPr lang="en-US" altLang="zh-CN" dirty="0"/>
              <a:t>VGA</a:t>
            </a:r>
            <a:r>
              <a:rPr lang="zh-CN" altLang="en-US" dirty="0"/>
              <a:t>实现难点</a:t>
            </a:r>
          </a:p>
        </p:txBody>
      </p:sp>
      <p:cxnSp>
        <p:nvCxnSpPr>
          <p:cNvPr id="28" name="powerpoint template design by DAJU_PPT正版来源小红书大橘PPT微信DAJU_PPT请勿抄袭搬运！盗版必究！">
            <a:extLst>
              <a:ext uri="{FF2B5EF4-FFF2-40B4-BE49-F238E27FC236}">
                <a16:creationId xmlns:a16="http://schemas.microsoft.com/office/drawing/2014/main" id="{2ED44B8C-4082-53F3-F506-3B1A3754DC5F}"/>
              </a:ext>
            </a:extLst>
          </p:cNvPr>
          <p:cNvCxnSpPr/>
          <p:nvPr/>
        </p:nvCxnSpPr>
        <p:spPr bwMode="auto">
          <a:xfrm>
            <a:off x="7824619" y="1373254"/>
            <a:ext cx="276348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9" name="组合 28">
            <a:extLst>
              <a:ext uri="{FF2B5EF4-FFF2-40B4-BE49-F238E27FC236}">
                <a16:creationId xmlns:a16="http://schemas.microsoft.com/office/drawing/2014/main" id="{EE0FD731-A458-8409-FD60-072788171A3E}"/>
              </a:ext>
            </a:extLst>
          </p:cNvPr>
          <p:cNvGrpSpPr/>
          <p:nvPr/>
        </p:nvGrpSpPr>
        <p:grpSpPr>
          <a:xfrm>
            <a:off x="7062633" y="1986173"/>
            <a:ext cx="4403845" cy="1356975"/>
            <a:chOff x="1908591" y="2716186"/>
            <a:chExt cx="4403845" cy="1356975"/>
          </a:xfrm>
        </p:grpSpPr>
        <p:sp>
          <p:nvSpPr>
            <p:cNvPr id="30" name="任意多边形: 形状 29">
              <a:extLst>
                <a:ext uri="{FF2B5EF4-FFF2-40B4-BE49-F238E27FC236}">
                  <a16:creationId xmlns:a16="http://schemas.microsoft.com/office/drawing/2014/main" id="{563ABC92-2755-08F8-6E9E-8233CDDB4077}"/>
                </a:ext>
              </a:extLst>
            </p:cNvPr>
            <p:cNvSpPr/>
            <p:nvPr/>
          </p:nvSpPr>
          <p:spPr>
            <a:xfrm rot="21600000">
              <a:off x="2209351" y="2716186"/>
              <a:ext cx="4103085" cy="601522"/>
            </a:xfrm>
            <a:custGeom>
              <a:avLst/>
              <a:gdLst>
                <a:gd name="connsiteX0" fmla="*/ 0 w 4103085"/>
                <a:gd name="connsiteY0" fmla="*/ 0 h 601520"/>
                <a:gd name="connsiteX1" fmla="*/ 3802325 w 4103085"/>
                <a:gd name="connsiteY1" fmla="*/ 0 h 601520"/>
                <a:gd name="connsiteX2" fmla="*/ 4103085 w 4103085"/>
                <a:gd name="connsiteY2" fmla="*/ 300760 h 601520"/>
                <a:gd name="connsiteX3" fmla="*/ 3802325 w 4103085"/>
                <a:gd name="connsiteY3" fmla="*/ 601520 h 601520"/>
                <a:gd name="connsiteX4" fmla="*/ 0 w 4103085"/>
                <a:gd name="connsiteY4" fmla="*/ 601520 h 601520"/>
                <a:gd name="connsiteX5" fmla="*/ 0 w 4103085"/>
                <a:gd name="connsiteY5" fmla="*/ 0 h 60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3085" h="601520">
                  <a:moveTo>
                    <a:pt x="4103085" y="601519"/>
                  </a:moveTo>
                  <a:lnTo>
                    <a:pt x="300760" y="601519"/>
                  </a:lnTo>
                  <a:lnTo>
                    <a:pt x="0" y="300760"/>
                  </a:lnTo>
                  <a:lnTo>
                    <a:pt x="300760" y="1"/>
                  </a:lnTo>
                  <a:lnTo>
                    <a:pt x="4103085" y="1"/>
                  </a:lnTo>
                  <a:lnTo>
                    <a:pt x="4103085" y="60151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15634" tIns="45721" rIns="85344" bIns="45721"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像素块行列坐标与显存的换算关系</a:t>
              </a:r>
              <a:endParaRPr lang="zh-CN" sz="1200" kern="1200" dirty="0"/>
            </a:p>
          </p:txBody>
        </p:sp>
        <p:sp>
          <p:nvSpPr>
            <p:cNvPr id="31" name="椭圆 30">
              <a:extLst>
                <a:ext uri="{FF2B5EF4-FFF2-40B4-BE49-F238E27FC236}">
                  <a16:creationId xmlns:a16="http://schemas.microsoft.com/office/drawing/2014/main" id="{BC3399C8-BCA5-67BF-40F6-57BC560C7D27}"/>
                </a:ext>
              </a:extLst>
            </p:cNvPr>
            <p:cNvSpPr/>
            <p:nvPr/>
          </p:nvSpPr>
          <p:spPr>
            <a:xfrm>
              <a:off x="1908591" y="2716187"/>
              <a:ext cx="601520" cy="601520"/>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r>
                <a:rPr lang="en-US" altLang="zh-CN" dirty="0">
                  <a:solidFill>
                    <a:schemeClr val="tx1"/>
                  </a:solidFill>
                </a:rPr>
                <a:t>1</a:t>
              </a:r>
              <a:endParaRPr lang="zh-CN" altLang="en-US" dirty="0">
                <a:solidFill>
                  <a:schemeClr val="tx1"/>
                </a:solidFill>
              </a:endParaRPr>
            </a:p>
          </p:txBody>
        </p:sp>
        <p:sp>
          <p:nvSpPr>
            <p:cNvPr id="32" name="任意多边形: 形状 31">
              <a:extLst>
                <a:ext uri="{FF2B5EF4-FFF2-40B4-BE49-F238E27FC236}">
                  <a16:creationId xmlns:a16="http://schemas.microsoft.com/office/drawing/2014/main" id="{2621A778-8988-3583-4DC1-F1506D64B65E}"/>
                </a:ext>
              </a:extLst>
            </p:cNvPr>
            <p:cNvSpPr/>
            <p:nvPr/>
          </p:nvSpPr>
          <p:spPr>
            <a:xfrm>
              <a:off x="2209351" y="3471639"/>
              <a:ext cx="4103085" cy="601522"/>
            </a:xfrm>
            <a:custGeom>
              <a:avLst/>
              <a:gdLst>
                <a:gd name="connsiteX0" fmla="*/ 0 w 4103085"/>
                <a:gd name="connsiteY0" fmla="*/ 0 h 601520"/>
                <a:gd name="connsiteX1" fmla="*/ 3802325 w 4103085"/>
                <a:gd name="connsiteY1" fmla="*/ 0 h 601520"/>
                <a:gd name="connsiteX2" fmla="*/ 4103085 w 4103085"/>
                <a:gd name="connsiteY2" fmla="*/ 300760 h 601520"/>
                <a:gd name="connsiteX3" fmla="*/ 3802325 w 4103085"/>
                <a:gd name="connsiteY3" fmla="*/ 601520 h 601520"/>
                <a:gd name="connsiteX4" fmla="*/ 0 w 4103085"/>
                <a:gd name="connsiteY4" fmla="*/ 601520 h 601520"/>
                <a:gd name="connsiteX5" fmla="*/ 0 w 4103085"/>
                <a:gd name="connsiteY5" fmla="*/ 0 h 60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3085" h="601520">
                  <a:moveTo>
                    <a:pt x="4103085" y="601519"/>
                  </a:moveTo>
                  <a:lnTo>
                    <a:pt x="300760" y="601519"/>
                  </a:lnTo>
                  <a:lnTo>
                    <a:pt x="0" y="300760"/>
                  </a:lnTo>
                  <a:lnTo>
                    <a:pt x="300760" y="1"/>
                  </a:lnTo>
                  <a:lnTo>
                    <a:pt x="4103085" y="1"/>
                  </a:lnTo>
                  <a:lnTo>
                    <a:pt x="4103085" y="60151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15634" tIns="45721" rIns="85344" bIns="45721"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图像白条、图像撕裂之类的显存</a:t>
              </a:r>
              <a:r>
                <a:rPr lang="en-US" altLang="zh-CN" sz="1200" kern="1200" dirty="0"/>
                <a:t>BUG</a:t>
              </a:r>
              <a:r>
                <a:rPr lang="zh-CN" altLang="en-US" sz="1200" kern="1200" dirty="0"/>
                <a:t>调试</a:t>
              </a:r>
              <a:endParaRPr lang="zh-CN" sz="1200" kern="1200" dirty="0"/>
            </a:p>
          </p:txBody>
        </p:sp>
        <p:sp>
          <p:nvSpPr>
            <p:cNvPr id="33" name="椭圆 32">
              <a:extLst>
                <a:ext uri="{FF2B5EF4-FFF2-40B4-BE49-F238E27FC236}">
                  <a16:creationId xmlns:a16="http://schemas.microsoft.com/office/drawing/2014/main" id="{78932404-2623-9F12-4DA2-13267F27339A}"/>
                </a:ext>
              </a:extLst>
            </p:cNvPr>
            <p:cNvSpPr/>
            <p:nvPr/>
          </p:nvSpPr>
          <p:spPr>
            <a:xfrm>
              <a:off x="1908591" y="3471640"/>
              <a:ext cx="601520" cy="601520"/>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r>
                <a:rPr lang="en-US" altLang="zh-CN" dirty="0">
                  <a:solidFill>
                    <a:schemeClr val="tx1"/>
                  </a:solidFill>
                </a:rPr>
                <a:t>2</a:t>
              </a:r>
              <a:endParaRPr lang="zh-CN" altLang="en-US" dirty="0">
                <a:solidFill>
                  <a:schemeClr val="tx1"/>
                </a:solidFill>
              </a:endParaRPr>
            </a:p>
          </p:txBody>
        </p:sp>
      </p:grpSp>
    </p:spTree>
    <p:extLst>
      <p:ext uri="{BB962C8B-B14F-4D97-AF65-F5344CB8AC3E}">
        <p14:creationId xmlns:p14="http://schemas.microsoft.com/office/powerpoint/2010/main" val="46056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E0977B3-E98F-226A-810D-90A64A1B2725}"/>
            </a:ext>
          </a:extLst>
        </p:cNvPr>
        <p:cNvGrpSpPr/>
        <p:nvPr/>
      </p:nvGrpSpPr>
      <p:grpSpPr bwMode="auto">
        <a:xfrm>
          <a:off x="0" y="0"/>
          <a:ext cx="0" cy="0"/>
          <a:chOff x="0" y="0"/>
          <a:chExt cx="0" cy="0"/>
        </a:xfrm>
      </p:grpSpPr>
      <p:sp>
        <p:nvSpPr>
          <p:cNvPr id="2" name="powerpoint template design by DAJU_PPT正版来源小红书大橘PPT微信DAJU_PPT请勿抄袭搬运！盗版必究！">
            <a:extLst>
              <a:ext uri="{FF2B5EF4-FFF2-40B4-BE49-F238E27FC236}">
                <a16:creationId xmlns:a16="http://schemas.microsoft.com/office/drawing/2014/main" id="{8B37B33F-EA55-870D-E684-ACB0A22D5EB6}"/>
              </a:ext>
            </a:extLst>
          </p:cNvPr>
          <p:cNvSpPr/>
          <p:nvPr/>
        </p:nvSpPr>
        <p:spPr bwMode="auto">
          <a:xfrm>
            <a:off x="0" y="-1"/>
            <a:ext cx="12192000" cy="719633"/>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buClrTx/>
              <a:buSzTx/>
              <a:buFontTx/>
              <a:defRPr/>
            </a:pPr>
            <a:r>
              <a:rPr lang="zh-CN" sz="2400" b="1" dirty="0">
                <a:ln>
                  <a:noFill/>
                </a:ln>
                <a:solidFill>
                  <a:schemeClr val="bg1"/>
                </a:solidFill>
                <a:cs typeface="+mn-ea"/>
              </a:rPr>
              <a:t>       </a:t>
            </a:r>
            <a:r>
              <a:rPr lang="en-US" altLang="zh-CN" sz="2400" b="1" dirty="0">
                <a:ln>
                  <a:noFill/>
                </a:ln>
                <a:solidFill>
                  <a:schemeClr val="bg1"/>
                </a:solidFill>
                <a:cs typeface="+mn-ea"/>
              </a:rPr>
              <a:t>	</a:t>
            </a:r>
            <a:endParaRPr lang="zh-CN" sz="2400" b="1" dirty="0">
              <a:ln>
                <a:noFill/>
              </a:ln>
              <a:solidFill>
                <a:schemeClr val="bg1"/>
              </a:solidFill>
              <a:cs typeface="+mn-ea"/>
            </a:endParaRPr>
          </a:p>
        </p:txBody>
      </p:sp>
      <p:sp>
        <p:nvSpPr>
          <p:cNvPr id="3" name="powerpoint template design by DAJU_PPT正版来源小红书大橘PPT微信DAJU_PPT请勿抄袭搬运！盗版必究！">
            <a:extLst>
              <a:ext uri="{FF2B5EF4-FFF2-40B4-BE49-F238E27FC236}">
                <a16:creationId xmlns:a16="http://schemas.microsoft.com/office/drawing/2014/main" id="{1B197961-B53D-04AE-AEBF-752EAED52CC2}"/>
              </a:ext>
            </a:extLst>
          </p:cNvPr>
          <p:cNvSpPr txBox="1"/>
          <p:nvPr/>
        </p:nvSpPr>
        <p:spPr bwMode="auto">
          <a:xfrm>
            <a:off x="1257300" y="43180"/>
            <a:ext cx="1682750" cy="63309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endParaRPr lang="en-US" sz="2400" b="1" i="0" u="none" strike="noStrike" cap="none" spc="0">
              <a:ln>
                <a:noFill/>
              </a:ln>
              <a:solidFill>
                <a:schemeClr val="bg1"/>
              </a:solidFill>
              <a:cs typeface="+mn-ea"/>
            </a:endParaRPr>
          </a:p>
        </p:txBody>
      </p:sp>
      <p:sp>
        <p:nvSpPr>
          <p:cNvPr id="4" name="powerpoint template design by DAJU_PPT正版来源小红书大橘PPT微信DAJU_PPT请勿抄袭搬运！盗版必究！">
            <a:extLst>
              <a:ext uri="{FF2B5EF4-FFF2-40B4-BE49-F238E27FC236}">
                <a16:creationId xmlns:a16="http://schemas.microsoft.com/office/drawing/2014/main" id="{589ED835-BE9A-7B02-6F44-A07CB8059953}"/>
              </a:ext>
            </a:extLst>
          </p:cNvPr>
          <p:cNvSpPr txBox="1"/>
          <p:nvPr/>
        </p:nvSpPr>
        <p:spPr bwMode="auto">
          <a:xfrm>
            <a:off x="7333795" y="43234"/>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000" dirty="0">
                <a:solidFill>
                  <a:schemeClr val="bg1">
                    <a:alpha val="70000"/>
                  </a:schemeClr>
                </a:solidFill>
                <a:cs typeface="+mn-ea"/>
              </a:rPr>
              <a:t>考核题目讲解</a:t>
            </a:r>
            <a:endParaRPr lang="en-US" sz="2000" dirty="0">
              <a:solidFill>
                <a:schemeClr val="bg1">
                  <a:alpha val="70000"/>
                </a:schemeClr>
              </a:solidFill>
              <a:cs typeface="+mn-ea"/>
            </a:endParaRPr>
          </a:p>
        </p:txBody>
      </p:sp>
      <p:cxnSp>
        <p:nvCxnSpPr>
          <p:cNvPr id="5" name="powerpoint template design by DAJU_PPT正版来源小红书大橘PPT微信DAJU_PPT请勿抄袭搬运！盗版必究！">
            <a:extLst>
              <a:ext uri="{FF2B5EF4-FFF2-40B4-BE49-F238E27FC236}">
                <a16:creationId xmlns:a16="http://schemas.microsoft.com/office/drawing/2014/main" id="{0BD5C706-CEE5-A9FD-D0C4-02B26C0C1EF0}"/>
              </a:ext>
            </a:extLst>
          </p:cNvPr>
          <p:cNvCxnSpPr/>
          <p:nvPr/>
        </p:nvCxnSpPr>
        <p:spPr bwMode="auto">
          <a:xfrm>
            <a:off x="7441109" y="135519"/>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powerpoint template design by DAJU_PPT正版来源小红书大橘PPT微信DAJU_PPT请勿抄袭搬运！盗版必究！">
            <a:extLst>
              <a:ext uri="{FF2B5EF4-FFF2-40B4-BE49-F238E27FC236}">
                <a16:creationId xmlns:a16="http://schemas.microsoft.com/office/drawing/2014/main" id="{D5A84F3C-CD25-72C7-78B5-BF5205AB0B09}"/>
              </a:ext>
            </a:extLst>
          </p:cNvPr>
          <p:cNvCxnSpPr/>
          <p:nvPr/>
        </p:nvCxnSpPr>
        <p:spPr bwMode="auto">
          <a:xfrm>
            <a:off x="9762669" y="136154"/>
            <a:ext cx="0" cy="448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powerpoint template design by DAJU_PPT正版来源小红书大橘PPT微信DAJU_PPT请勿抄袭搬运！盗版必究！">
            <a:extLst>
              <a:ext uri="{FF2B5EF4-FFF2-40B4-BE49-F238E27FC236}">
                <a16:creationId xmlns:a16="http://schemas.microsoft.com/office/drawing/2014/main" id="{9C907A86-8325-F398-3A1B-958E5F8ED67B}"/>
              </a:ext>
            </a:extLst>
          </p:cNvPr>
          <p:cNvSpPr txBox="1"/>
          <p:nvPr/>
        </p:nvSpPr>
        <p:spPr bwMode="auto">
          <a:xfrm>
            <a:off x="9685655" y="88900"/>
            <a:ext cx="2184400" cy="541655"/>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buClrTx/>
              <a:buSzTx/>
              <a:buFontTx/>
              <a:defRPr/>
            </a:pPr>
            <a:r>
              <a:rPr lang="zh-CN" altLang="en-US" sz="2400" b="1" dirty="0">
                <a:ln>
                  <a:noFill/>
                </a:ln>
                <a:solidFill>
                  <a:srgbClr val="00B050">
                    <a:alpha val="70000"/>
                  </a:srgbClr>
                </a:solidFill>
                <a:cs typeface="+mn-ea"/>
              </a:rPr>
              <a:t>后记总结</a:t>
            </a:r>
            <a:endParaRPr lang="zh-CN" sz="2400" b="1" i="0" u="none" strike="noStrike" cap="none" spc="0" dirty="0">
              <a:ln>
                <a:noFill/>
              </a:ln>
              <a:solidFill>
                <a:srgbClr val="00B050">
                  <a:alpha val="70000"/>
                </a:srgbClr>
              </a:solidFill>
              <a:cs typeface="+mn-ea"/>
            </a:endParaRPr>
          </a:p>
        </p:txBody>
      </p:sp>
      <p:pic>
        <p:nvPicPr>
          <p:cNvPr id="8" name="图片 3">
            <a:extLst>
              <a:ext uri="{FF2B5EF4-FFF2-40B4-BE49-F238E27FC236}">
                <a16:creationId xmlns:a16="http://schemas.microsoft.com/office/drawing/2014/main" id="{D7C9868F-48F8-A6C1-EE4C-DC1541FD23DB}"/>
              </a:ext>
            </a:extLst>
          </p:cNvPr>
          <p:cNvPicPr>
            <a:picLocks noChangeAspect="1"/>
          </p:cNvPicPr>
          <p:nvPr/>
        </p:nvPicPr>
        <p:blipFill rotWithShape="1">
          <a:blip r:embed="rId3"/>
          <a:stretch/>
        </p:blipFill>
        <p:spPr bwMode="auto">
          <a:xfrm>
            <a:off x="0" y="0"/>
            <a:ext cx="778510" cy="720090"/>
          </a:xfrm>
          <a:prstGeom prst="rect">
            <a:avLst/>
          </a:prstGeom>
        </p:spPr>
      </p:pic>
      <p:sp>
        <p:nvSpPr>
          <p:cNvPr id="9" name="powerpoint template design by DAJU_PPT正版来源小红书大橘PPT微信DAJU_PPT请勿抄袭搬运！盗版必究！">
            <a:extLst>
              <a:ext uri="{FF2B5EF4-FFF2-40B4-BE49-F238E27FC236}">
                <a16:creationId xmlns:a16="http://schemas.microsoft.com/office/drawing/2014/main" id="{0103710B-D64C-7FD0-E816-B2F6DEAB38AC}"/>
              </a:ext>
            </a:extLst>
          </p:cNvPr>
          <p:cNvSpPr txBox="1"/>
          <p:nvPr/>
        </p:nvSpPr>
        <p:spPr bwMode="auto">
          <a:xfrm>
            <a:off x="5226415" y="4277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i="0" u="none" strike="noStrike" cap="none" spc="0" dirty="0">
                <a:ln>
                  <a:noFill/>
                </a:ln>
                <a:solidFill>
                  <a:schemeClr val="bg1">
                    <a:alpha val="70000"/>
                  </a:schemeClr>
                </a:solidFill>
                <a:cs typeface="+mn-ea"/>
              </a:rPr>
              <a:t>NPC</a:t>
            </a:r>
            <a:r>
              <a:rPr lang="zh-CN" altLang="en-US" sz="2000" i="0" u="none" strike="noStrike" cap="none" spc="0" dirty="0">
                <a:ln>
                  <a:noFill/>
                </a:ln>
                <a:solidFill>
                  <a:schemeClr val="bg1">
                    <a:alpha val="70000"/>
                  </a:schemeClr>
                </a:solidFill>
                <a:cs typeface="+mn-ea"/>
              </a:rPr>
              <a:t>架构</a:t>
            </a:r>
            <a:endParaRPr lang="en-US" sz="2000" i="0" u="none" strike="noStrike" cap="none" spc="0" dirty="0">
              <a:ln>
                <a:noFill/>
              </a:ln>
              <a:solidFill>
                <a:schemeClr val="bg1">
                  <a:alpha val="70000"/>
                </a:schemeClr>
              </a:solidFill>
              <a:cs typeface="+mn-ea"/>
            </a:endParaRPr>
          </a:p>
        </p:txBody>
      </p:sp>
      <p:sp>
        <p:nvSpPr>
          <p:cNvPr id="10" name="powerpoint template design by DAJU_PPT正版来源小红书大橘PPT微信DAJU_PPT请勿抄袭搬运！盗版必究！">
            <a:extLst>
              <a:ext uri="{FF2B5EF4-FFF2-40B4-BE49-F238E27FC236}">
                <a16:creationId xmlns:a16="http://schemas.microsoft.com/office/drawing/2014/main" id="{A3CE055A-6569-CAE9-A446-E3CEBE9DC3DE}"/>
              </a:ext>
            </a:extLst>
          </p:cNvPr>
          <p:cNvSpPr txBox="1"/>
          <p:nvPr/>
        </p:nvSpPr>
        <p:spPr bwMode="auto">
          <a:xfrm>
            <a:off x="2949020"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en-US" sz="2000" dirty="0" err="1">
                <a:solidFill>
                  <a:schemeClr val="bg1">
                    <a:alpha val="70000"/>
                  </a:schemeClr>
                </a:solidFill>
                <a:cs typeface="+mn-ea"/>
              </a:rPr>
              <a:t>Makefile</a:t>
            </a:r>
            <a:r>
              <a:rPr lang="zh-CN" altLang="en-US" sz="2000" dirty="0">
                <a:solidFill>
                  <a:schemeClr val="bg1">
                    <a:alpha val="70000"/>
                  </a:schemeClr>
                </a:solidFill>
                <a:cs typeface="+mn-ea"/>
              </a:rPr>
              <a:t>调用链</a:t>
            </a:r>
            <a:endParaRPr lang="en-US" sz="2000" i="0" u="none" strike="noStrike" cap="none" spc="0" dirty="0">
              <a:ln>
                <a:noFill/>
              </a:ln>
              <a:solidFill>
                <a:schemeClr val="bg1">
                  <a:alpha val="70000"/>
                </a:schemeClr>
              </a:solidFill>
              <a:cs typeface="+mn-ea"/>
            </a:endParaRPr>
          </a:p>
        </p:txBody>
      </p:sp>
      <p:sp>
        <p:nvSpPr>
          <p:cNvPr id="11" name="powerpoint template design by DAJU_PPT正版来源小红书大橘PPT微信DAJU_PPT请勿抄袭搬运！盗版必究！">
            <a:extLst>
              <a:ext uri="{FF2B5EF4-FFF2-40B4-BE49-F238E27FC236}">
                <a16:creationId xmlns:a16="http://schemas.microsoft.com/office/drawing/2014/main" id="{62AB9D55-0CE8-16C8-4997-47C5D9718D8D}"/>
              </a:ext>
            </a:extLst>
          </p:cNvPr>
          <p:cNvSpPr txBox="1"/>
          <p:nvPr/>
        </p:nvSpPr>
        <p:spPr bwMode="auto">
          <a:xfrm>
            <a:off x="671624" y="30016"/>
            <a:ext cx="2428880" cy="633163"/>
          </a:xfrm>
          <a:prstGeom prst="rect">
            <a:avLst/>
          </a:prstGeom>
          <a:noFill/>
        </p:spPr>
        <p:txBody>
          <a:bodyPr wrap="square" lIns="252000" rtlCol="0" anchor="ctr" anchorCtr="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marL="0" lvl="1" algn="ctr">
              <a:defRPr/>
            </a:pPr>
            <a:r>
              <a:rPr lang="zh-CN" altLang="en-US" sz="2000" i="0" u="none" strike="noStrike" cap="none" spc="0" dirty="0">
                <a:ln>
                  <a:noFill/>
                </a:ln>
                <a:solidFill>
                  <a:schemeClr val="bg1">
                    <a:alpha val="70000"/>
                  </a:schemeClr>
                </a:solidFill>
                <a:cs typeface="+mn-ea"/>
              </a:rPr>
              <a:t>架构</a:t>
            </a:r>
            <a:r>
              <a:rPr lang="zh-CN" sz="2000" i="0" u="none" strike="noStrike" cap="none" spc="0" dirty="0">
                <a:ln>
                  <a:noFill/>
                </a:ln>
                <a:solidFill>
                  <a:schemeClr val="bg1">
                    <a:alpha val="70000"/>
                  </a:schemeClr>
                </a:solidFill>
                <a:cs typeface="+mn-ea"/>
              </a:rPr>
              <a:t>讲解</a:t>
            </a:r>
            <a:endParaRPr lang="en-US" sz="2000" i="0" u="none" strike="noStrike" cap="none" spc="0" dirty="0">
              <a:ln>
                <a:noFill/>
              </a:ln>
              <a:solidFill>
                <a:schemeClr val="bg1">
                  <a:alpha val="70000"/>
                </a:schemeClr>
              </a:solidFill>
              <a:cs typeface="+mn-ea"/>
            </a:endParaRPr>
          </a:p>
        </p:txBody>
      </p:sp>
      <p:cxnSp>
        <p:nvCxnSpPr>
          <p:cNvPr id="12" name="直接连接符 11">
            <a:extLst>
              <a:ext uri="{FF2B5EF4-FFF2-40B4-BE49-F238E27FC236}">
                <a16:creationId xmlns:a16="http://schemas.microsoft.com/office/drawing/2014/main" id="{7446CEC5-96D1-93E4-F1AA-472BBA1D8368}"/>
              </a:ext>
            </a:extLst>
          </p:cNvPr>
          <p:cNvCxnSpPr>
            <a:cxnSpLocks/>
          </p:cNvCxnSpPr>
          <p:nvPr/>
        </p:nvCxnSpPr>
        <p:spPr bwMode="auto">
          <a:xfrm>
            <a:off x="5522084" y="135519"/>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5953BCEA-66A8-7EBB-C30A-98961DAE7FE7}"/>
              </a:ext>
            </a:extLst>
          </p:cNvPr>
          <p:cNvCxnSpPr>
            <a:cxnSpLocks/>
          </p:cNvCxnSpPr>
          <p:nvPr/>
        </p:nvCxnSpPr>
        <p:spPr bwMode="auto">
          <a:xfrm>
            <a:off x="3033875" y="122300"/>
            <a:ext cx="0" cy="44859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标题 2">
            <a:extLst>
              <a:ext uri="{FF2B5EF4-FFF2-40B4-BE49-F238E27FC236}">
                <a16:creationId xmlns:a16="http://schemas.microsoft.com/office/drawing/2014/main" id="{6A84EA59-74EA-34D2-F64F-EEC04F10F4D1}"/>
              </a:ext>
            </a:extLst>
          </p:cNvPr>
          <p:cNvSpPr>
            <a:spLocks noGrp="1"/>
          </p:cNvSpPr>
          <p:nvPr>
            <p:ph type="title"/>
          </p:nvPr>
        </p:nvSpPr>
        <p:spPr bwMode="auto">
          <a:xfrm>
            <a:off x="443230" y="873125"/>
            <a:ext cx="5554980" cy="403225"/>
          </a:xfrm>
        </p:spPr>
        <p:txBody>
          <a:bodyPr wrap="square"/>
          <a:lstStyle/>
          <a:p>
            <a:pPr>
              <a:defRPr/>
            </a:pPr>
            <a:r>
              <a:rPr lang="zh-CN" altLang="en-US" dirty="0"/>
              <a:t>后记总结</a:t>
            </a:r>
            <a:endParaRPr dirty="0"/>
          </a:p>
        </p:txBody>
      </p:sp>
      <p:cxnSp>
        <p:nvCxnSpPr>
          <p:cNvPr id="15" name="powerpoint template design by DAJU_PPT正版来源小红书大橘PPT微信DAJU_PPT请勿抄袭搬运！盗版必究！">
            <a:extLst>
              <a:ext uri="{FF2B5EF4-FFF2-40B4-BE49-F238E27FC236}">
                <a16:creationId xmlns:a16="http://schemas.microsoft.com/office/drawing/2014/main" id="{5798A083-0CA1-40E6-27CC-11759D92FEFC}"/>
              </a:ext>
            </a:extLst>
          </p:cNvPr>
          <p:cNvCxnSpPr/>
          <p:nvPr/>
        </p:nvCxnSpPr>
        <p:spPr bwMode="auto">
          <a:xfrm>
            <a:off x="481890" y="1354204"/>
            <a:ext cx="276348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6" name="组合 25">
            <a:extLst>
              <a:ext uri="{FF2B5EF4-FFF2-40B4-BE49-F238E27FC236}">
                <a16:creationId xmlns:a16="http://schemas.microsoft.com/office/drawing/2014/main" id="{3675A169-E75C-CC8A-D374-14377BA16260}"/>
              </a:ext>
            </a:extLst>
          </p:cNvPr>
          <p:cNvGrpSpPr/>
          <p:nvPr/>
        </p:nvGrpSpPr>
        <p:grpSpPr>
          <a:xfrm>
            <a:off x="521467" y="1857119"/>
            <a:ext cx="4470125" cy="2910564"/>
            <a:chOff x="1876196" y="2716186"/>
            <a:chExt cx="4470125" cy="2910564"/>
          </a:xfrm>
        </p:grpSpPr>
        <p:sp>
          <p:nvSpPr>
            <p:cNvPr id="27" name="任意多边形: 形状 26">
              <a:extLst>
                <a:ext uri="{FF2B5EF4-FFF2-40B4-BE49-F238E27FC236}">
                  <a16:creationId xmlns:a16="http://schemas.microsoft.com/office/drawing/2014/main" id="{55F8A7CB-574A-003E-0618-0A2AC0C76D74}"/>
                </a:ext>
              </a:extLst>
            </p:cNvPr>
            <p:cNvSpPr/>
            <p:nvPr/>
          </p:nvSpPr>
          <p:spPr>
            <a:xfrm rot="21600000">
              <a:off x="2209351" y="2716186"/>
              <a:ext cx="4103085" cy="601522"/>
            </a:xfrm>
            <a:custGeom>
              <a:avLst/>
              <a:gdLst>
                <a:gd name="connsiteX0" fmla="*/ 0 w 4103085"/>
                <a:gd name="connsiteY0" fmla="*/ 0 h 601520"/>
                <a:gd name="connsiteX1" fmla="*/ 3802325 w 4103085"/>
                <a:gd name="connsiteY1" fmla="*/ 0 h 601520"/>
                <a:gd name="connsiteX2" fmla="*/ 4103085 w 4103085"/>
                <a:gd name="connsiteY2" fmla="*/ 300760 h 601520"/>
                <a:gd name="connsiteX3" fmla="*/ 3802325 w 4103085"/>
                <a:gd name="connsiteY3" fmla="*/ 601520 h 601520"/>
                <a:gd name="connsiteX4" fmla="*/ 0 w 4103085"/>
                <a:gd name="connsiteY4" fmla="*/ 601520 h 601520"/>
                <a:gd name="connsiteX5" fmla="*/ 0 w 4103085"/>
                <a:gd name="connsiteY5" fmla="*/ 0 h 60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3085" h="601520">
                  <a:moveTo>
                    <a:pt x="4103085" y="601519"/>
                  </a:moveTo>
                  <a:lnTo>
                    <a:pt x="300760" y="601519"/>
                  </a:lnTo>
                  <a:lnTo>
                    <a:pt x="0" y="300760"/>
                  </a:lnTo>
                  <a:lnTo>
                    <a:pt x="300760" y="1"/>
                  </a:lnTo>
                  <a:lnTo>
                    <a:pt x="4103085" y="1"/>
                  </a:lnTo>
                  <a:lnTo>
                    <a:pt x="4103085" y="60151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15634" tIns="45721" rIns="85344" bIns="45721" numCol="1" spcCol="1270" anchor="ctr" anchorCtr="0">
              <a:noAutofit/>
            </a:bodyPr>
            <a:lstStyle/>
            <a:p>
              <a:pPr algn="ctr" defTabSz="533400">
                <a:lnSpc>
                  <a:spcPct val="90000"/>
                </a:lnSpc>
                <a:spcBef>
                  <a:spcPct val="0"/>
                </a:spcBef>
                <a:spcAft>
                  <a:spcPct val="35000"/>
                </a:spcAft>
              </a:pPr>
              <a:r>
                <a:rPr lang="zh-CN" altLang="zh-CN" sz="1200" kern="1200" dirty="0"/>
                <a:t>对编译、链接、</a:t>
              </a:r>
              <a:r>
                <a:rPr lang="zh-CN" altLang="en-US" sz="1200" kern="1200" dirty="0"/>
                <a:t>装载</a:t>
              </a:r>
              <a:r>
                <a:rPr lang="zh-CN" altLang="zh-CN" sz="1200" kern="1200" dirty="0"/>
                <a:t>原理细节不熟悉</a:t>
              </a:r>
            </a:p>
          </p:txBody>
        </p:sp>
        <p:sp>
          <p:nvSpPr>
            <p:cNvPr id="28" name="椭圆 27">
              <a:extLst>
                <a:ext uri="{FF2B5EF4-FFF2-40B4-BE49-F238E27FC236}">
                  <a16:creationId xmlns:a16="http://schemas.microsoft.com/office/drawing/2014/main" id="{27AFBE0A-7490-D8C5-7CC5-979AA0A534DF}"/>
                </a:ext>
              </a:extLst>
            </p:cNvPr>
            <p:cNvSpPr/>
            <p:nvPr/>
          </p:nvSpPr>
          <p:spPr>
            <a:xfrm>
              <a:off x="1908591" y="2716187"/>
              <a:ext cx="601520" cy="601520"/>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r>
                <a:rPr lang="en-US" altLang="zh-CN" dirty="0">
                  <a:solidFill>
                    <a:schemeClr val="tx1"/>
                  </a:solidFill>
                </a:rPr>
                <a:t>1</a:t>
              </a:r>
              <a:endParaRPr lang="zh-CN" altLang="en-US" dirty="0">
                <a:solidFill>
                  <a:schemeClr val="tx1"/>
                </a:solidFill>
              </a:endParaRPr>
            </a:p>
          </p:txBody>
        </p:sp>
        <p:sp>
          <p:nvSpPr>
            <p:cNvPr id="29" name="任意多边形: 形状 28">
              <a:extLst>
                <a:ext uri="{FF2B5EF4-FFF2-40B4-BE49-F238E27FC236}">
                  <a16:creationId xmlns:a16="http://schemas.microsoft.com/office/drawing/2014/main" id="{274F1328-E5C9-EDFA-E72A-FA770EAD284A}"/>
                </a:ext>
              </a:extLst>
            </p:cNvPr>
            <p:cNvSpPr/>
            <p:nvPr/>
          </p:nvSpPr>
          <p:spPr>
            <a:xfrm>
              <a:off x="2209351" y="3471639"/>
              <a:ext cx="4103085" cy="601522"/>
            </a:xfrm>
            <a:custGeom>
              <a:avLst/>
              <a:gdLst>
                <a:gd name="connsiteX0" fmla="*/ 0 w 4103085"/>
                <a:gd name="connsiteY0" fmla="*/ 0 h 601520"/>
                <a:gd name="connsiteX1" fmla="*/ 3802325 w 4103085"/>
                <a:gd name="connsiteY1" fmla="*/ 0 h 601520"/>
                <a:gd name="connsiteX2" fmla="*/ 4103085 w 4103085"/>
                <a:gd name="connsiteY2" fmla="*/ 300760 h 601520"/>
                <a:gd name="connsiteX3" fmla="*/ 3802325 w 4103085"/>
                <a:gd name="connsiteY3" fmla="*/ 601520 h 601520"/>
                <a:gd name="connsiteX4" fmla="*/ 0 w 4103085"/>
                <a:gd name="connsiteY4" fmla="*/ 601520 h 601520"/>
                <a:gd name="connsiteX5" fmla="*/ 0 w 4103085"/>
                <a:gd name="connsiteY5" fmla="*/ 0 h 60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3085" h="601520">
                  <a:moveTo>
                    <a:pt x="4103085" y="601519"/>
                  </a:moveTo>
                  <a:lnTo>
                    <a:pt x="300760" y="601519"/>
                  </a:lnTo>
                  <a:lnTo>
                    <a:pt x="0" y="300760"/>
                  </a:lnTo>
                  <a:lnTo>
                    <a:pt x="300760" y="1"/>
                  </a:lnTo>
                  <a:lnTo>
                    <a:pt x="4103085" y="1"/>
                  </a:lnTo>
                  <a:lnTo>
                    <a:pt x="4103085" y="60151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15634" tIns="45721" rIns="85344" bIns="45721" numCol="1" spcCol="1270" anchor="ctr" anchorCtr="0">
              <a:noAutofit/>
            </a:bodyPr>
            <a:lstStyle/>
            <a:p>
              <a:pPr algn="ctr" defTabSz="533400">
                <a:lnSpc>
                  <a:spcPct val="90000"/>
                </a:lnSpc>
                <a:spcBef>
                  <a:spcPct val="0"/>
                </a:spcBef>
                <a:spcAft>
                  <a:spcPct val="35000"/>
                </a:spcAft>
              </a:pPr>
              <a:r>
                <a:rPr lang="zh-CN" altLang="zh-CN" sz="1200" kern="1200" dirty="0"/>
                <a:t>对系统工具链的不熟悉</a:t>
              </a:r>
              <a:endParaRPr lang="zh-CN" altLang="en-US" sz="1200" kern="1200" dirty="0"/>
            </a:p>
          </p:txBody>
        </p:sp>
        <p:sp>
          <p:nvSpPr>
            <p:cNvPr id="30" name="椭圆 29">
              <a:extLst>
                <a:ext uri="{FF2B5EF4-FFF2-40B4-BE49-F238E27FC236}">
                  <a16:creationId xmlns:a16="http://schemas.microsoft.com/office/drawing/2014/main" id="{4D7C7730-905C-5124-3A14-EF0E070F1F3D}"/>
                </a:ext>
              </a:extLst>
            </p:cNvPr>
            <p:cNvSpPr/>
            <p:nvPr/>
          </p:nvSpPr>
          <p:spPr>
            <a:xfrm>
              <a:off x="1908591" y="3471640"/>
              <a:ext cx="601520" cy="601520"/>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r>
                <a:rPr lang="en-US" altLang="zh-CN" dirty="0">
                  <a:solidFill>
                    <a:schemeClr val="tx1"/>
                  </a:solidFill>
                </a:rPr>
                <a:t>2</a:t>
              </a:r>
              <a:endParaRPr lang="zh-CN" altLang="en-US" dirty="0">
                <a:solidFill>
                  <a:schemeClr val="tx1"/>
                </a:solidFill>
              </a:endParaRPr>
            </a:p>
          </p:txBody>
        </p:sp>
        <p:sp>
          <p:nvSpPr>
            <p:cNvPr id="31" name="任意多边形: 形状 30">
              <a:extLst>
                <a:ext uri="{FF2B5EF4-FFF2-40B4-BE49-F238E27FC236}">
                  <a16:creationId xmlns:a16="http://schemas.microsoft.com/office/drawing/2014/main" id="{1883A0A1-77F3-5FB8-D6F6-AF603DB943D6}"/>
                </a:ext>
              </a:extLst>
            </p:cNvPr>
            <p:cNvSpPr/>
            <p:nvPr/>
          </p:nvSpPr>
          <p:spPr>
            <a:xfrm rot="21600000">
              <a:off x="2209351" y="4227094"/>
              <a:ext cx="4103085" cy="601520"/>
            </a:xfrm>
            <a:custGeom>
              <a:avLst/>
              <a:gdLst>
                <a:gd name="connsiteX0" fmla="*/ 0 w 4103085"/>
                <a:gd name="connsiteY0" fmla="*/ 0 h 601520"/>
                <a:gd name="connsiteX1" fmla="*/ 3802325 w 4103085"/>
                <a:gd name="connsiteY1" fmla="*/ 0 h 601520"/>
                <a:gd name="connsiteX2" fmla="*/ 4103085 w 4103085"/>
                <a:gd name="connsiteY2" fmla="*/ 300760 h 601520"/>
                <a:gd name="connsiteX3" fmla="*/ 3802325 w 4103085"/>
                <a:gd name="connsiteY3" fmla="*/ 601520 h 601520"/>
                <a:gd name="connsiteX4" fmla="*/ 0 w 4103085"/>
                <a:gd name="connsiteY4" fmla="*/ 601520 h 601520"/>
                <a:gd name="connsiteX5" fmla="*/ 0 w 4103085"/>
                <a:gd name="connsiteY5" fmla="*/ 0 h 60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3085" h="601520">
                  <a:moveTo>
                    <a:pt x="4103085" y="601519"/>
                  </a:moveTo>
                  <a:lnTo>
                    <a:pt x="300760" y="601519"/>
                  </a:lnTo>
                  <a:lnTo>
                    <a:pt x="0" y="300760"/>
                  </a:lnTo>
                  <a:lnTo>
                    <a:pt x="300760" y="1"/>
                  </a:lnTo>
                  <a:lnTo>
                    <a:pt x="4103085" y="1"/>
                  </a:lnTo>
                  <a:lnTo>
                    <a:pt x="4103085" y="60151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15634" tIns="45720" rIns="85344" bIns="45720" numCol="1" spcCol="1270" anchor="ctr" anchorCtr="0">
              <a:noAutofit/>
            </a:bodyPr>
            <a:lstStyle/>
            <a:p>
              <a:pPr lvl="0" algn="ctr" defTabSz="400050">
                <a:lnSpc>
                  <a:spcPct val="90000"/>
                </a:lnSpc>
                <a:spcBef>
                  <a:spcPct val="0"/>
                </a:spcBef>
                <a:spcAft>
                  <a:spcPct val="35000"/>
                </a:spcAft>
              </a:pPr>
              <a:r>
                <a:rPr lang="en-US" altLang="zh-CN" sz="1200" kern="1200" dirty="0"/>
                <a:t>SDB</a:t>
              </a:r>
              <a:r>
                <a:rPr lang="zh-CN" altLang="zh-CN" sz="1200" kern="1200" dirty="0"/>
                <a:t>基础设施用得比较少</a:t>
              </a:r>
              <a:r>
                <a:rPr lang="zh-CN" altLang="en-US" sz="1200" kern="1200" dirty="0"/>
                <a:t>，排查</a:t>
              </a:r>
              <a:r>
                <a:rPr lang="en-US" altLang="zh-CN" sz="1200" kern="1200" dirty="0"/>
                <a:t>BUG</a:t>
              </a:r>
              <a:r>
                <a:rPr lang="zh-CN" altLang="en-US" sz="1200" kern="1200" dirty="0"/>
                <a:t>效率较低</a:t>
              </a:r>
              <a:endParaRPr lang="zh-CN" altLang="zh-CN" sz="1200" kern="1200" dirty="0"/>
            </a:p>
          </p:txBody>
        </p:sp>
        <p:sp>
          <p:nvSpPr>
            <p:cNvPr id="32" name="椭圆 31">
              <a:extLst>
                <a:ext uri="{FF2B5EF4-FFF2-40B4-BE49-F238E27FC236}">
                  <a16:creationId xmlns:a16="http://schemas.microsoft.com/office/drawing/2014/main" id="{637B1C51-B7FE-F17B-565A-BF5C64792AF2}"/>
                </a:ext>
              </a:extLst>
            </p:cNvPr>
            <p:cNvSpPr/>
            <p:nvPr/>
          </p:nvSpPr>
          <p:spPr>
            <a:xfrm>
              <a:off x="1908591" y="4227094"/>
              <a:ext cx="601520" cy="601520"/>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r>
                <a:rPr lang="en-US" altLang="zh-CN" dirty="0">
                  <a:solidFill>
                    <a:schemeClr val="tx1"/>
                  </a:solidFill>
                </a:rPr>
                <a:t>3</a:t>
              </a:r>
              <a:endParaRPr lang="zh-CN" altLang="en-US" dirty="0">
                <a:solidFill>
                  <a:schemeClr val="tx1"/>
                </a:solidFill>
              </a:endParaRPr>
            </a:p>
          </p:txBody>
        </p:sp>
        <p:sp>
          <p:nvSpPr>
            <p:cNvPr id="33" name="任意多边形: 形状 32">
              <a:extLst>
                <a:ext uri="{FF2B5EF4-FFF2-40B4-BE49-F238E27FC236}">
                  <a16:creationId xmlns:a16="http://schemas.microsoft.com/office/drawing/2014/main" id="{0A32EFE7-0A57-F5F8-7593-5E8072B6FBC9}"/>
                </a:ext>
              </a:extLst>
            </p:cNvPr>
            <p:cNvSpPr/>
            <p:nvPr/>
          </p:nvSpPr>
          <p:spPr>
            <a:xfrm>
              <a:off x="2243236" y="5025230"/>
              <a:ext cx="4103085" cy="601520"/>
            </a:xfrm>
            <a:custGeom>
              <a:avLst/>
              <a:gdLst>
                <a:gd name="connsiteX0" fmla="*/ 0 w 4103085"/>
                <a:gd name="connsiteY0" fmla="*/ 0 h 601520"/>
                <a:gd name="connsiteX1" fmla="*/ 3802325 w 4103085"/>
                <a:gd name="connsiteY1" fmla="*/ 0 h 601520"/>
                <a:gd name="connsiteX2" fmla="*/ 4103085 w 4103085"/>
                <a:gd name="connsiteY2" fmla="*/ 300760 h 601520"/>
                <a:gd name="connsiteX3" fmla="*/ 3802325 w 4103085"/>
                <a:gd name="connsiteY3" fmla="*/ 601520 h 601520"/>
                <a:gd name="connsiteX4" fmla="*/ 0 w 4103085"/>
                <a:gd name="connsiteY4" fmla="*/ 601520 h 601520"/>
                <a:gd name="connsiteX5" fmla="*/ 0 w 4103085"/>
                <a:gd name="connsiteY5" fmla="*/ 0 h 60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3085" h="601520">
                  <a:moveTo>
                    <a:pt x="4103085" y="601519"/>
                  </a:moveTo>
                  <a:lnTo>
                    <a:pt x="300760" y="601519"/>
                  </a:lnTo>
                  <a:lnTo>
                    <a:pt x="0" y="300760"/>
                  </a:lnTo>
                  <a:lnTo>
                    <a:pt x="300760" y="1"/>
                  </a:lnTo>
                  <a:lnTo>
                    <a:pt x="4103085" y="1"/>
                  </a:lnTo>
                  <a:lnTo>
                    <a:pt x="4103085" y="60151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15634" tIns="45720" rIns="85344" bIns="45720" numCol="1" spcCol="1270" anchor="ctr" anchorCtr="0">
              <a:noAutofit/>
            </a:bodyPr>
            <a:lstStyle/>
            <a:p>
              <a:pPr lvl="0" algn="ctr" defTabSz="400050">
                <a:lnSpc>
                  <a:spcPct val="90000"/>
                </a:lnSpc>
                <a:spcBef>
                  <a:spcPct val="0"/>
                </a:spcBef>
                <a:spcAft>
                  <a:spcPct val="35000"/>
                </a:spcAft>
              </a:pPr>
              <a:r>
                <a:rPr lang="zh-CN" altLang="en-US" sz="1200" kern="1200" dirty="0"/>
                <a:t>输入琐碎庞杂，没有定期整理并系统输出</a:t>
              </a:r>
              <a:endParaRPr lang="zh-CN" altLang="zh-CN" sz="1200" kern="1200" dirty="0"/>
            </a:p>
          </p:txBody>
        </p:sp>
        <p:sp>
          <p:nvSpPr>
            <p:cNvPr id="34" name="椭圆 33">
              <a:extLst>
                <a:ext uri="{FF2B5EF4-FFF2-40B4-BE49-F238E27FC236}">
                  <a16:creationId xmlns:a16="http://schemas.microsoft.com/office/drawing/2014/main" id="{F58C7938-E46C-CFBE-2E2A-17D4168C8007}"/>
                </a:ext>
              </a:extLst>
            </p:cNvPr>
            <p:cNvSpPr/>
            <p:nvPr/>
          </p:nvSpPr>
          <p:spPr>
            <a:xfrm>
              <a:off x="1876196" y="5025230"/>
              <a:ext cx="601520" cy="601520"/>
            </a:xfrm>
            <a:prstGeom prst="ellipse">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r>
                <a:rPr lang="en-US" altLang="zh-CN" dirty="0">
                  <a:solidFill>
                    <a:schemeClr val="tx1"/>
                  </a:solidFill>
                </a:rPr>
                <a:t>4</a:t>
              </a:r>
              <a:endParaRPr lang="zh-CN" altLang="en-US" dirty="0">
                <a:solidFill>
                  <a:schemeClr val="tx1"/>
                </a:solidFill>
              </a:endParaRPr>
            </a:p>
          </p:txBody>
        </p:sp>
      </p:grpSp>
    </p:spTree>
    <p:extLst>
      <p:ext uri="{BB962C8B-B14F-4D97-AF65-F5344CB8AC3E}">
        <p14:creationId xmlns:p14="http://schemas.microsoft.com/office/powerpoint/2010/main" val="30131342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72574894" name="powerpoint template design by DAJU_PPT正版来源小红书大橘PPT微信DAJU_PPT请勿抄袭搬运！盗版必究！"/>
          <p:cNvSpPr txBox="1"/>
          <p:nvPr/>
        </p:nvSpPr>
        <p:spPr bwMode="auto">
          <a:xfrm>
            <a:off x="2407920" y="6249873"/>
            <a:ext cx="7376160" cy="307777"/>
          </a:xfrm>
          <a:prstGeom prst="rect">
            <a:avLst/>
          </a:prstGeom>
          <a:noFill/>
        </p:spPr>
        <p:txBody>
          <a:bodyPr wrap="square">
            <a:spAutoFit/>
          </a:bodyPr>
          <a:lstStyle/>
          <a:p>
            <a:pPr algn="ctr">
              <a:defRPr/>
            </a:pPr>
            <a:r>
              <a:rPr lang="en-US" sz="1400">
                <a:solidFill>
                  <a:schemeClr val="bg1"/>
                </a:solidFill>
                <a:cs typeface="+mn-ea"/>
              </a:rPr>
              <a:t>——</a:t>
            </a:r>
            <a:r>
              <a:rPr lang="en-US" sz="1400" spc="300">
                <a:solidFill>
                  <a:schemeClr val="bg1"/>
                </a:solidFill>
                <a:cs typeface="+mn-ea"/>
              </a:rPr>
              <a:t> </a:t>
            </a:r>
            <a:r>
              <a:rPr lang="zh-CN" sz="1400" spc="300">
                <a:solidFill>
                  <a:schemeClr val="bg1"/>
                </a:solidFill>
                <a:cs typeface="+mn-ea"/>
              </a:rPr>
              <a:t>艰苦朴素 </a:t>
            </a:r>
            <a:r>
              <a:rPr lang="en-US" sz="1400" spc="300">
                <a:solidFill>
                  <a:schemeClr val="bg1"/>
                </a:solidFill>
                <a:cs typeface="+mn-ea"/>
              </a:rPr>
              <a:t>· </a:t>
            </a:r>
            <a:r>
              <a:rPr lang="zh-CN" sz="1400" spc="300">
                <a:solidFill>
                  <a:schemeClr val="bg1"/>
                </a:solidFill>
                <a:cs typeface="+mn-ea"/>
              </a:rPr>
              <a:t>实事求是 </a:t>
            </a:r>
            <a:r>
              <a:rPr lang="en-US" sz="1400" spc="300">
                <a:solidFill>
                  <a:schemeClr val="bg1"/>
                </a:solidFill>
                <a:cs typeface="+mn-ea"/>
              </a:rPr>
              <a:t>· </a:t>
            </a:r>
            <a:r>
              <a:rPr lang="zh-CN" sz="1400" spc="300">
                <a:solidFill>
                  <a:schemeClr val="bg1"/>
                </a:solidFill>
                <a:cs typeface="+mn-ea"/>
              </a:rPr>
              <a:t>严格要求 </a:t>
            </a:r>
            <a:r>
              <a:rPr lang="en-US" sz="1400" spc="300">
                <a:solidFill>
                  <a:schemeClr val="bg1"/>
                </a:solidFill>
                <a:cs typeface="+mn-ea"/>
              </a:rPr>
              <a:t>· </a:t>
            </a:r>
            <a:r>
              <a:rPr lang="zh-CN" sz="1400" spc="300">
                <a:solidFill>
                  <a:schemeClr val="bg1"/>
                </a:solidFill>
                <a:cs typeface="+mn-ea"/>
              </a:rPr>
              <a:t>勇于探索 </a:t>
            </a:r>
            <a:r>
              <a:rPr lang="en-US" sz="1400" spc="-150">
                <a:solidFill>
                  <a:schemeClr val="bg1"/>
                </a:solidFill>
                <a:cs typeface="+mn-ea"/>
              </a:rPr>
              <a:t>——</a:t>
            </a:r>
          </a:p>
        </p:txBody>
      </p:sp>
      <p:sp>
        <p:nvSpPr>
          <p:cNvPr id="1282037202" name="powerpoint template design by DAJU_PPT正版来源小红书大橘PPT微信DAJU_PPT请勿抄袭搬运！盗版必究！"/>
          <p:cNvSpPr/>
          <p:nvPr/>
        </p:nvSpPr>
        <p:spPr bwMode="auto">
          <a:xfrm>
            <a:off x="351099" y="312517"/>
            <a:ext cx="11489802" cy="6302416"/>
          </a:xfrm>
          <a:prstGeom prst="rect">
            <a:avLst/>
          </a:prstGeom>
          <a:noFill/>
          <a:ln w="190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1233587041" name="powerpoint template design by DAJU_PPT正版来源小红书大橘PPT微信DAJU_PPT请勿抄袭搬运！盗版必究！"/>
          <p:cNvSpPr/>
          <p:nvPr/>
        </p:nvSpPr>
        <p:spPr bwMode="auto">
          <a:xfrm>
            <a:off x="-41910" y="5842000"/>
            <a:ext cx="12192000" cy="1016000"/>
          </a:xfrm>
          <a:custGeom>
            <a:avLst/>
            <a:gdLst>
              <a:gd name="connsiteX0" fmla="*/ 6096000 w 12192000"/>
              <a:gd name="connsiteY0" fmla="*/ 0 h 1016000"/>
              <a:gd name="connsiteX1" fmla="*/ 11872101 w 12192000"/>
              <a:gd name="connsiteY1" fmla="*/ 363047 h 1016000"/>
              <a:gd name="connsiteX2" fmla="*/ 12192000 w 12192000"/>
              <a:gd name="connsiteY2" fmla="*/ 416457 h 1016000"/>
              <a:gd name="connsiteX3" fmla="*/ 12192000 w 12192000"/>
              <a:gd name="connsiteY3" fmla="*/ 1016000 h 1016000"/>
              <a:gd name="connsiteX4" fmla="*/ 0 w 12192000"/>
              <a:gd name="connsiteY4" fmla="*/ 1016000 h 1016000"/>
              <a:gd name="connsiteX5" fmla="*/ 0 w 12192000"/>
              <a:gd name="connsiteY5" fmla="*/ 416457 h 1016000"/>
              <a:gd name="connsiteX6" fmla="*/ 319900 w 12192000"/>
              <a:gd name="connsiteY6" fmla="*/ 363047 h 1016000"/>
              <a:gd name="connsiteX7" fmla="*/ 6096000 w 12192000"/>
              <a:gd name="connsiteY7" fmla="*/ 0 h 10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016000" extrusionOk="0">
                <a:moveTo>
                  <a:pt x="6096000" y="0"/>
                </a:moveTo>
                <a:cubicBezTo>
                  <a:pt x="8351708" y="0"/>
                  <a:pt x="10393868" y="138738"/>
                  <a:pt x="11872101" y="363047"/>
                </a:cubicBezTo>
                <a:lnTo>
                  <a:pt x="12192000" y="416457"/>
                </a:lnTo>
                <a:lnTo>
                  <a:pt x="12192000" y="1016000"/>
                </a:lnTo>
                <a:lnTo>
                  <a:pt x="0" y="1016000"/>
                </a:lnTo>
                <a:lnTo>
                  <a:pt x="0" y="416457"/>
                </a:lnTo>
                <a:lnTo>
                  <a:pt x="319900" y="363047"/>
                </a:lnTo>
                <a:cubicBezTo>
                  <a:pt x="1798133" y="138738"/>
                  <a:pt x="3840293" y="0"/>
                  <a:pt x="6096000" y="0"/>
                </a:cubicBez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860809371" name="文本框 5"/>
          <p:cNvSpPr txBox="1"/>
          <p:nvPr/>
        </p:nvSpPr>
        <p:spPr bwMode="auto">
          <a:xfrm>
            <a:off x="2656839" y="2985134"/>
            <a:ext cx="6279588" cy="701399"/>
          </a:xfrm>
          <a:prstGeom prst="rect">
            <a:avLst/>
          </a:prstGeom>
          <a:noFill/>
        </p:spPr>
        <p:txBody>
          <a:bodyPr wrap="none" rtlCol="0">
            <a:spAutoFit/>
          </a:bodyPr>
          <a:lstStyle/>
          <a:p>
            <a:pPr>
              <a:defRPr/>
            </a:pPr>
            <a:r>
              <a:rPr lang="zh-CN" sz="4000" b="1">
                <a:latin typeface="华文中宋"/>
                <a:ea typeface="华文中宋"/>
              </a:rPr>
              <a:t>请各位助教老师批评指正！</a:t>
            </a:r>
          </a:p>
        </p:txBody>
      </p:sp>
      <p:pic>
        <p:nvPicPr>
          <p:cNvPr id="205213128" name="图片 3"/>
          <p:cNvPicPr>
            <a:picLocks noChangeAspect="1"/>
          </p:cNvPicPr>
          <p:nvPr/>
        </p:nvPicPr>
        <p:blipFill rotWithShape="1">
          <a:blip r:embed="rId3"/>
          <a:stretch/>
        </p:blipFill>
        <p:spPr bwMode="auto">
          <a:xfrm>
            <a:off x="351155" y="312420"/>
            <a:ext cx="2211705" cy="20421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fade/>
      </p:transition>
    </mc:Choice>
    <mc:Fallback xmlns="" xmlns:m="http://schemas.openxmlformats.org/officeDocument/2006/math" xmlns:w="http://schemas.openxmlformats.org/wordprocessingml/2006/main">
      <p:transition spd="fast" advClick="1">
        <p:fade thruBlk="0"/>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OPCH-0A38D99343DA5F769C2679E8F851931509C4489D9F4EB0211B040F7754FAED5E" val="[{&quot;GradientColorId&quot;:&quot;&quot;,&quot;IsFree&quot;:true,&quot;IsGradient&quot;:false,&quot;ImagePath&quot;:&quot;&quot;,&quot;GradientColor&quot;:null,&quot;SimpleColor&quot;:&quot;#FFFF00&quot;}]"/>
</p:tagLst>
</file>

<file path=ppt/theme/theme1.xml><?xml version="1.0" encoding="utf-8"?>
<a:theme xmlns:a="http://schemas.openxmlformats.org/drawingml/2006/main" name="Office Theme">
  <a:themeElements>
    <a:clrScheme name="00深蓝+金">
      <a:dk1>
        <a:srgbClr val="000000"/>
      </a:dk1>
      <a:lt1>
        <a:srgbClr val="FFFFFF"/>
      </a:lt1>
      <a:dk2>
        <a:srgbClr val="000000"/>
      </a:dk2>
      <a:lt2>
        <a:srgbClr val="FFFFFF"/>
      </a:lt2>
      <a:accent1>
        <a:srgbClr val="122E66"/>
      </a:accent1>
      <a:accent2>
        <a:srgbClr val="D0B296"/>
      </a:accent2>
      <a:accent3>
        <a:srgbClr val="122E66"/>
      </a:accent3>
      <a:accent4>
        <a:srgbClr val="D0B296"/>
      </a:accent4>
      <a:accent5>
        <a:srgbClr val="122E66"/>
      </a:accent5>
      <a:accent6>
        <a:srgbClr val="D0B296"/>
      </a:accent6>
      <a:hlink>
        <a:srgbClr val="DF213B"/>
      </a:hlink>
      <a:folHlink>
        <a:srgbClr val="954F72"/>
      </a:folHlink>
    </a:clrScheme>
    <a:fontScheme name="mmhun255">
      <a:majorFont>
        <a:latin typeface="Arial"/>
        <a:ea typeface="微软雅黑"/>
        <a:cs typeface="Arial"/>
      </a:majorFont>
      <a:minorFont>
        <a:latin typeface="Arial"/>
        <a:ea typeface="微软雅黑"/>
        <a:cs typeface="Arial"/>
      </a:minorFont>
    </a:fontScheme>
    <a:fmtScheme name="Office 主题​​">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rgbClr val="00B050"/>
        </a:solidFill>
      </a:spPr>
      <a:bodyPr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Arial"/>
        <a:cs typeface="Arial"/>
      </a:majorFont>
      <a:minorFont>
        <a:latin typeface="等线"/>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3469</TotalTime>
  <Words>3953</Words>
  <Application>Microsoft Office PowerPoint</Application>
  <PresentationFormat>宽屏</PresentationFormat>
  <Paragraphs>651</Paragraphs>
  <Slides>21</Slides>
  <Notes>21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21</vt:i4>
      </vt:variant>
    </vt:vector>
  </HeadingPairs>
  <TitlesOfParts>
    <vt:vector size="25" baseType="lpstr">
      <vt:lpstr>华文中宋</vt:lpstr>
      <vt:lpstr>微软雅黑</vt:lpstr>
      <vt:lpstr>Arial</vt:lpstr>
      <vt:lpstr>Office Theme</vt:lpstr>
      <vt:lpstr>PowerPoint 演示文稿</vt:lpstr>
      <vt:lpstr>1. ysyx软硬件架构总览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AM Makefile调用链</vt:lpstr>
      <vt:lpstr>NEMU Makefile调用链</vt:lpstr>
      <vt:lpstr>Navy Makefile调用链</vt:lpstr>
      <vt:lpstr>NPC结构图</vt:lpstr>
      <vt:lpstr>打字游戏软硬件协同工作流程</vt:lpstr>
      <vt:lpstr>打字游戏与状态机的联系</vt:lpstr>
      <vt:lpstr>打字游戏启示</vt:lpstr>
      <vt:lpstr>后记总结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2314981968@qq.com</dc:creator>
  <cp:lastModifiedBy>wenjie Lee</cp:lastModifiedBy>
  <cp:revision>17</cp:revision>
  <dcterms:created xsi:type="dcterms:W3CDTF">2024-07-21T02:26:42Z</dcterms:created>
  <dcterms:modified xsi:type="dcterms:W3CDTF">2026-06-12T00:58:03Z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2052-0.0.0.0</vt:lpwstr>
  </property>
</Properties>
</file>