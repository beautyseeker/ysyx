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8" r:id="rId4"/>
    <p:sldId id="269" r:id="rId5"/>
    <p:sldId id="273" r:id="rId6"/>
    <p:sldId id="270" r:id="rId7"/>
    <p:sldId id="267" r:id="rId8"/>
    <p:sldId id="266" r:id="rId9"/>
    <p:sldId id="265" r:id="rId10"/>
    <p:sldId id="271" r:id="rId11"/>
    <p:sldId id="272" r:id="rId12"/>
    <p:sldId id="278" r:id="rId13"/>
    <p:sldId id="259" r:id="rId14"/>
    <p:sldId id="274" r:id="rId15"/>
    <p:sldId id="275" r:id="rId16"/>
    <p:sldId id="276" r:id="rId17"/>
    <p:sldId id="277" r:id="rId18"/>
    <p:sldId id="260" r:id="rId19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552" y="9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9492046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/>
                <a:ea typeface="微软雅黑"/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097142764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/>
                <a:ea typeface="微软雅黑"/>
              </a:defRPr>
            </a:lvl1pPr>
          </a:lstStyle>
          <a:p>
            <a:pPr>
              <a:defRPr/>
            </a:pPr>
            <a:fld id="{7B469C68-B96B-4B00-A936-4ED691395EEA}" type="datetimeFigureOut">
              <a:rPr lang="en-US" altLang="zh-CN"/>
              <a:t>5/8/2026</a:t>
            </a:fld>
            <a:endParaRPr lang="zh-CN"/>
          </a:p>
        </p:txBody>
      </p:sp>
      <p:sp>
        <p:nvSpPr>
          <p:cNvPr id="1851202082" name="幻灯片图像占位符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448793577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单击此处编辑母版文本样式</a:t>
            </a:r>
          </a:p>
          <a:p>
            <a:pPr lvl="1">
              <a:defRPr/>
            </a:pPr>
            <a:r>
              <a:rPr lang="zh-CN"/>
              <a:t>二级</a:t>
            </a:r>
          </a:p>
          <a:p>
            <a:pPr lvl="2">
              <a:defRPr/>
            </a:pPr>
            <a:r>
              <a:rPr lang="zh-CN"/>
              <a:t>三级</a:t>
            </a:r>
          </a:p>
          <a:p>
            <a:pPr lvl="3">
              <a:defRPr/>
            </a:pPr>
            <a:r>
              <a:rPr lang="zh-CN"/>
              <a:t>四级</a:t>
            </a:r>
          </a:p>
          <a:p>
            <a:pPr lvl="4">
              <a:defRPr/>
            </a:pPr>
            <a:r>
              <a:rPr lang="zh-CN"/>
              <a:t>五级</a:t>
            </a:r>
          </a:p>
        </p:txBody>
      </p:sp>
      <p:sp>
        <p:nvSpPr>
          <p:cNvPr id="2089488668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/>
                <a:ea typeface="微软雅黑"/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2014914970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/>
                <a:ea typeface="微软雅黑"/>
              </a:defRPr>
            </a:lvl1pPr>
          </a:lstStyle>
          <a:p>
            <a:pPr>
              <a:defRPr/>
            </a:pPr>
            <a:fld id="{78957953-4CC8-4E4A-AD2D-7A5A0B36E814}" type="slidenum">
              <a:rPr lang="en-US" alt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微软雅黑"/>
        <a:ea typeface="微软雅黑"/>
        <a:cs typeface="+mn-cs"/>
      </a:defRPr>
    </a:lvl1pPr>
    <a:lvl2pPr marL="457200" algn="l" defTabSz="914400" rtl="0">
      <a:defRPr sz="1200">
        <a:solidFill>
          <a:schemeClr val="tx1"/>
        </a:solidFill>
        <a:latin typeface="微软雅黑"/>
        <a:ea typeface="微软雅黑"/>
        <a:cs typeface="+mn-cs"/>
      </a:defRPr>
    </a:lvl2pPr>
    <a:lvl3pPr marL="914400" algn="l" defTabSz="914400" rtl="0">
      <a:defRPr sz="1200">
        <a:solidFill>
          <a:schemeClr val="tx1"/>
        </a:solidFill>
        <a:latin typeface="微软雅黑"/>
        <a:ea typeface="微软雅黑"/>
        <a:cs typeface="+mn-cs"/>
      </a:defRPr>
    </a:lvl3pPr>
    <a:lvl4pPr marL="1371600" algn="l" defTabSz="914400" rtl="0">
      <a:defRPr sz="1200">
        <a:solidFill>
          <a:schemeClr val="tx1"/>
        </a:solidFill>
        <a:latin typeface="微软雅黑"/>
        <a:ea typeface="微软雅黑"/>
        <a:cs typeface="+mn-cs"/>
      </a:defRPr>
    </a:lvl4pPr>
    <a:lvl5pPr marL="1828800" algn="l" defTabSz="914400" rtl="0">
      <a:defRPr sz="1200">
        <a:solidFill>
          <a:schemeClr val="tx1"/>
        </a:solidFill>
        <a:latin typeface="微软雅黑"/>
        <a:ea typeface="微软雅黑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7115650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15358404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各位助教老师好，现在我来开始我的</a:t>
            </a:r>
            <a:r>
              <a:rPr lang="en-US"/>
              <a:t> C </a:t>
            </a:r>
            <a:r>
              <a:rPr lang="zh-CN"/>
              <a:t>阶段答辩</a:t>
            </a:r>
            <a:endParaRPr lang="en-US"/>
          </a:p>
        </p:txBody>
      </p:sp>
      <p:sp>
        <p:nvSpPr>
          <p:cNvPr id="156866110" name="灯片编号占位符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78957953-4CC8-4E4A-AD2D-7A5A0B36E814}" type="slidenum">
              <a:rPr lang="en-US" altLang="zh-CN"/>
              <a:t>1</a:t>
            </a:fld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553586" name="幻灯片图像占位符 1"/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71517803" name="文本占位符 2"/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52E84-68E0-E77C-B28E-B212A77E029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6DF1CFE4-350D-43A3-0DD7-0A7343B479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77CD2760-2BFB-E1B9-CF4F-CF7BBED354EF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722765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59B46-5BF6-F015-5DF7-4A125593EBC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920F2E3D-A110-83EA-096E-38D63A9F87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3505B3C0-68C1-033F-FC1F-3F7DA4108657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071786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FD6AE-933C-9B13-D501-92E06250C57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3257AD92-B08F-2677-0B9B-D97C72BA19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A8939A4C-DBF4-1D8E-5063-F5997D2298C7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4428717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17516-0F4C-BE63-58C5-6401C5D7743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5FAEA41A-D40B-6A59-E2B1-AECAC46FDD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1E5C8309-61CB-4222-F349-DA31274B2160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1067599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895BE-1022-031E-554E-C378FE85C0C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95AB0D11-3AB0-74F1-ED0E-15B8E95661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544E5F55-8792-ACCC-C034-2E83712834D3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0779201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E6EE4-EFAA-2F8A-E609-776711C3251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442B2EE8-CD5A-59E4-9604-97FE04805A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61E68577-F3C9-7E58-78BE-A26FCB435A2B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966983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93AD7-6F7E-5349-7265-66F4E02863A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D47083BA-6BE6-F226-761C-97393B694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B0E23E73-DEE8-C66F-18D8-345D39D68C1D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9191271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C3961-F29A-3CD0-CF1C-7C99ED0BC26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7D38E2F7-6BF9-260B-050B-D91A920D9E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7DBE8CD2-741C-B701-21DD-5FBDD29F7845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6407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C3DB-3719-1837-872F-498AA41D90C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68E1EF74-1AF1-21EF-44EA-9A060DC490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C3DE6CEE-7B28-F961-4D8F-CF04A44C26E1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857313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ACB53-EB68-DEDE-60ED-A71C63647C2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82713" name="幻灯片图像占位符 1">
            <a:extLst>
              <a:ext uri="{FF2B5EF4-FFF2-40B4-BE49-F238E27FC236}">
                <a16:creationId xmlns:a16="http://schemas.microsoft.com/office/drawing/2014/main" id="{DE4D44CF-3D45-EB51-D69D-388C2EE7E9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685365130" name="文本占位符 2">
            <a:extLst>
              <a:ext uri="{FF2B5EF4-FFF2-40B4-BE49-F238E27FC236}">
                <a16:creationId xmlns:a16="http://schemas.microsoft.com/office/drawing/2014/main" id="{D08456FC-B18E-10B0-3E56-DAD5D77FD360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1165854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170259" name="幻灯片图像占位符 1"/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068843356" name="文本占位符 2"/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 algn="l"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2122F-A3C5-4CD5-1308-0EED9ECD614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170259" name="幻灯片图像占位符 1">
            <a:extLst>
              <a:ext uri="{FF2B5EF4-FFF2-40B4-BE49-F238E27FC236}">
                <a16:creationId xmlns:a16="http://schemas.microsoft.com/office/drawing/2014/main" id="{239D091F-E1F1-B302-8C07-C7E96B499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068843356" name="文本占位符 2">
            <a:extLst>
              <a:ext uri="{FF2B5EF4-FFF2-40B4-BE49-F238E27FC236}">
                <a16:creationId xmlns:a16="http://schemas.microsoft.com/office/drawing/2014/main" id="{302085CF-CF3F-75FB-EAAC-72D847DDE1AE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 algn="l">
              <a:defRPr/>
            </a:pP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4389256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64153-C5A7-33E7-A2B2-2E399B0A936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170259" name="幻灯片图像占位符 1">
            <a:extLst>
              <a:ext uri="{FF2B5EF4-FFF2-40B4-BE49-F238E27FC236}">
                <a16:creationId xmlns:a16="http://schemas.microsoft.com/office/drawing/2014/main" id="{A03A8558-25F9-4359-50DE-F792D1468C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068843356" name="文本占位符 2">
            <a:extLst>
              <a:ext uri="{FF2B5EF4-FFF2-40B4-BE49-F238E27FC236}">
                <a16:creationId xmlns:a16="http://schemas.microsoft.com/office/drawing/2014/main" id="{570CFCD4-0A5D-B81E-8B5D-D8A4913BD95E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 algn="l">
              <a:defRPr/>
            </a:pP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8997577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E36B-95FC-55F5-B46F-F3BEE83098D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170259" name="幻灯片图像占位符 1">
            <a:extLst>
              <a:ext uri="{FF2B5EF4-FFF2-40B4-BE49-F238E27FC236}">
                <a16:creationId xmlns:a16="http://schemas.microsoft.com/office/drawing/2014/main" id="{385D10C8-FE6B-BE7E-F7E7-A6DD751C3D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068843356" name="文本占位符 2">
            <a:extLst>
              <a:ext uri="{FF2B5EF4-FFF2-40B4-BE49-F238E27FC236}">
                <a16:creationId xmlns:a16="http://schemas.microsoft.com/office/drawing/2014/main" id="{B532A6B3-41D8-8BC6-514F-F5DB9199BFA4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 algn="l">
              <a:defRPr/>
            </a:pP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844423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5218A-C5C9-E1C1-8BC1-078DB53C80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170259" name="幻灯片图像占位符 1">
            <a:extLst>
              <a:ext uri="{FF2B5EF4-FFF2-40B4-BE49-F238E27FC236}">
                <a16:creationId xmlns:a16="http://schemas.microsoft.com/office/drawing/2014/main" id="{044E4B2C-0794-FDF7-AFA9-F264321FA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/>
      </p:sp>
      <p:sp>
        <p:nvSpPr>
          <p:cNvPr id="1068843356" name="文本占位符 2">
            <a:extLst>
              <a:ext uri="{FF2B5EF4-FFF2-40B4-BE49-F238E27FC236}">
                <a16:creationId xmlns:a16="http://schemas.microsoft.com/office/drawing/2014/main" id="{F98B4221-2D19-0DC6-DC2A-146636A7750F}"/>
              </a:ext>
            </a:extLst>
          </p:cNvPr>
          <p:cNvSpPr>
            <a:spLocks noGrp="1"/>
          </p:cNvSpPr>
          <p:nvPr>
            <p:ph type="body" idx="3"/>
          </p:nvPr>
        </p:nvSpPr>
        <p:spPr bwMode="auto"/>
        <p:txBody>
          <a:bodyPr/>
          <a:lstStyle/>
          <a:p>
            <a:pPr algn="l">
              <a:defRPr/>
            </a:pP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1609433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1111053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07067825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algn="l">
              <a:defRPr/>
            </a:pPr>
            <a:r>
              <a:rPr lang="zh-CN"/>
              <a:t>谢谢大家！</a:t>
            </a:r>
          </a:p>
        </p:txBody>
      </p:sp>
      <p:sp>
        <p:nvSpPr>
          <p:cNvPr id="1831180766" name="灯片编号占位符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78957953-4CC8-4E4A-AD2D-7A5A0B36E814}" type="slidenum">
              <a:rPr lang="en-US" altLang="zh-CN"/>
              <a:t>18</a:t>
            </a:fld>
            <a:endParaRPr 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3_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150164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C2CB708-664F-4770-AECF-BA1A1B220D57}" type="datetimeFigureOut">
              <a:rPr lang="en-US" altLang="zh-CN"/>
              <a:t>5/8/2026</a:t>
            </a:fld>
            <a:endParaRPr lang="zh-CN"/>
          </a:p>
        </p:txBody>
      </p:sp>
      <p:sp>
        <p:nvSpPr>
          <p:cNvPr id="1542203041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909594238" name="灯片编号占位符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1DDFDCD-830D-4E78-9097-B6B92A67D61F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4_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891071" name="文本占位符 13"/>
          <p:cNvSpPr>
            <a:spLocks noGrp="1"/>
          </p:cNvSpPr>
          <p:nvPr userDrawn="1">
            <p:ph type="body" sz="quarter" idx="12" hasCustomPrompt="1"/>
          </p:nvPr>
        </p:nvSpPr>
        <p:spPr bwMode="auto">
          <a:xfrm>
            <a:off x="3522387" y="2973614"/>
            <a:ext cx="514722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sz="6000" b="1" spc="6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lvl="0" algn="just">
              <a:defRPr/>
            </a:pPr>
            <a:r>
              <a:rPr lang="zh-CN"/>
              <a:t>输入标题</a:t>
            </a:r>
          </a:p>
        </p:txBody>
      </p:sp>
      <p:sp>
        <p:nvSpPr>
          <p:cNvPr id="792329390" name="文本占位符 15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645556" y="1886726"/>
            <a:ext cx="900888" cy="830997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 extrusionOk="0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none" lIns="0" tIns="0" rIns="0" bIns="0">
            <a:spAutoFit/>
          </a:bodyPr>
          <a:lstStyle>
            <a:lvl1pPr marL="0" indent="0" algn="ctr">
              <a:buNone/>
              <a:defRPr lang="zh-CN" sz="6000" spc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marL="0" lvl="0" algn="just">
              <a:defRPr/>
            </a:pPr>
            <a:r>
              <a:rPr lang="en-US"/>
              <a:t>01</a:t>
            </a:r>
            <a:endParaRPr lang="zh-CN"/>
          </a:p>
        </p:txBody>
      </p:sp>
      <p:sp>
        <p:nvSpPr>
          <p:cNvPr id="1235180669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C2CB708-664F-4770-AECF-BA1A1B220D57}" type="datetimeFigureOut">
              <a:rPr lang="en-US" altLang="zh-CN"/>
              <a:t>5/8/2026</a:t>
            </a:fld>
            <a:endParaRPr lang="zh-CN"/>
          </a:p>
        </p:txBody>
      </p:sp>
      <p:sp>
        <p:nvSpPr>
          <p:cNvPr id="95958442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860290265" name="灯片编号占位符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1DDFDCD-830D-4E78-9097-B6B92A67D61F}" type="slidenum">
              <a:rPr lang="en-US" altLang="zh-CN"/>
              <a:t>‹#›</a:t>
            </a:fld>
            <a:endParaRPr lang="zh-CN"/>
          </a:p>
        </p:txBody>
      </p:sp>
      <p:sp>
        <p:nvSpPr>
          <p:cNvPr id="869223686" name="文本占位符 3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3808178" y="2645581"/>
            <a:ext cx="4575642" cy="25926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1200" spc="3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>
              <a:defRPr/>
            </a:pPr>
            <a:r>
              <a:rPr lang="en-US"/>
              <a:t>PART ONE</a:t>
            </a:r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081454" name="标题 1"/>
          <p:cNvSpPr>
            <a:spLocks noGrp="1"/>
          </p:cNvSpPr>
          <p:nvPr>
            <p:ph type="title" hasCustomPrompt="1"/>
          </p:nvPr>
        </p:nvSpPr>
        <p:spPr bwMode="auto">
          <a:xfrm>
            <a:off x="442913" y="873125"/>
            <a:ext cx="4869867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sz="2400" b="1" spc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just">
              <a:defRPr/>
            </a:pPr>
            <a:r>
              <a:rPr lang="zh-CN"/>
              <a:t>单击此处标题</a:t>
            </a:r>
          </a:p>
        </p:txBody>
      </p:sp>
      <p:sp>
        <p:nvSpPr>
          <p:cNvPr id="463061329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C2CB708-664F-4770-AECF-BA1A1B220D57}" type="datetimeFigureOut">
              <a:rPr lang="en-US" altLang="zh-CN"/>
              <a:t>5/8/2026</a:t>
            </a:fld>
            <a:endParaRPr lang="zh-CN"/>
          </a:p>
        </p:txBody>
      </p:sp>
      <p:sp>
        <p:nvSpPr>
          <p:cNvPr id="1559722238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2106961108" name="灯片编号占位符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1DDFDCD-830D-4E78-9097-B6B92A67D61F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463662" name="标题 1"/>
          <p:cNvSpPr>
            <a:spLocks noGrp="1"/>
          </p:cNvSpPr>
          <p:nvPr>
            <p:ph type="title" hasCustomPrompt="1"/>
          </p:nvPr>
        </p:nvSpPr>
        <p:spPr bwMode="auto">
          <a:xfrm>
            <a:off x="442913" y="873125"/>
            <a:ext cx="6038910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sz="2400" b="1" spc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just">
              <a:defRPr/>
            </a:pPr>
            <a:r>
              <a:rPr lang="zh-CN"/>
              <a:t>单击此处标题</a:t>
            </a:r>
          </a:p>
        </p:txBody>
      </p:sp>
      <p:sp>
        <p:nvSpPr>
          <p:cNvPr id="267515754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C2CB708-664F-4770-AECF-BA1A1B220D57}" type="datetimeFigureOut">
              <a:rPr lang="en-US" altLang="zh-CN"/>
              <a:t>5/8/2026</a:t>
            </a:fld>
            <a:endParaRPr lang="zh-CN"/>
          </a:p>
        </p:txBody>
      </p:sp>
      <p:sp>
        <p:nvSpPr>
          <p:cNvPr id="839902616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2052576982" name="灯片编号占位符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1DDFDCD-830D-4E78-9097-B6B92A67D61F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2858017" name="标题 1"/>
          <p:cNvSpPr>
            <a:spLocks noGrp="1"/>
          </p:cNvSpPr>
          <p:nvPr>
            <p:ph type="title" hasCustomPrompt="1"/>
          </p:nvPr>
        </p:nvSpPr>
        <p:spPr bwMode="auto">
          <a:xfrm>
            <a:off x="442913" y="873125"/>
            <a:ext cx="6119933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sz="2400" b="1" spc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just">
              <a:defRPr/>
            </a:pPr>
            <a:r>
              <a:rPr lang="zh-CN"/>
              <a:t>单击此处标题</a:t>
            </a:r>
          </a:p>
        </p:txBody>
      </p:sp>
      <p:sp>
        <p:nvSpPr>
          <p:cNvPr id="1277139142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C2CB708-664F-4770-AECF-BA1A1B220D57}" type="datetimeFigureOut">
              <a:rPr lang="en-US" altLang="zh-CN"/>
              <a:t>5/8/2026</a:t>
            </a:fld>
            <a:endParaRPr lang="zh-CN"/>
          </a:p>
        </p:txBody>
      </p:sp>
      <p:sp>
        <p:nvSpPr>
          <p:cNvPr id="744516698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534246754" name="灯片编号占位符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1DDFDCD-830D-4E78-9097-B6B92A67D61F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7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098175" name="标题 1"/>
          <p:cNvSpPr>
            <a:spLocks noGrp="1"/>
          </p:cNvSpPr>
          <p:nvPr>
            <p:ph type="title" hasCustomPrompt="1"/>
          </p:nvPr>
        </p:nvSpPr>
        <p:spPr bwMode="auto">
          <a:xfrm>
            <a:off x="442913" y="873125"/>
            <a:ext cx="6027335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sz="2400" b="1" spc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just">
              <a:defRPr/>
            </a:pPr>
            <a:r>
              <a:rPr lang="zh-CN"/>
              <a:t>单击此处标题</a:t>
            </a:r>
          </a:p>
        </p:txBody>
      </p:sp>
      <p:sp>
        <p:nvSpPr>
          <p:cNvPr id="261451757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C2CB708-664F-4770-AECF-BA1A1B220D57}" type="datetimeFigureOut">
              <a:rPr lang="en-US" altLang="zh-CN"/>
              <a:t>5/8/2026</a:t>
            </a:fld>
            <a:endParaRPr lang="zh-CN"/>
          </a:p>
        </p:txBody>
      </p:sp>
      <p:sp>
        <p:nvSpPr>
          <p:cNvPr id="1241557130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592144149" name="灯片编号占位符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1DDFDCD-830D-4E78-9097-B6B92A67D61F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970827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C2CB708-664F-4770-AECF-BA1A1B220D57}" type="datetimeFigureOut">
              <a:rPr lang="en-US" altLang="zh-CN"/>
              <a:t>5/8/2026</a:t>
            </a:fld>
            <a:endParaRPr lang="zh-CN"/>
          </a:p>
        </p:txBody>
      </p:sp>
      <p:sp>
        <p:nvSpPr>
          <p:cNvPr id="1045442662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667687000" name="灯片编号占位符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1DDFDCD-830D-4E78-9097-B6B92A67D61F}" type="slidenum">
              <a:rPr lang="en-US" alt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7277290" name="powerpoint template design by DAJU_PPT正版来源小红书大橘PPT微信DAJU_PPT请勿抄袭搬运！盗版必究！"/>
          <p:cNvSpPr txBox="1"/>
          <p:nvPr/>
        </p:nvSpPr>
        <p:spPr bwMode="auto">
          <a:xfrm>
            <a:off x="3806190" y="4141148"/>
            <a:ext cx="3657600" cy="391626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algn="just">
              <a:defRPr sz="1600" b="0" i="0">
                <a:solidFill>
                  <a:schemeClr val="accent5">
                    <a:lumMod val="50000"/>
                  </a:schemeClr>
                </a:solidFill>
                <a:latin typeface="+mn-ea"/>
              </a:defRPr>
            </a:lvl1pPr>
          </a:lstStyle>
          <a:p>
            <a:pPr algn="ctr">
              <a:defRPr/>
            </a:pPr>
            <a:r>
              <a:rPr lang="zh-CN" sz="1800">
                <a:solidFill>
                  <a:schemeClr val="tx1"/>
                </a:solidFill>
                <a:latin typeface="+mn-lt"/>
                <a:cs typeface="+mn-ea"/>
              </a:rPr>
              <a:t>学校：国防科技大学</a:t>
            </a:r>
          </a:p>
        </p:txBody>
      </p:sp>
      <p:sp>
        <p:nvSpPr>
          <p:cNvPr id="1037758390" name="powerpoint template design by DAJU_PPT正版来源小红书大橘PPT微信DAJU_PPT请勿抄袭搬运！盗版必究！"/>
          <p:cNvSpPr txBox="1"/>
          <p:nvPr/>
        </p:nvSpPr>
        <p:spPr bwMode="auto">
          <a:xfrm>
            <a:off x="3806190" y="3599424"/>
            <a:ext cx="3657600" cy="391626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algn="just">
              <a:defRPr sz="1600" b="0" i="0">
                <a:solidFill>
                  <a:schemeClr val="accent5">
                    <a:lumMod val="50000"/>
                  </a:schemeClr>
                </a:solidFill>
                <a:latin typeface="+mn-ea"/>
              </a:defRPr>
            </a:lvl1pPr>
          </a:lstStyle>
          <a:p>
            <a:pPr algn="ctr">
              <a:defRPr/>
            </a:pPr>
            <a:r>
              <a:rPr lang="zh-CN" sz="1800">
                <a:solidFill>
                  <a:schemeClr val="tx1"/>
                </a:solidFill>
                <a:latin typeface="+mn-lt"/>
                <a:cs typeface="+mn-ea"/>
              </a:rPr>
              <a:t>姓名：</a:t>
            </a:r>
            <a:r>
              <a:rPr lang="en-US" sz="1800">
                <a:solidFill>
                  <a:schemeClr val="tx1"/>
                </a:solidFill>
                <a:latin typeface="Arial"/>
                <a:cs typeface="微软雅黑"/>
              </a:rPr>
              <a:t>李文杰</a:t>
            </a:r>
            <a:endParaRPr lang="zh-CN" sz="1800">
              <a:solidFill>
                <a:schemeClr val="tx1"/>
              </a:solidFill>
              <a:latin typeface="+mn-lt"/>
              <a:cs typeface="+mn-ea"/>
            </a:endParaRPr>
          </a:p>
        </p:txBody>
      </p:sp>
      <p:sp>
        <p:nvSpPr>
          <p:cNvPr id="846039884" name="powerpoint template design by DAJU_PPT正版来源小红书大橘PPT微信DAJU_PPT请勿抄袭搬运！盗版必究！"/>
          <p:cNvSpPr txBox="1"/>
          <p:nvPr/>
        </p:nvSpPr>
        <p:spPr bwMode="auto">
          <a:xfrm>
            <a:off x="-304800" y="2420620"/>
            <a:ext cx="1110805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3" algn="ctr">
              <a:defRPr/>
            </a:pPr>
            <a:r>
              <a:rPr lang="en-US" sz="3200" b="1" spc="-150">
                <a:cs typeface="+mn-ea"/>
              </a:rPr>
              <a:t>——</a:t>
            </a:r>
            <a:r>
              <a:rPr lang="zh-CN" sz="4000" b="1" spc="300">
                <a:cs typeface="+mn-ea"/>
              </a:rPr>
              <a:t> 一生一芯</a:t>
            </a:r>
            <a:r>
              <a:rPr lang="en-US" sz="4000" b="1" spc="300">
                <a:cs typeface="+mn-ea"/>
              </a:rPr>
              <a:t>C</a:t>
            </a:r>
            <a:r>
              <a:rPr lang="zh-CN" sz="4000" b="1" spc="300">
                <a:cs typeface="+mn-ea"/>
              </a:rPr>
              <a:t>阶段结业答辩</a:t>
            </a:r>
            <a:r>
              <a:rPr lang="en-US" sz="4000" b="1" spc="300">
                <a:cs typeface="+mn-ea"/>
              </a:rPr>
              <a:t> </a:t>
            </a:r>
            <a:r>
              <a:rPr lang="en-US" sz="3200" b="1" spc="-150">
                <a:cs typeface="+mn-ea"/>
              </a:rPr>
              <a:t>——</a:t>
            </a:r>
          </a:p>
        </p:txBody>
      </p:sp>
      <p:sp>
        <p:nvSpPr>
          <p:cNvPr id="382231923" name="powerpoint template design by DAJU_PPT正版来源小红书大橘PPT微信DAJU_PPT请勿抄袭搬运！盗版必究！"/>
          <p:cNvSpPr txBox="1"/>
          <p:nvPr/>
        </p:nvSpPr>
        <p:spPr bwMode="auto">
          <a:xfrm>
            <a:off x="2407920" y="6249873"/>
            <a:ext cx="737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400">
                <a:solidFill>
                  <a:schemeClr val="bg1"/>
                </a:solidFill>
                <a:cs typeface="+mn-ea"/>
              </a:rPr>
              <a:t>——</a:t>
            </a:r>
            <a:r>
              <a:rPr lang="en-US" sz="1400" spc="300">
                <a:solidFill>
                  <a:schemeClr val="bg1"/>
                </a:solidFill>
                <a:cs typeface="+mn-ea"/>
              </a:rPr>
              <a:t> </a:t>
            </a:r>
            <a:r>
              <a:rPr lang="zh-CN" sz="1400" spc="300">
                <a:solidFill>
                  <a:schemeClr val="bg1"/>
                </a:solidFill>
                <a:cs typeface="+mn-ea"/>
              </a:rPr>
              <a:t>艰苦朴素 </a:t>
            </a:r>
            <a:r>
              <a:rPr lang="en-US" sz="1400" spc="300">
                <a:solidFill>
                  <a:schemeClr val="bg1"/>
                </a:solidFill>
                <a:cs typeface="+mn-ea"/>
              </a:rPr>
              <a:t>· </a:t>
            </a:r>
            <a:r>
              <a:rPr lang="zh-CN" sz="1400" spc="300">
                <a:solidFill>
                  <a:schemeClr val="bg1"/>
                </a:solidFill>
                <a:cs typeface="+mn-ea"/>
              </a:rPr>
              <a:t>实事求是 </a:t>
            </a:r>
            <a:r>
              <a:rPr lang="en-US" sz="1400" spc="300">
                <a:solidFill>
                  <a:schemeClr val="bg1"/>
                </a:solidFill>
                <a:cs typeface="+mn-ea"/>
              </a:rPr>
              <a:t>· </a:t>
            </a:r>
            <a:r>
              <a:rPr lang="zh-CN" sz="1400" spc="300">
                <a:solidFill>
                  <a:schemeClr val="bg1"/>
                </a:solidFill>
                <a:cs typeface="+mn-ea"/>
              </a:rPr>
              <a:t>严格要求 </a:t>
            </a:r>
            <a:r>
              <a:rPr lang="en-US" sz="1400" spc="300">
                <a:solidFill>
                  <a:schemeClr val="bg1"/>
                </a:solidFill>
                <a:cs typeface="+mn-ea"/>
              </a:rPr>
              <a:t>· </a:t>
            </a:r>
            <a:r>
              <a:rPr lang="zh-CN" sz="1400" spc="300">
                <a:solidFill>
                  <a:schemeClr val="bg1"/>
                </a:solidFill>
                <a:cs typeface="+mn-ea"/>
              </a:rPr>
              <a:t>勇于探索 </a:t>
            </a:r>
            <a:r>
              <a:rPr lang="en-US" sz="1400" spc="-150">
                <a:solidFill>
                  <a:schemeClr val="bg1"/>
                </a:solidFill>
                <a:cs typeface="+mn-ea"/>
              </a:rPr>
              <a:t>——</a:t>
            </a:r>
          </a:p>
        </p:txBody>
      </p:sp>
      <p:sp>
        <p:nvSpPr>
          <p:cNvPr id="44750935" name="powerpoint template design by DAJU_PPT正版来源小红书大橘PPT微信DAJU_PPT请勿抄袭搬运！盗版必究！"/>
          <p:cNvSpPr/>
          <p:nvPr/>
        </p:nvSpPr>
        <p:spPr bwMode="auto">
          <a:xfrm>
            <a:off x="351099" y="312517"/>
            <a:ext cx="11489802" cy="6302416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2085245258" name="powerpoint template design by DAJU_PPT正版来源小红书大橘PPT微信DAJU_PPT请勿抄袭搬运！盗版必究！"/>
          <p:cNvSpPr/>
          <p:nvPr/>
        </p:nvSpPr>
        <p:spPr bwMode="auto">
          <a:xfrm>
            <a:off x="0" y="5842000"/>
            <a:ext cx="12192000" cy="1016000"/>
          </a:xfrm>
          <a:custGeom>
            <a:avLst/>
            <a:gdLst>
              <a:gd name="connsiteX0" fmla="*/ 6096000 w 12192000"/>
              <a:gd name="connsiteY0" fmla="*/ 0 h 1016000"/>
              <a:gd name="connsiteX1" fmla="*/ 11872101 w 12192000"/>
              <a:gd name="connsiteY1" fmla="*/ 363047 h 1016000"/>
              <a:gd name="connsiteX2" fmla="*/ 12192000 w 12192000"/>
              <a:gd name="connsiteY2" fmla="*/ 416457 h 1016000"/>
              <a:gd name="connsiteX3" fmla="*/ 12192000 w 12192000"/>
              <a:gd name="connsiteY3" fmla="*/ 1016000 h 1016000"/>
              <a:gd name="connsiteX4" fmla="*/ 0 w 12192000"/>
              <a:gd name="connsiteY4" fmla="*/ 1016000 h 1016000"/>
              <a:gd name="connsiteX5" fmla="*/ 0 w 12192000"/>
              <a:gd name="connsiteY5" fmla="*/ 416457 h 1016000"/>
              <a:gd name="connsiteX6" fmla="*/ 319900 w 12192000"/>
              <a:gd name="connsiteY6" fmla="*/ 363047 h 1016000"/>
              <a:gd name="connsiteX7" fmla="*/ 6096000 w 12192000"/>
              <a:gd name="connsiteY7" fmla="*/ 0 h 10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016000" extrusionOk="0">
                <a:moveTo>
                  <a:pt x="6096000" y="0"/>
                </a:moveTo>
                <a:cubicBezTo>
                  <a:pt x="8351708" y="0"/>
                  <a:pt x="10393868" y="138738"/>
                  <a:pt x="11872101" y="363047"/>
                </a:cubicBezTo>
                <a:lnTo>
                  <a:pt x="12192000" y="416457"/>
                </a:lnTo>
                <a:lnTo>
                  <a:pt x="12192000" y="1016000"/>
                </a:lnTo>
                <a:lnTo>
                  <a:pt x="0" y="1016000"/>
                </a:lnTo>
                <a:lnTo>
                  <a:pt x="0" y="416457"/>
                </a:lnTo>
                <a:lnTo>
                  <a:pt x="319900" y="363047"/>
                </a:lnTo>
                <a:cubicBezTo>
                  <a:pt x="1798133" y="138738"/>
                  <a:pt x="3840293" y="0"/>
                  <a:pt x="6096000" y="0"/>
                </a:cubicBez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pic>
        <p:nvPicPr>
          <p:cNvPr id="356949815" name="图片 3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51155" y="312420"/>
            <a:ext cx="2211705" cy="2042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="" xmlns:m="http://schemas.openxmlformats.org/officeDocument/2006/math" xmlns:w="http://schemas.openxmlformats.org/wordprocessingml/2006/main">
      <p:transition spd="fast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6757716" name="powerpoint template design by DAJU_PPT正版来源小红书大橘PPT微信DAJU_PPT请勿抄袭搬运！盗版必究！"/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36853218" name="powerpoint template design by DAJU_PPT正版来源小红书大橘PPT微信DAJU_PPT请勿抄袭搬运！盗版必究！"/>
          <p:cNvSpPr txBox="1"/>
          <p:nvPr userDrawn="1"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974829579" name="powerpoint template design by DAJU_PPT正版来源小红书大橘PPT微信DAJU_PPT请勿抄袭搬运！盗版必究！"/>
          <p:cNvSpPr txBox="1"/>
          <p:nvPr userDrawn="1"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840171379" name="powerpoint template design by DAJU_PPT正版来源小红书大橘PPT微信DAJU_PPT请勿抄袭搬运！盗版必究！"/>
          <p:cNvCxnSpPr/>
          <p:nvPr userDrawn="1"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369855" name="标题 2"/>
          <p:cNvSpPr>
            <a:spLocks noGrp="1"/>
          </p:cNvSpPr>
          <p:nvPr>
            <p:ph type="title"/>
          </p:nvPr>
        </p:nvSpPr>
        <p:spPr bwMode="auto">
          <a:xfrm>
            <a:off x="467371" y="1350396"/>
            <a:ext cx="3733694" cy="401543"/>
          </a:xfrm>
        </p:spPr>
        <p:txBody>
          <a:bodyPr/>
          <a:lstStyle/>
          <a:p>
            <a:pPr>
              <a:defRPr/>
            </a:pPr>
            <a:r>
              <a:rPr lang="en-US" dirty="0"/>
              <a:t>1. </a:t>
            </a:r>
            <a:r>
              <a:rPr lang="en-US" dirty="0" err="1"/>
              <a:t>ysyx软硬件架构总览</a:t>
            </a:r>
            <a:endParaRPr dirty="0"/>
          </a:p>
        </p:txBody>
      </p:sp>
      <p:cxnSp>
        <p:nvCxnSpPr>
          <p:cNvPr id="645730197" name="powerpoint template design by DAJU_PPT正版来源小红书大橘PPT微信DAJU_PPT请勿抄袭搬运！盗版必究！"/>
          <p:cNvCxnSpPr/>
          <p:nvPr userDrawn="1"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4036458" name="powerpoint template design by DAJU_PPT正版来源小红书大橘PPT微信DAJU_PPT请勿抄袭搬运！盗版必究！"/>
          <p:cNvSpPr txBox="1"/>
          <p:nvPr userDrawn="1"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677368111" name="powerpoint template design by DAJU_PPT正版来源小红书大橘PPT微信DAJU_PPT请勿抄袭搬运！盗版必究！"/>
          <p:cNvCxnSpPr/>
          <p:nvPr/>
        </p:nvCxnSpPr>
        <p:spPr bwMode="auto">
          <a:xfrm>
            <a:off x="506349" y="1818892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8177756" name="图片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1179006872" name="标题 2"/>
          <p:cNvSpPr>
            <a:spLocks noGrp="1"/>
          </p:cNvSpPr>
          <p:nvPr>
            <p:ph type="title"/>
          </p:nvPr>
        </p:nvSpPr>
        <p:spPr bwMode="auto">
          <a:xfrm>
            <a:off x="467371" y="2189135"/>
            <a:ext cx="3511148" cy="401543"/>
          </a:xfrm>
        </p:spPr>
        <p:txBody>
          <a:bodyPr/>
          <a:lstStyle/>
          <a:p>
            <a:pPr>
              <a:defRPr/>
            </a:pPr>
            <a:r>
              <a:rPr lang="en-US"/>
              <a:t>2. 关键Makefile调用链</a:t>
            </a:r>
            <a:endParaRPr/>
          </a:p>
        </p:txBody>
      </p:sp>
      <p:sp>
        <p:nvSpPr>
          <p:cNvPr id="1719437948" name="标题 2"/>
          <p:cNvSpPr>
            <a:spLocks noGrp="1"/>
          </p:cNvSpPr>
          <p:nvPr>
            <p:ph type="title"/>
          </p:nvPr>
        </p:nvSpPr>
        <p:spPr bwMode="auto">
          <a:xfrm>
            <a:off x="487275" y="2987335"/>
            <a:ext cx="3072856" cy="401543"/>
          </a:xfrm>
        </p:spPr>
        <p:txBody>
          <a:bodyPr/>
          <a:lstStyle/>
          <a:p>
            <a:pPr>
              <a:defRPr/>
            </a:pPr>
            <a:r>
              <a:rPr lang="en-US" dirty="0"/>
              <a:t>3. </a:t>
            </a:r>
            <a:r>
              <a:rPr lang="en-US" dirty="0" err="1"/>
              <a:t>NPC架构</a:t>
            </a:r>
            <a:endParaRPr dirty="0"/>
          </a:p>
        </p:txBody>
      </p:sp>
      <p:sp>
        <p:nvSpPr>
          <p:cNvPr id="1638758585" name="标题 2"/>
          <p:cNvSpPr>
            <a:spLocks noGrp="1"/>
          </p:cNvSpPr>
          <p:nvPr>
            <p:ph type="title"/>
          </p:nvPr>
        </p:nvSpPr>
        <p:spPr bwMode="auto">
          <a:xfrm>
            <a:off x="506348" y="3759789"/>
            <a:ext cx="3294133" cy="401543"/>
          </a:xfrm>
        </p:spPr>
        <p:txBody>
          <a:bodyPr/>
          <a:lstStyle/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题目讲解</a:t>
            </a:r>
            <a:endParaRPr dirty="0"/>
          </a:p>
        </p:txBody>
      </p:sp>
      <p:sp>
        <p:nvSpPr>
          <p:cNvPr id="863914250" name="标题 2"/>
          <p:cNvSpPr>
            <a:spLocks noGrp="1"/>
          </p:cNvSpPr>
          <p:nvPr>
            <p:ph type="title"/>
          </p:nvPr>
        </p:nvSpPr>
        <p:spPr bwMode="auto">
          <a:xfrm>
            <a:off x="506348" y="4580724"/>
            <a:ext cx="3294853" cy="401543"/>
          </a:xfrm>
        </p:spPr>
        <p:txBody>
          <a:bodyPr/>
          <a:lstStyle/>
          <a:p>
            <a:pPr>
              <a:defRPr/>
            </a:pPr>
            <a:r>
              <a:rPr lang="en-US" dirty="0"/>
              <a:t>5. </a:t>
            </a:r>
            <a:r>
              <a:rPr lang="en-US" dirty="0" err="1"/>
              <a:t>后记总结</a:t>
            </a:r>
            <a:endParaRPr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651A996-74F6-A90C-B86A-975E384D87C1}"/>
              </a:ext>
            </a:extLst>
          </p:cNvPr>
          <p:cNvSpPr/>
          <p:nvPr/>
        </p:nvSpPr>
        <p:spPr bwMode="auto">
          <a:xfrm>
            <a:off x="7496451" y="1023542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E40DF4-B66C-E709-1EAA-7DDAD5B326B7}"/>
              </a:ext>
            </a:extLst>
          </p:cNvPr>
          <p:cNvSpPr/>
          <p:nvPr/>
        </p:nvSpPr>
        <p:spPr bwMode="auto">
          <a:xfrm>
            <a:off x="7490823" y="1427921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7693EF7-271E-09E0-7F29-71648CDCA269}"/>
              </a:ext>
            </a:extLst>
          </p:cNvPr>
          <p:cNvSpPr/>
          <p:nvPr/>
        </p:nvSpPr>
        <p:spPr bwMode="auto">
          <a:xfrm>
            <a:off x="7490823" y="1846309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FE55C18-C669-05F7-4901-F27F7BC49CEA}"/>
              </a:ext>
            </a:extLst>
          </p:cNvPr>
          <p:cNvSpPr/>
          <p:nvPr/>
        </p:nvSpPr>
        <p:spPr bwMode="auto">
          <a:xfrm>
            <a:off x="5824069" y="1846308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裸机程序</a:t>
            </a:r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B9FAFA-2640-2C48-BF2B-929624356985}"/>
              </a:ext>
            </a:extLst>
          </p:cNvPr>
          <p:cNvSpPr/>
          <p:nvPr/>
        </p:nvSpPr>
        <p:spPr bwMode="auto">
          <a:xfrm>
            <a:off x="5824069" y="2264696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E24A96-B4AE-BC56-25C6-CD5E698456DA}"/>
              </a:ext>
            </a:extLst>
          </p:cNvPr>
          <p:cNvSpPr/>
          <p:nvPr/>
        </p:nvSpPr>
        <p:spPr bwMode="auto">
          <a:xfrm>
            <a:off x="5715210" y="3899925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虚拟机(NEMU)</a:t>
            </a:r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4F87F4-4AEE-1F5E-6CBA-7AC0A6743204}"/>
              </a:ext>
            </a:extLst>
          </p:cNvPr>
          <p:cNvSpPr/>
          <p:nvPr/>
        </p:nvSpPr>
        <p:spPr bwMode="auto">
          <a:xfrm>
            <a:off x="8684804" y="3899925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A45B000-F497-1B26-763E-C62A31DA2008}"/>
              </a:ext>
            </a:extLst>
          </p:cNvPr>
          <p:cNvSpPr/>
          <p:nvPr/>
        </p:nvSpPr>
        <p:spPr bwMode="auto">
          <a:xfrm>
            <a:off x="8390800" y="2716757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箭头: 下 9">
            <a:extLst>
              <a:ext uri="{FF2B5EF4-FFF2-40B4-BE49-F238E27FC236}">
                <a16:creationId xmlns:a16="http://schemas.microsoft.com/office/drawing/2014/main" id="{8E3F7128-985C-DCAF-092B-BC7783E22E92}"/>
              </a:ext>
            </a:extLst>
          </p:cNvPr>
          <p:cNvSpPr/>
          <p:nvPr/>
        </p:nvSpPr>
        <p:spPr bwMode="auto">
          <a:xfrm>
            <a:off x="7001092" y="2683083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1" name="箭头: 下 10">
            <a:extLst>
              <a:ext uri="{FF2B5EF4-FFF2-40B4-BE49-F238E27FC236}">
                <a16:creationId xmlns:a16="http://schemas.microsoft.com/office/drawing/2014/main" id="{5C632F0E-EA9B-BC39-1471-928DFE9F86BE}"/>
              </a:ext>
            </a:extLst>
          </p:cNvPr>
          <p:cNvSpPr/>
          <p:nvPr/>
        </p:nvSpPr>
        <p:spPr bwMode="auto">
          <a:xfrm>
            <a:off x="9350692" y="2694723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A2AC60-B2CF-1EF7-0876-549FEE166EBE}"/>
              </a:ext>
            </a:extLst>
          </p:cNvPr>
          <p:cNvSpPr/>
          <p:nvPr/>
        </p:nvSpPr>
        <p:spPr bwMode="auto">
          <a:xfrm>
            <a:off x="8684804" y="4695463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89716A2-EC8C-E4F5-3409-98F123CF6119}"/>
              </a:ext>
            </a:extLst>
          </p:cNvPr>
          <p:cNvSpPr/>
          <p:nvPr/>
        </p:nvSpPr>
        <p:spPr bwMode="auto">
          <a:xfrm>
            <a:off x="8684804" y="5097007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2763D01-9496-0D4A-E330-FC0DF0A27052}"/>
              </a:ext>
            </a:extLst>
          </p:cNvPr>
          <p:cNvSpPr/>
          <p:nvPr/>
        </p:nvSpPr>
        <p:spPr bwMode="auto">
          <a:xfrm>
            <a:off x="8684804" y="551539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B6AD6A5-7DB0-EB8D-6FFA-E4172CA80456}"/>
              </a:ext>
            </a:extLst>
          </p:cNvPr>
          <p:cNvSpPr/>
          <p:nvPr/>
        </p:nvSpPr>
        <p:spPr bwMode="auto">
          <a:xfrm>
            <a:off x="8684804" y="593378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1016CBA-144A-01BA-88A8-97610EC21B5B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4F40AA2-FEAF-261D-457C-B04E6A52163F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66622FB-7E90-D0C9-F4B8-682F7559378D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D73FD3C-9C13-865C-BDDC-E9A7BB79FC61}"/>
              </a:ext>
            </a:extLst>
          </p:cNvPr>
          <p:cNvCxnSpPr>
            <a:cxnSpLocks/>
          </p:cNvCxnSpPr>
          <p:nvPr/>
        </p:nvCxnSpPr>
        <p:spPr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D26CC6D-5C13-63F2-74ED-DBE42CB5EA2B}"/>
              </a:ext>
            </a:extLst>
          </p:cNvPr>
          <p:cNvCxnSpPr>
            <a:cxnSpLocks/>
          </p:cNvCxnSpPr>
          <p:nvPr/>
        </p:nvCxnSpPr>
        <p:spPr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E231DEB9-5C2B-6582-C43E-9C6F1BFCF640}"/>
              </a:ext>
            </a:extLst>
          </p:cNvPr>
          <p:cNvSpPr/>
          <p:nvPr/>
        </p:nvSpPr>
        <p:spPr bwMode="auto">
          <a:xfrm>
            <a:off x="5824069" y="5166317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7684F14-6C75-A9A5-2BCE-792B7A506721}"/>
              </a:ext>
            </a:extLst>
          </p:cNvPr>
          <p:cNvSpPr txBox="1"/>
          <p:nvPr/>
        </p:nvSpPr>
        <p:spPr bwMode="auto">
          <a:xfrm>
            <a:off x="6331299" y="5101481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507DD3C-AD26-C486-084D-BE1044134018}"/>
              </a:ext>
            </a:extLst>
          </p:cNvPr>
          <p:cNvSpPr/>
          <p:nvPr/>
        </p:nvSpPr>
        <p:spPr bwMode="auto">
          <a:xfrm>
            <a:off x="5830088" y="5558879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9FE0065-4C01-BF77-D417-5B071075D030}"/>
              </a:ext>
            </a:extLst>
          </p:cNvPr>
          <p:cNvSpPr txBox="1"/>
          <p:nvPr/>
        </p:nvSpPr>
        <p:spPr bwMode="auto">
          <a:xfrm>
            <a:off x="6337318" y="5494043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4A78576-D456-9CDC-6B38-3A8E21968567}"/>
              </a:ext>
            </a:extLst>
          </p:cNvPr>
          <p:cNvSpPr/>
          <p:nvPr/>
        </p:nvSpPr>
        <p:spPr bwMode="auto">
          <a:xfrm>
            <a:off x="5830088" y="5940582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D5869C4-4947-7D8E-966C-8DBF0F05FB2F}"/>
              </a:ext>
            </a:extLst>
          </p:cNvPr>
          <p:cNvSpPr txBox="1"/>
          <p:nvPr/>
        </p:nvSpPr>
        <p:spPr bwMode="auto">
          <a:xfrm>
            <a:off x="6337318" y="587574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46A24BD-F3F2-3A35-21CC-8D843E227EF2}"/>
              </a:ext>
            </a:extLst>
          </p:cNvPr>
          <p:cNvSpPr/>
          <p:nvPr/>
        </p:nvSpPr>
        <p:spPr bwMode="auto">
          <a:xfrm>
            <a:off x="5824069" y="4737959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01BAAD9-7A07-EF17-606B-CB3C6173A4D4}"/>
              </a:ext>
            </a:extLst>
          </p:cNvPr>
          <p:cNvSpPr txBox="1"/>
          <p:nvPr/>
        </p:nvSpPr>
        <p:spPr bwMode="auto">
          <a:xfrm>
            <a:off x="6331299" y="4673123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="" xmlns:m="http://schemas.openxmlformats.org/officeDocument/2006/math" xmlns:w="http://schemas.openxmlformats.org/wordprocessingml/2006/main">
      <p:transition spd="fast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4DC71D8-50AE-BCBE-3974-C8CED09E6DE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6F36EA53-0816-9D2F-2081-5354E3585D4C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5E4B6B0E-A030-B853-D081-F4651A12A13A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F8550406-CA46-C24D-4808-804AC49C5285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8428A3DE-624D-47B5-8A70-239F11FFB38F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AM</a:t>
            </a:r>
            <a:r>
              <a:rPr lang="zh-CN" altLang="en-US" dirty="0"/>
              <a:t>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060635F0-142B-45D6-04C6-3C1F25A7A3A8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EE830213-CDB6-5153-4728-8C43399924F6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虚拟机(NEMU)</a:t>
            </a:r>
            <a:endParaRPr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11C786CB-78D4-CD62-117F-141109B56C3A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C24243C6-684C-13AE-3AB9-1FF4B3D1B334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70CC8073-3784-0202-42DB-36D2ABDBD669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B06D8383-1E1A-37FA-9B93-41FB3E315AC4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F9B6ACFB-2F1A-D3EB-547C-C63933CA3FEE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02BDF303-0C45-EC73-CD43-5AB7BB3E0130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2A8ABEE7-D3C3-5B80-3EEC-7926754C6E45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7AB901C9-132F-7B21-9BCC-D2DFF761AC8B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388A18D1-5F7B-C087-7963-71B609662FFC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56DEFF7-5B8A-9032-179A-246D1E9B315F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BF4A47C-06A7-11F5-8D05-1B7639DA3FF7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F9E02E3-635C-F94E-486D-A3DA12710331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E541B9-0578-95E2-81D6-DCBFFFC60F46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B10976-0267-F9B7-7938-807B53DCFA3B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1875CAC-0C2E-6270-1429-095458278F1C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6F8EF8A7-A5F7-E19F-9089-201AA537440F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101E8E-A361-924A-37F0-8DD3261616D0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E1AD72-8F8A-C2CC-B7A7-DFE4F75F3C1D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AA26D4-92A2-FF7E-8C3A-7041CE9CDE0F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053934E-B9B1-A036-D130-8318AA404DAB}"/>
              </a:ext>
            </a:extLst>
          </p:cNvPr>
          <p:cNvSpPr txBox="1"/>
          <p:nvPr/>
        </p:nvSpPr>
        <p:spPr bwMode="auto">
          <a:xfrm>
            <a:off x="7333795" y="1109017"/>
            <a:ext cx="4541069" cy="1942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/>
              <a:t>C</a:t>
            </a:r>
            <a:r>
              <a:rPr lang="zh-CN" altLang="en-US" dirty="0"/>
              <a:t>程序跨</a:t>
            </a:r>
            <a:r>
              <a:rPr lang="en-US" altLang="zh-CN" dirty="0"/>
              <a:t>ISA</a:t>
            </a:r>
            <a:r>
              <a:rPr lang="zh-CN" altLang="en-US" dirty="0"/>
              <a:t>平台编译运行的最小环境支持</a:t>
            </a:r>
            <a:endParaRPr lang="en-US" altLang="zh-CN" dirty="0"/>
          </a:p>
          <a:p>
            <a:pPr>
              <a:defRPr/>
            </a:pPr>
            <a:r>
              <a:rPr lang="en-US" dirty="0"/>
              <a:t>AM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HAL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 err="1"/>
              <a:t>AMLib</a:t>
            </a:r>
            <a:r>
              <a:rPr lang="en-US" altLang="zh-CN" dirty="0"/>
              <a:t> + scripts</a:t>
            </a:r>
          </a:p>
          <a:p>
            <a:pPr marL="342900" indent="-342900">
              <a:buAutoNum type="arabicPeriod"/>
              <a:defRPr/>
            </a:pPr>
            <a:r>
              <a:rPr lang="en-US" dirty="0"/>
              <a:t>HAL</a:t>
            </a:r>
            <a:r>
              <a:rPr lang="zh-CN" altLang="en-US" dirty="0"/>
              <a:t>硬件抽象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基本</a:t>
            </a:r>
            <a:r>
              <a:rPr lang="en-US" altLang="zh-CN" dirty="0"/>
              <a:t>C</a:t>
            </a:r>
            <a:r>
              <a:rPr lang="zh-CN" altLang="en-US" dirty="0"/>
              <a:t>库函数与最小运行时环境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en-US" altLang="zh-CN" dirty="0"/>
              <a:t>AM</a:t>
            </a:r>
            <a:r>
              <a:rPr lang="zh-CN" altLang="en-US" dirty="0"/>
              <a:t>程序的跨平台编译链接脚本</a:t>
            </a:r>
            <a:endParaRPr dirty="0"/>
          </a:p>
        </p:txBody>
      </p:sp>
      <p:sp>
        <p:nv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8BDC520-AAB5-0542-B599-5D9F860251FB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C94240F-5EA6-79ED-6F0E-25D0E800A366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9B8E1FD-7C15-E219-D0CC-07601FBE2E32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91F446F-DCAD-D78D-0702-6544A9AD4D9D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3F703D9-A920-9DC3-4DA2-8866C0FCBAF3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B7E6369-F602-F2B5-8273-AE0A29132072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21" name="图片 3">
            <a:extLst>
              <a:ext uri="{FF2B5EF4-FFF2-40B4-BE49-F238E27FC236}">
                <a16:creationId xmlns:a16="http://schemas.microsoft.com/office/drawing/2014/main" id="{EDE83FB6-18B9-C108-BFA2-629C66D6EB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2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B4D921F-D0DD-1D61-A52C-E41AD5FBE04D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4D092BB-7ABD-1AD8-35B9-2F73CD51000E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0B4AA17-68D0-D9A9-DB08-F76B4159463E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DF4FB45-44B2-E488-5253-9C6834415C8E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DB75ECC-A768-F790-EA64-04023EFC4A9F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9203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A442784-75E5-5B48-27F9-774BBE7043A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209934EF-2B11-B36C-7190-613A03DEBF30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9C676E01-3E5E-B4CA-DADF-1B1E7CDF10C6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A597791A-A415-6217-8DBF-3425B1E2CAD3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3D153A20-B3FF-FAE8-AD74-4B0917697D2D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AM</a:t>
            </a:r>
            <a:r>
              <a:rPr lang="zh-CN" altLang="en-US" dirty="0"/>
              <a:t>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CF97D322-7D07-AF60-4419-F7BCD8868960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71F404B6-D884-82A8-F1B1-6C9F9239B6B1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虚拟机(NEMU)</a:t>
            </a:r>
            <a:endParaRPr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034DC890-9D0C-8BBB-F94B-38EB9F77F822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8B6687B6-0DED-876E-7F32-E89DCFCCD5E2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AD979FDB-06FC-0B0D-E20E-7FD5E0A9E6C7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11BC2A2E-0692-2542-73F8-B66AD6F8BA45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9F2A87ED-BE13-39FB-F885-AD80792273F3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FA42FB69-8F8A-825A-A3A5-DB5419005053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3B65E840-3699-9825-D031-2934063F08DB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CD49F202-E3F2-3599-4E7D-6C3B3602BC98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40B73286-B6BD-9EFB-0D15-5E7D6B1E4B69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AD15F1-ADB6-BA03-4696-8C65612A6871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D74AF0-8A48-BDF3-21F8-9D4C93AF80EE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D7361E-3A93-1C37-040B-19C7FA30770E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52E74A-33FF-8725-4055-4407897BD031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F7C3B8-DE59-0C07-02FD-0AAF4AFEBB34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63DA6D-7091-C22C-2125-68942E1FCBEA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4EDC0669-7D92-1E14-69E3-B78346437B80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FE5CAB-A686-EFE0-44FB-65373347D78A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FC06BB-F5F0-7D70-BF33-2B17C43965E7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764099-2234-3A5F-36B0-1016773DAB11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249660570" name="文本框 249660569"/>
          <p:cNvSpPr txBox="1"/>
          <p:nvPr/>
        </p:nvSpPr>
        <p:spPr bwMode="auto">
          <a:xfrm>
            <a:off x="7402480" y="1145183"/>
            <a:ext cx="3936777" cy="246875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宿主机</a:t>
            </a:r>
            <a:r>
              <a:rPr lang="zh-CN" altLang="en-US" dirty="0"/>
              <a:t>环境</a:t>
            </a:r>
            <a:r>
              <a:rPr lang="en-US" dirty="0" err="1"/>
              <a:t>模拟各ISA硬件的虚拟机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en-US" dirty="0" err="1"/>
              <a:t>Menuconfig配置</a:t>
            </a:r>
            <a:r>
              <a:rPr lang="zh-CN" altLang="en-US" dirty="0"/>
              <a:t>虚拟机参数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en-US" dirty="0" err="1"/>
              <a:t>各ISA下</a:t>
            </a:r>
            <a:r>
              <a:rPr lang="zh-CN" altLang="en-US" dirty="0"/>
              <a:t>的</a:t>
            </a:r>
            <a:r>
              <a:rPr lang="en-US" altLang="zh-CN" dirty="0"/>
              <a:t>CPU</a:t>
            </a:r>
            <a:r>
              <a:rPr lang="zh-CN" altLang="en-US" dirty="0"/>
              <a:t>行为抽象。</a:t>
            </a:r>
            <a:endParaRPr lang="en-US" altLang="zh-CN" dirty="0"/>
          </a:p>
          <a:p>
            <a:pPr marL="283878" indent="-283878">
              <a:buAutoNum type="arabicPeriod"/>
              <a:defRPr/>
            </a:pPr>
            <a:r>
              <a:rPr lang="zh-CN" altLang="en-US" dirty="0"/>
              <a:t>平台可执行程序镜像载入与运行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en-US" dirty="0" err="1"/>
              <a:t>宿主机</a:t>
            </a:r>
            <a:r>
              <a:rPr lang="zh-CN" altLang="en-US" dirty="0"/>
              <a:t>库环境</a:t>
            </a:r>
            <a:r>
              <a:rPr lang="en-US" altLang="zh-CN" dirty="0"/>
              <a:t>+</a:t>
            </a:r>
            <a:r>
              <a:rPr lang="en-US" dirty="0" err="1"/>
              <a:t>硬件资源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en-US" dirty="0" err="1"/>
              <a:t>基础调试设施Monitor</a:t>
            </a:r>
            <a:r>
              <a:rPr lang="en-US" dirty="0"/>
              <a:t>/</a:t>
            </a:r>
            <a:r>
              <a:rPr lang="en-US" dirty="0" err="1"/>
              <a:t>DiffTest</a:t>
            </a:r>
            <a:endParaRPr lang="en-US" dirty="0"/>
          </a:p>
        </p:txBody>
      </p:sp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B4C6AFE-6BB8-0953-9841-DD60FD5F648F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658E81B-2D23-73E3-4338-D69071375DAF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BE19E66-F529-2703-0249-87BA9ECE201E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51AF81E-6014-FEB8-E4FB-3F051F59CD24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9134017-44FE-2018-7CB0-AFB53B3024E8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8E0276C-9E75-88B5-DC9D-9ACF2CAF75F3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19" name="图片 3">
            <a:extLst>
              <a:ext uri="{FF2B5EF4-FFF2-40B4-BE49-F238E27FC236}">
                <a16:creationId xmlns:a16="http://schemas.microsoft.com/office/drawing/2014/main" id="{B0A13E11-A949-B6AB-B3C3-CEF061619C3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D1D0A02-ED98-B8C7-A9E7-89C6243BCDAD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ED6C4D3-4EB6-1DDF-FD7E-1CC9D680DB64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4950A40-3CC8-B2FD-6260-68DD9AA1FC69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B701645-CD4F-CC8A-7BB5-238128DBFE79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EC0875B-D081-4E6D-036D-4F35315C2F16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063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D35FF82-E929-D56F-5CA1-9790B17EFD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EB46313C-DB6B-7D92-408D-69C453E9F2E5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683AD732-6251-3B83-AB36-10CB682B29D4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A0824B84-4B7D-63C6-7DAE-5A7F3A6679B9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0A45FB49-F7E8-DB2F-672E-9735ACDD204B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AM程序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B5F6B7B3-23CC-2CB9-498C-740DF8FBBAA8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3DCD43B8-DF79-CFB6-CB3A-848406EBA087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虚拟机(NEMU)</a:t>
            </a:r>
            <a:endParaRPr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9A594A06-A627-14A5-A751-17D7263A975B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24E4703E-99A6-C80E-1378-667130FDB68A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44290E15-8F7B-AF20-F1AE-C7EC032CB0FC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49B45A01-E648-D4D1-BA68-D51F746A7350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95B3ED38-0696-CD3E-CF16-CB80D395CF15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322FDB8C-9C51-DF02-2219-DD076E490CBD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A47AD010-A444-5822-9390-A287FB039563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6E8B2526-851F-3728-71CC-913453DCF255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219EA64D-CB29-A457-E150-A5E401E1F539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49EDAB-F9FA-35B0-F67F-3C988AF37AE2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3926F29-6A11-FF23-2D34-1C7C3E73DEEA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7AFE06-3911-5510-8D5E-99B6C4F845FA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9558CC1-7914-B662-9763-67EE55091204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0CBF982-B9F2-C39D-BE71-CB68322D8C3D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279DACA-9EFE-9256-48C9-738E4663F58B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C2807A83-EE9E-B307-2510-508A37AD3690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E413FA0-0956-36EC-7D08-D0405B84ED07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CAF6F88-8757-5E7A-E8D2-829818151C6C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4BAA2D-A689-6C5F-4FB9-15EDA9B81E2A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711244237" name="文本框 711244236">
            <a:extLst>
              <a:ext uri="{FF2B5EF4-FFF2-40B4-BE49-F238E27FC236}">
                <a16:creationId xmlns:a16="http://schemas.microsoft.com/office/drawing/2014/main" id="{0609006E-6649-F2DF-B75C-C06DDF6DE3CB}"/>
              </a:ext>
            </a:extLst>
          </p:cNvPr>
          <p:cNvSpPr txBox="1"/>
          <p:nvPr/>
        </p:nvSpPr>
        <p:spPr bwMode="auto">
          <a:xfrm>
            <a:off x="7333795" y="1109017"/>
            <a:ext cx="4541069" cy="28648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zh-CN" altLang="en-US" dirty="0"/>
              <a:t>运行在硬件抽象层的程序合集</a:t>
            </a:r>
            <a:r>
              <a:rPr lang="en-US" altLang="zh-CN" dirty="0"/>
              <a:t>am-kernels</a:t>
            </a:r>
            <a:r>
              <a:rPr lang="zh-CN" altLang="en-US" dirty="0"/>
              <a:t>，主要目的是向底层验证</a:t>
            </a:r>
            <a:r>
              <a:rPr lang="en-US" altLang="zh-CN" dirty="0"/>
              <a:t>CPU</a:t>
            </a:r>
            <a:r>
              <a:rPr lang="zh-CN" altLang="en-US" dirty="0"/>
              <a:t>实现与硬件抽象的正确性。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en-US" altLang="zh-CN" dirty="0"/>
              <a:t>CPU</a:t>
            </a:r>
            <a:r>
              <a:rPr lang="zh-CN" altLang="en-US" dirty="0"/>
              <a:t>硬件正确性测试程序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抽象接口正确性测试程序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复杂</a:t>
            </a:r>
            <a:r>
              <a:rPr lang="en-US" altLang="zh-CN" dirty="0"/>
              <a:t>App</a:t>
            </a:r>
            <a:r>
              <a:rPr lang="zh-CN" altLang="en-US" dirty="0"/>
              <a:t>综合测试程序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en-US" altLang="zh-CN" dirty="0"/>
              <a:t>CPU</a:t>
            </a:r>
            <a:r>
              <a:rPr lang="zh-CN" altLang="en-US" dirty="0"/>
              <a:t>性能跑分程序</a:t>
            </a:r>
          </a:p>
        </p:txBody>
      </p:sp>
      <p:sp>
        <p:nvSpPr>
          <p:cNvPr id="1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098C968-F148-9399-57A3-D6272D48E375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3E610D6-5402-1082-698A-14746CD5138A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B782E53-2606-7504-151A-7136A06EE4B6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0027870-22E5-FB4C-7020-F00E58359DBC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90E046D-08C9-C647-2B5E-33DDB22B51B2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EE2E90E-0D61-2A97-59A4-7B04DB2469CE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19" name="图片 3">
            <a:extLst>
              <a:ext uri="{FF2B5EF4-FFF2-40B4-BE49-F238E27FC236}">
                <a16:creationId xmlns:a16="http://schemas.microsoft.com/office/drawing/2014/main" id="{C0AE8216-9241-D9F0-61E0-F0EE192DF02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A1D7A5A-D55E-66CA-8135-2BB3DB5B7550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4890F45-CAB4-A87C-23DC-E467963B0FF1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C955A06-468C-3865-5A62-0A7C3B374BCD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A5C2FF3-2E97-98FC-348A-37F6A711E646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C686226-B44F-6A2C-FAA1-63A68CC72991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2993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457FC2B-9152-ADD1-1809-C499A1C5344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FB6B52E0-68DC-1D5C-6408-46D72C51C553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7AA0B68F-C49A-2F08-8945-33C59B2D7B5C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A5BBDE4D-9E8B-4768-5514-4D042ED8FFA0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4604483B-892F-925A-FD60-DACE6DC410D6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AM</a:t>
            </a:r>
            <a:r>
              <a:rPr lang="zh-CN" altLang="en-US" dirty="0"/>
              <a:t>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96A0BA45-1BC7-7E3B-7599-A6498647C49E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5EE728B3-AF2E-58E3-21DF-181D0222E584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虚拟机</a:t>
            </a:r>
            <a:r>
              <a:rPr lang="en-US" dirty="0"/>
              <a:t>(NEMU)</a:t>
            </a:r>
            <a:endParaRPr dirty="0"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1197F93B-D5A5-02BF-2674-DAD2E9A11F42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EF4C7332-C34A-1579-88A0-DC20AB8A1D1E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EE5DEC87-D936-72C6-4099-53A756E3C48C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5FAE3539-B444-8065-F82C-0ADFE88CFDB3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8FA8B24A-EC50-3850-96C7-FDE4BDD34613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B2DBBA3E-7F72-60B9-C823-A782EDE99969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DFAE83C5-4EE0-64C9-D3FD-610542C0D959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E60E6317-DA90-28E3-81DE-24F64C054694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6D0B297A-B3F8-6EEE-953C-45BFFF086F68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6D5773-F326-D985-3AD9-0F3C38ABAB4A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7855CB-09A6-0EF6-E0CB-DF00A132AEA5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0D5811-45D6-A20B-751E-30AF1F32F22D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55B64E9-C7D4-6397-AA84-59B4D4EB2F8A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2ABA46-9F9F-275C-76C5-5919BEEE3361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30117A-8399-396B-ECE1-AF64735891F3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17FBED66-0CE6-BD0B-845D-DD93ED0A10E9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6C4AC-A0BD-09F4-7CBF-0EBAB521DA67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774538-089B-9B21-526B-C94059FD4157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FD21FF-80FE-8A1B-68FD-376449AD6A82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496486137" name="文本框 496486136"/>
          <p:cNvSpPr txBox="1"/>
          <p:nvPr/>
        </p:nvSpPr>
        <p:spPr bwMode="auto">
          <a:xfrm>
            <a:off x="7451548" y="1108226"/>
            <a:ext cx="4133337" cy="246875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RTL设计被verilatort编译后的电路级仿真cpp程序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en-US" dirty="0" err="1"/>
              <a:t>SoC的RTL实现+Verilator编译产物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en-US" dirty="0" err="1"/>
              <a:t>CPP仿真主程序及其Testbench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zh-CN" altLang="en-US" dirty="0"/>
              <a:t>平台可执行程序镜像载入与运行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en-US" dirty="0" err="1"/>
              <a:t>基础调试设施Monitor</a:t>
            </a:r>
            <a:r>
              <a:rPr lang="en-US" dirty="0"/>
              <a:t>/</a:t>
            </a:r>
            <a:r>
              <a:rPr lang="en-US" dirty="0" err="1"/>
              <a:t>DiffTest</a:t>
            </a:r>
            <a:endParaRPr lang="en-US" dirty="0"/>
          </a:p>
        </p:txBody>
      </p:sp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5CADE52-BC29-3DD2-11BB-4341DFB70E42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70A0F46-6C4B-3BC7-1593-047A0A1E3E8D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083E461-FBBF-E092-237A-1F976815E7D9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5F74D33-19C9-E7D5-0AC5-FD3786920F15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30DA44D-4C86-BF99-A6EE-9F3676C4C22C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DE32D3C-4693-3447-42A1-18B64D74B3A1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18" name="图片 3">
            <a:extLst>
              <a:ext uri="{FF2B5EF4-FFF2-40B4-BE49-F238E27FC236}">
                <a16:creationId xmlns:a16="http://schemas.microsoft.com/office/drawing/2014/main" id="{B43513A5-3D83-D73F-8A9B-B14F59BB23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1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848628C-C7DB-4839-4B82-FE0093C7880A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4FC1237-2CCB-48C4-AA9A-11DEAD62F0DF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FD18D8B-E988-E86D-E5D3-7B3C4734EC8C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595C6C1-5C8A-8DC4-1F9E-2F87E9589E64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2A84813-15B8-763B-EF46-42ED66DE7E56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743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D7215C4-7A68-9C0C-ED4B-9C4463330C6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A00940B8-C2FA-1B47-9DC0-86382274DC61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249C1DFC-3E9F-D7D9-FE62-62193AC7C4DA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278C01FA-4E77-819B-F7DF-08D9E55E18E1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C11453CC-2E3E-1BDC-DA26-F3D9E52402CB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AM程序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5CA0E1CA-7DE5-1161-E42A-2CF0E1409BC9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C13997D5-BA54-EE61-F4D8-9302D445C3C2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虚拟机(NEMU)</a:t>
            </a:r>
            <a:endParaRPr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EB6D5B5C-C9B0-7D1E-9F83-9593DD6A6612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3B11A7E9-BD3F-95D5-1DBF-10D575746B61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F03356E2-8964-8B28-8156-BADF7F6E135D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AD9DA63B-8225-710D-4DA7-16451CF36743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748A26C4-63E9-7893-7C9F-4CCD6CCA5CF4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3D6FE407-F6D7-C538-1C07-DB799A621983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96F157FF-32E4-DE5D-5C08-FF0BD271A84A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89E20307-CFFB-0CD7-9EAD-EE779116B7FA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8BE67668-861B-58BF-2521-8285189F1AE9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5963D2B-E368-339C-19E4-C6B1F51B8DDD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EF52B7-3D3A-C947-C7B0-86B8264818AD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6D8368-60A2-66BC-EB87-6544486A58F0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714968-7359-CADB-F0F6-CFEEAE29DBD2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B98CC00-AC8E-D4B5-C4EF-57E74F88B1EE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FA17EF-9EC9-A904-AD1F-F9A999DFB385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82DA5699-0870-261D-150F-EE3A3FC658BB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D8DD0F-9B85-D0E8-7230-EA1B66D88CBA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D75BA1-4934-A1EC-D96E-DF72F1F9C53F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BB30A29-1307-1B8B-40D4-46E2DDC7F5A7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711244237" name="文本框 711244236"/>
          <p:cNvSpPr txBox="1"/>
          <p:nvPr/>
        </p:nvSpPr>
        <p:spPr bwMode="auto">
          <a:xfrm>
            <a:off x="7333795" y="1109017"/>
            <a:ext cx="4541069" cy="32608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zh-CN" altLang="en-US" dirty="0">
                <a:latin typeface="Arial"/>
                <a:ea typeface="微软雅黑"/>
                <a:cs typeface="Arial"/>
              </a:rPr>
              <a:t>一个特殊的</a:t>
            </a:r>
            <a:r>
              <a:rPr lang="en-US" altLang="zh-CN" dirty="0" err="1">
                <a:latin typeface="Arial"/>
                <a:ea typeface="微软雅黑"/>
                <a:cs typeface="Arial"/>
              </a:rPr>
              <a:t>AM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程序，响应并处理硬件中断异常是它的本质特征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zh-CN" altLang="en-US" dirty="0"/>
              <a:t>程序加载</a:t>
            </a:r>
            <a:endParaRPr lang="en-US" altLang="zh-CN" dirty="0"/>
          </a:p>
          <a:p>
            <a:pPr>
              <a:defRPr/>
            </a:pPr>
            <a:r>
              <a:rPr lang="en-US" dirty="0"/>
              <a:t>2. </a:t>
            </a:r>
            <a:r>
              <a:rPr lang="en-US" dirty="0" err="1"/>
              <a:t>系统调用</a:t>
            </a:r>
            <a:endParaRPr lang="en-US" dirty="0"/>
          </a:p>
          <a:p>
            <a:pPr>
              <a:defRPr/>
            </a:pPr>
            <a:r>
              <a:rPr lang="en-US" dirty="0"/>
              <a:t>3. </a:t>
            </a:r>
            <a:r>
              <a:rPr lang="en-US" dirty="0" err="1"/>
              <a:t>进程</a:t>
            </a:r>
            <a:r>
              <a:rPr lang="zh-CN" altLang="en-US" dirty="0"/>
              <a:t>线程</a:t>
            </a:r>
            <a:r>
              <a:rPr lang="en-US" dirty="0" err="1"/>
              <a:t>抽象</a:t>
            </a:r>
            <a:r>
              <a:rPr lang="en-US" dirty="0"/>
              <a:t>/</a:t>
            </a:r>
            <a:r>
              <a:rPr lang="en-US" dirty="0" err="1"/>
              <a:t>调度</a:t>
            </a:r>
            <a:endParaRPr lang="en-US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内存管理</a:t>
            </a:r>
            <a:endParaRPr lang="en-US" dirty="0"/>
          </a:p>
          <a:p>
            <a:pPr>
              <a:defRPr/>
            </a:pPr>
            <a:r>
              <a:rPr lang="en-US" dirty="0"/>
              <a:t>5. </a:t>
            </a:r>
            <a:r>
              <a:rPr lang="en-US" dirty="0" err="1"/>
              <a:t>文件系统</a:t>
            </a:r>
            <a:endParaRPr lang="en-US" dirty="0"/>
          </a:p>
          <a:p>
            <a:pPr>
              <a:defRPr/>
            </a:pPr>
            <a:r>
              <a:rPr lang="en-US" altLang="zh-CN" dirty="0"/>
              <a:t>6. </a:t>
            </a:r>
            <a:r>
              <a:rPr lang="zh-CN" altLang="en-US" dirty="0"/>
              <a:t>外设驱动</a:t>
            </a:r>
          </a:p>
        </p:txBody>
      </p:sp>
      <p:sp>
        <p:nvSpPr>
          <p:cNvPr id="1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EE51982-01DB-DA54-09D3-343A083D7F46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610BF96-E61E-3C08-CDCB-27F9D81FE5A6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F82B96F-1C4F-CA0F-1787-EE712F25EEEA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7E61948-03B7-D2AA-66BE-242312936ECD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DFDF8A2-EA04-8152-486C-361CF9779328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9AF9B4B-7852-5201-1308-B699199AAB6D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19" name="图片 3">
            <a:extLst>
              <a:ext uri="{FF2B5EF4-FFF2-40B4-BE49-F238E27FC236}">
                <a16:creationId xmlns:a16="http://schemas.microsoft.com/office/drawing/2014/main" id="{650604D8-4145-8C48-4015-FA9DD32072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174C917-45A0-87BE-9299-B2C01055BFD3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F333EEF-5BE1-8908-DA78-758604BBEC36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2D408F9-4194-CE99-E706-DF4E93ED86FA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7B1011-F160-F2BD-79BC-A52FBBE21703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2B78C2B-43AC-D51E-88EB-FD09D541C102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6930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455503F-669C-5040-2E04-6265521326C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CCF0920D-3704-4B1C-7F07-A84B1C37A457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BDE28057-0875-440D-330D-8685D3F023C4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EF6E573C-1B91-EE66-B092-7F151E28F25D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8CE0D92D-58AF-A86D-9FD4-81D946281870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AM程序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3D01E5BC-CC3D-F140-73D7-3E17BEBDA9E2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39FE4E32-AEA5-637C-9186-16BDA383E995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虚拟机(NEMU)</a:t>
            </a:r>
            <a:endParaRPr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867B190B-4CBE-E200-CD08-680F0A9FA75D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2344B702-85B2-0462-8A3B-761FB38834C8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ACD9D9B3-470C-B3A6-3DDF-B3EB196D00D6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5DCB06A1-E121-32F2-5AF8-75C651C9D2B6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CF18A89C-78B9-9940-6A77-5D2FBC08FFC8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0365A953-2050-82E5-A7BC-B51389B6FFD8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D8F47B35-E75F-B533-19F8-0442AF32661B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879145D7-2EC4-144F-6DD9-359FD47F1606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B08BA035-1585-58E2-9A85-6FE1AAEB879C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436BA4-BFDE-35CB-157C-70BF81F5F943}"/>
              </a:ext>
            </a:extLst>
          </p:cNvPr>
          <p:cNvSpPr txBox="1"/>
          <p:nvPr/>
        </p:nvSpPr>
        <p:spPr bwMode="auto">
          <a:xfrm>
            <a:off x="7468637" y="1469090"/>
            <a:ext cx="4401418" cy="28648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</a:t>
            </a:r>
            <a:r>
              <a:rPr lang="zh-CN" altLang="en-US" dirty="0"/>
              <a:t>用户</a:t>
            </a:r>
            <a:r>
              <a:rPr lang="en-US" dirty="0" err="1"/>
              <a:t>程序库环境支持</a:t>
            </a:r>
            <a:r>
              <a:rPr lang="en-US" dirty="0"/>
              <a:t>/</a:t>
            </a:r>
            <a:r>
              <a:rPr lang="en-US" dirty="0" err="1"/>
              <a:t>适配</a:t>
            </a:r>
            <a:r>
              <a:rPr lang="en-US" dirty="0"/>
              <a:t>，</a:t>
            </a:r>
            <a:r>
              <a:rPr lang="zh-CN" altLang="en-US" dirty="0"/>
              <a:t>完备的系统库</a:t>
            </a:r>
            <a:r>
              <a:rPr lang="en-US" dirty="0" err="1"/>
              <a:t>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 marL="283878" indent="-283878">
              <a:buAutoNum type="arabicPeriod"/>
              <a:defRPr/>
            </a:pP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</a:t>
            </a:r>
            <a:r>
              <a:rPr lang="zh-CN" alt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时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r>
              <a:rPr lang="en-US" dirty="0"/>
              <a:t>/</a:t>
            </a:r>
            <a:r>
              <a:rPr lang="zh-CN" altLang="en-US" dirty="0"/>
              <a:t>数学计算库</a:t>
            </a:r>
            <a:r>
              <a:rPr lang="en-US" altLang="zh-CN" dirty="0"/>
              <a:t>…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zh-CN" altLang="en-US" dirty="0"/>
              <a:t>系统</a:t>
            </a:r>
            <a:r>
              <a:rPr lang="en-US" dirty="0" err="1"/>
              <a:t>镜像文件打包</a:t>
            </a:r>
            <a:r>
              <a:rPr lang="zh-CN" altLang="en-US" dirty="0"/>
              <a:t>更新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214D57-4F0F-DB6E-33C6-EC48E8383F67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2CB769-E398-C904-8C3E-596CC283B6FF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DA3A11-5F62-F637-BD6C-E296450D7860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680A1A-0013-5452-88AC-6C7E012241BE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A54D27-3BF8-53EA-AA24-57D40C1715E6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D70BEC6-A18D-DCE9-6483-BCF97C41725B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77743E8F-4898-6707-9AAC-04896907AE0B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DE495F-A044-D5CC-D15D-1D4728710F2F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F17EB45-418A-0685-0D38-394AC5918A62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1B957D-7744-48B1-B82A-AB913AFF81BA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5172564-2B03-5CFF-3457-F0AB8633E5A0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89A8EF9-9C19-8EDA-7E23-8AC458255A3F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74A98FC-D540-2C4A-7558-0224F7D4F367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A6E1697-7C98-F6B5-9682-C180635DC6FA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47B7076-A3CA-82CB-B3DE-0FFDA9C6FB7E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4AA6FA3-4897-DDBF-498A-0B194B783CFD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22" name="图片 3">
            <a:extLst>
              <a:ext uri="{FF2B5EF4-FFF2-40B4-BE49-F238E27FC236}">
                <a16:creationId xmlns:a16="http://schemas.microsoft.com/office/drawing/2014/main" id="{77FBDC27-8E33-E11A-9386-4739D40F80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CA06C69-D4C9-832F-8C9D-2294C97F0D93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5687594-EAAA-DC68-E2AA-EAE75F450AA7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EEFA4A4-B490-9DED-4B98-E88DC314BC06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81B720D-60FE-9E48-F803-E3EB3E187521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6C700BC-52A4-071D-295D-9BB5D27EC953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150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E0D25EBC-FD91-E309-4CFE-CDCE96E3970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047F5387-D070-DF50-178B-1576459D04BA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A2B7BC21-55BB-15B2-54D9-643ED2B72C3A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11FE43DC-AA29-DB75-7F3E-5506EA36BDCC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E97254D9-D8D6-04EB-4DF8-0FA04C6DDAA5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AM程序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0A6713C6-33B7-7156-F1CE-C21E568643A4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58D788BF-64AE-AC0A-8877-540006FFE60A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虚拟机(NEMU)</a:t>
            </a:r>
            <a:endParaRPr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DA053F4E-C7AA-A374-C174-FD02DE7F173A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E1E9E30D-FA16-CBA5-8B19-E81F8CC86DE8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0F214D06-8B85-396C-1342-974A123DE95A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CF451138-AE2B-E3F1-E666-791DAC26EB6C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90211488-BE10-58CB-A16F-54291A7A62BC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A1EB7F04-3241-8524-DDAC-95C96989C58B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23F6298A-9FE1-3E0D-F4FD-ADE2F6EFC58C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C252781D-5878-E060-7485-EF181DEDA19D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A9E7BEB1-36E8-C276-20C1-5DC3615E3D54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13BA0D2-E8F6-33B8-5B76-13CB90290748}"/>
              </a:ext>
            </a:extLst>
          </p:cNvPr>
          <p:cNvSpPr txBox="1"/>
          <p:nvPr/>
        </p:nvSpPr>
        <p:spPr bwMode="auto">
          <a:xfrm>
            <a:off x="7580961" y="1433405"/>
            <a:ext cx="3927777" cy="405303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zh-CN" altLang="en-US" dirty="0"/>
              <a:t>应用程序是系统库环境</a:t>
            </a:r>
            <a:r>
              <a:rPr lang="en-US" altLang="zh-CN" dirty="0"/>
              <a:t>+</a:t>
            </a:r>
            <a:r>
              <a:rPr lang="zh-CN" altLang="en-US" dirty="0"/>
              <a:t>内核</a:t>
            </a:r>
            <a:r>
              <a:rPr lang="en-US" altLang="zh-CN" dirty="0"/>
              <a:t>+</a:t>
            </a:r>
            <a:r>
              <a:rPr lang="zh-CN" altLang="en-US" dirty="0"/>
              <a:t>底层硬件等一系列软硬件协同的呈现结果。一个应用程序的完整调用链路为：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应用层调用系统库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系统库发起系统调用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内核自陷进入异常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内核向外设驱动读写数据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驱动数据通过</a:t>
            </a:r>
            <a:r>
              <a:rPr lang="en-US" altLang="zh-CN" dirty="0"/>
              <a:t>HAL</a:t>
            </a:r>
            <a:r>
              <a:rPr lang="zh-CN" altLang="en-US" dirty="0"/>
              <a:t>改变硬件状态。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硬件状态使</a:t>
            </a:r>
            <a:r>
              <a:rPr lang="en-US" altLang="zh-CN" dirty="0"/>
              <a:t>CPU</a:t>
            </a:r>
            <a:r>
              <a:rPr lang="zh-CN" altLang="en-US" dirty="0"/>
              <a:t>总线数据变化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外设响应总线请求并刷新结果</a:t>
            </a:r>
            <a:endParaRPr lang="en-US" altLang="zh-CN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BA774E8-DD91-016D-A072-DB84703D7E6B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0BD50AB-4D05-9A97-DF58-9DB283AA4408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405318-970C-1CA7-A3F8-415CFCB13C9B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760F81-5194-3F93-636A-DE8F85B3AED2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AF0D39-C4FA-033E-F652-0CD461E25ABF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C00D67A-CF4A-5790-1987-49BA0F5DE443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D73BAA2A-4F36-D329-FCB6-F1B5F51AF387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2751BC7-7A0B-F38C-2F0C-DB735E5EE593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DE8B5B-4D99-05E0-0231-D0F9DC6BC43D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32C6AE-7551-33CD-8A11-D9A4032F99C8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2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63C2E42-6003-C6C7-032C-3927AEEA5C9E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2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E545CA6-DB53-3E17-B5B2-671F3E620C5C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2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F4C47E5-9666-A454-756D-7AF4092FAA7C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2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4D89700-9623-779B-1E28-685E565297E6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90D936A-160A-753F-75F7-CEE02C6E2D3C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1243555-9A40-9450-D137-B41AF805A3D5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31" name="图片 3">
            <a:extLst>
              <a:ext uri="{FF2B5EF4-FFF2-40B4-BE49-F238E27FC236}">
                <a16:creationId xmlns:a16="http://schemas.microsoft.com/office/drawing/2014/main" id="{1B6A3E66-E9E1-102F-2CC7-934BCF1EFA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3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004CB33-E377-8484-BE4C-FAE282ECECED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3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ABCDB05-B64F-1438-4230-6848695C6093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3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6DFE943-527A-D270-8802-C72DC6C06B37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D925F833-11D1-8E94-AA17-2DE99EF20504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73D83581-8EF0-FF4C-41AF-52E28999AF87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2986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232647-D0C3-B8C2-44D5-295B0CB867D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AFC9BBC6-996B-CA5A-6DE4-08B97CE45AD9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49CE0BDA-00C3-B83F-41E0-73B60CB54526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E02920F9-962E-10FF-20FB-E595A0C363A9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B22F968E-19C5-D368-89C6-CE2B3BE80709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AM</a:t>
            </a:r>
            <a:r>
              <a:rPr lang="zh-CN" altLang="en-US" dirty="0"/>
              <a:t>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8C462596-1666-2EDE-772F-65B111548014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4D3A6C20-E41E-C1A6-07D8-1AC8C7FBA452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虚拟机</a:t>
            </a:r>
            <a:r>
              <a:rPr lang="en-US" dirty="0"/>
              <a:t>(NEMU)</a:t>
            </a:r>
            <a:endParaRPr dirty="0"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7B23DA2C-0BDE-2A31-0BF8-EDD35F66458B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06D21EBB-0CDF-E3E7-7DF0-2CC59B877FB9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B2F053B0-8806-E1E8-F5E1-84B9BBAE0703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3D320723-465F-7751-B521-7A43B9B0F7E3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71F88E68-839C-5264-1546-F102114615C9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B1004998-1B9E-C164-8FE3-1DEB669B71DB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734CC63A-7F10-7BD4-C345-4486D8C3BBC8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FCBD1829-EEDB-3B70-D933-5DCB67F2F573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F5B2130C-6ADB-0825-0DF7-C5CE4A368E3A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ECD6FA-0B28-AEC2-9C48-1AC267C0443F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7B5E45-91F8-C308-8036-0A144722E7FC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FE71EE-4B40-3E8F-BB49-63C8BA6CFC68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B59ECE-B33B-E483-10C6-63CB21EADB6B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2C5A5DA-1C4F-86B1-2101-27BAD47A7504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031E618-DB35-B0F9-99D9-7DF9ECA949A8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723ABB0D-6F24-41C3-2601-9814F8465511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B8FD6E2-A1F2-5A5B-2A49-F05F27F57277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EB0FDD-92C9-4349-F506-59702AE8F76F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BD6539-D959-EDC9-5F70-FB3DE87076CA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496486137" name="文本框 496486136">
            <a:extLst>
              <a:ext uri="{FF2B5EF4-FFF2-40B4-BE49-F238E27FC236}">
                <a16:creationId xmlns:a16="http://schemas.microsoft.com/office/drawing/2014/main" id="{D91BC362-B2B6-E538-3ED1-29DD3949D2D2}"/>
              </a:ext>
            </a:extLst>
          </p:cNvPr>
          <p:cNvSpPr txBox="1"/>
          <p:nvPr/>
        </p:nvSpPr>
        <p:spPr bwMode="auto">
          <a:xfrm>
            <a:off x="7451548" y="1108226"/>
            <a:ext cx="4133337" cy="431849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altLang="zh-CN" dirty="0" err="1"/>
              <a:t>Yosys</a:t>
            </a:r>
            <a:r>
              <a:rPr lang="zh-CN" altLang="en-US" dirty="0"/>
              <a:t>综合全流程：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en-US" altLang="zh-CN" dirty="0"/>
              <a:t>RTL</a:t>
            </a:r>
            <a:r>
              <a:rPr lang="zh-CN" altLang="en-US" dirty="0"/>
              <a:t>代码词法解析生成</a:t>
            </a:r>
            <a:r>
              <a:rPr lang="en-US" altLang="zh-CN" dirty="0"/>
              <a:t>AST</a:t>
            </a:r>
            <a:r>
              <a:rPr lang="zh-CN" altLang="en-US" dirty="0"/>
              <a:t>语法树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顶层模块例化展开为</a:t>
            </a:r>
            <a:r>
              <a:rPr lang="en-US" altLang="zh-CN" dirty="0"/>
              <a:t>RTLIL</a:t>
            </a:r>
            <a:r>
              <a:rPr lang="zh-CN" altLang="en-US" dirty="0"/>
              <a:t>中间码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粗粒度综合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网表优化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细粒度综合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工艺映射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endParaRPr lang="en-US" dirty="0"/>
          </a:p>
          <a:p>
            <a:pPr>
              <a:defRPr/>
            </a:pPr>
            <a:r>
              <a:rPr lang="zh-CN" altLang="en-US" dirty="0"/>
              <a:t>综合阶段就可以根据初步的</a:t>
            </a:r>
            <a:r>
              <a:rPr lang="en-US" altLang="zh-CN" dirty="0"/>
              <a:t>PPA</a:t>
            </a:r>
            <a:r>
              <a:rPr lang="zh-CN" altLang="en-US" dirty="0"/>
              <a:t>和</a:t>
            </a:r>
            <a:r>
              <a:rPr lang="en-US" altLang="zh-CN" dirty="0"/>
              <a:t>STA</a:t>
            </a:r>
            <a:r>
              <a:rPr lang="zh-CN" altLang="en-US" dirty="0"/>
              <a:t>分析，调整</a:t>
            </a:r>
            <a:r>
              <a:rPr lang="en-US" altLang="zh-CN" dirty="0"/>
              <a:t>RTL</a:t>
            </a:r>
            <a:r>
              <a:rPr lang="zh-CN" altLang="en-US" dirty="0"/>
              <a:t>代码和综合约束条件生成符合</a:t>
            </a:r>
            <a:r>
              <a:rPr lang="en-US" altLang="zh-CN" dirty="0"/>
              <a:t>spec</a:t>
            </a:r>
            <a:r>
              <a:rPr lang="zh-CN" altLang="en-US" dirty="0"/>
              <a:t>的</a:t>
            </a:r>
            <a:r>
              <a:rPr lang="en-US" altLang="zh-CN" dirty="0"/>
              <a:t>Netlist</a:t>
            </a:r>
            <a:r>
              <a:rPr lang="zh-CN" altLang="en-US" dirty="0"/>
              <a:t>文件。</a:t>
            </a:r>
            <a:endParaRPr lang="en-US" dirty="0"/>
          </a:p>
        </p:txBody>
      </p:sp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AC95D1A-D1B8-7433-1077-2FA317F6EFAB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10DCE8B-9758-94DA-0376-258B6E67E5B4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07B57F9-AE9B-0AD6-5149-252B6B543D67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4C832EA-CA00-2C79-50A2-AD5E8C427714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FEEFFCF-87C4-4792-5397-0E5584E7BFE9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4F0B58E-B4F2-7BB6-7FFF-8F5E16D97668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18" name="图片 3">
            <a:extLst>
              <a:ext uri="{FF2B5EF4-FFF2-40B4-BE49-F238E27FC236}">
                <a16:creationId xmlns:a16="http://schemas.microsoft.com/office/drawing/2014/main" id="{32CC2915-DCF1-59E6-76F8-177C00E7CC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1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A83F0F4-10CA-8A3D-C75D-84467D8F1D14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D895C4A-19CB-9627-3CD5-C70916AFB49F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3CFD62C-55B8-D77A-4796-C755332E0AF6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F16F09EB-EDFE-E2D2-4EDE-AF8D7C628F8E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D0E30C-2234-DB5D-C67A-23696B4F865F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436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9D3D85B-C768-A17F-EA63-BBCB164E512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4E4853F6-C838-BD52-B3B4-C56CBFBACC2C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FEB909C1-BD57-B42E-3816-288A97B08BE7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360AC11C-A82C-3769-D86A-3E3E6C52741C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03477210-FD22-24B8-4788-0960CBE507F4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AM</a:t>
            </a:r>
            <a:r>
              <a:rPr lang="zh-CN" altLang="en-US" dirty="0"/>
              <a:t>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D2CE6687-0C94-66D5-41E0-2DBB6987A409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A3B8F99E-9325-8BEB-722F-B7E8B783AAD1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虚拟机</a:t>
            </a:r>
            <a:r>
              <a:rPr lang="en-US" dirty="0"/>
              <a:t>(NEMU)</a:t>
            </a:r>
            <a:endParaRPr dirty="0"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70C5D2F7-8245-548D-045D-D08498124785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7210C10F-4565-7F15-4166-251B7DBB2FE3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CF247D58-6251-A848-22C7-254626F92BB2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33B1473D-633E-1B74-074E-86A847699C35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2AE34FA0-1CED-79DB-A750-753CAA384EB5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DD40AA13-002D-17B1-AD09-5369105F94E7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布局布线(iEDA)</a:t>
            </a:r>
            <a:endParaRPr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CC153F96-9905-3BC5-DAAA-9933CA763F56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98BEA67C-81F5-D137-20CB-85306878C9D2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5FA8D603-312C-4A96-1C13-30E67550B1D5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2E15C5-FA50-0A57-FC89-0BA3A274E518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2908436-1F52-07E7-AF24-0D2E99FFF004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DE21D3-CB15-04CD-EF02-D3BD1928FF47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88FA1D1-CD8C-F60B-A274-433F49FD346F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53AA27-53A6-8FD6-B4EE-B4164997FE43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481570-AD67-DF05-0F62-A34958248B19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5CD6AAFE-73B5-2968-05BF-323F19F90CDB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6F8C7B-B8C9-CDF6-91E5-AD1308EEAC45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3A091D-C28B-3CD0-F8CF-7F9FFC95B1B1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12456D-64D0-AD1B-1940-BE84E911D16D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496486137" name="文本框 496486136">
            <a:extLst>
              <a:ext uri="{FF2B5EF4-FFF2-40B4-BE49-F238E27FC236}">
                <a16:creationId xmlns:a16="http://schemas.microsoft.com/office/drawing/2014/main" id="{B83A350F-216D-059B-28E4-4BD6C1ADA58C}"/>
              </a:ext>
            </a:extLst>
          </p:cNvPr>
          <p:cNvSpPr txBox="1"/>
          <p:nvPr/>
        </p:nvSpPr>
        <p:spPr bwMode="auto">
          <a:xfrm>
            <a:off x="7451548" y="1108226"/>
            <a:ext cx="4133337" cy="431849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>
              <a:buAutoNum type="arabicPeriod"/>
              <a:defRPr/>
            </a:pPr>
            <a:r>
              <a:rPr lang="zh-CN" altLang="en-US" dirty="0"/>
              <a:t>电源与</a:t>
            </a:r>
            <a:r>
              <a:rPr lang="en-US" altLang="zh-CN" dirty="0"/>
              <a:t>IO</a:t>
            </a:r>
            <a:r>
              <a:rPr lang="zh-CN" altLang="en-US" dirty="0"/>
              <a:t>布局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电源与时钟网格规划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各种级别单元库的布局布线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时钟树综合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插入去耦、天线、空白、扫描单元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完整的后端</a:t>
            </a:r>
            <a:r>
              <a:rPr lang="en-US" altLang="zh-CN" dirty="0"/>
              <a:t>PPA</a:t>
            </a:r>
            <a:r>
              <a:rPr lang="zh-CN" altLang="en-US" dirty="0"/>
              <a:t>报告分析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r>
              <a:rPr lang="zh-CN" altLang="en-US" dirty="0"/>
              <a:t>各种一致性检查</a:t>
            </a:r>
            <a:endParaRPr lang="en-US" altLang="zh-CN" dirty="0"/>
          </a:p>
          <a:p>
            <a:pPr marL="342900" indent="-342900">
              <a:buAutoNum type="arabicPeriod"/>
              <a:defRPr/>
            </a:pPr>
            <a:endParaRPr lang="en-US" altLang="zh-CN" dirty="0"/>
          </a:p>
          <a:p>
            <a:pPr>
              <a:defRPr/>
            </a:pPr>
            <a:r>
              <a:rPr lang="zh-CN" altLang="en-US" dirty="0"/>
              <a:t>后端产出版图文件，物理上实现并对齐了上游的网表设计，但还要对齐下游的可制造。</a:t>
            </a:r>
            <a:endParaRPr lang="en-US" altLang="zh-CN" dirty="0"/>
          </a:p>
        </p:txBody>
      </p:sp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A3C617E-8D30-73D7-37F7-75786F3471CF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07C5B8B-67E3-CA32-D059-46167186D9D6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AE0D79B-8FB9-A9E2-DD6C-83CD03E953DB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880DCC3-1DF6-B6E7-5332-43312F9F3C52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A33A4E7-2B88-1A6B-1051-A0E2A3574163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DF74944-A3D2-32A6-DBC4-81D8D072E374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18" name="图片 3">
            <a:extLst>
              <a:ext uri="{FF2B5EF4-FFF2-40B4-BE49-F238E27FC236}">
                <a16:creationId xmlns:a16="http://schemas.microsoft.com/office/drawing/2014/main" id="{B1D67035-4961-0C88-ADFC-3F3CEECDD3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1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35035C0-F75A-A033-1F90-19BF34A8501A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A33438B-4AC5-EDC3-A317-AFBAEE064251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6DD477A-E29C-7CA3-59D5-F8AD209706DF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A41801C-0B1D-524C-E786-198046BA4B3C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33FA01C-4381-DDE4-2E40-95A00C6175B5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9602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F2D4F565-8A16-CFE2-96A6-45A327C5F1F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43380" name="应用程序">
            <a:extLst>
              <a:ext uri="{FF2B5EF4-FFF2-40B4-BE49-F238E27FC236}">
                <a16:creationId xmlns:a16="http://schemas.microsoft.com/office/drawing/2014/main" id="{576CF888-F9D5-64F6-A154-DEB97902A720}"/>
              </a:ext>
            </a:extLst>
          </p:cNvPr>
          <p:cNvSpPr/>
          <p:nvPr/>
        </p:nvSpPr>
        <p:spPr bwMode="auto">
          <a:xfrm>
            <a:off x="2874117" y="1145183"/>
            <a:ext cx="3629855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应用程序</a:t>
            </a:r>
            <a:r>
              <a:rPr lang="en-US" dirty="0"/>
              <a:t>(Navy apps)</a:t>
            </a:r>
            <a:endParaRPr dirty="0"/>
          </a:p>
        </p:txBody>
      </p:sp>
      <p:sp>
        <p:nvSpPr>
          <p:cNvPr id="806812025" name="系统库框架">
            <a:extLst>
              <a:ext uri="{FF2B5EF4-FFF2-40B4-BE49-F238E27FC236}">
                <a16:creationId xmlns:a16="http://schemas.microsoft.com/office/drawing/2014/main" id="{4C825AC5-4E12-1AF0-3C3E-62AFE14C6307}"/>
              </a:ext>
            </a:extLst>
          </p:cNvPr>
          <p:cNvSpPr/>
          <p:nvPr/>
        </p:nvSpPr>
        <p:spPr bwMode="auto">
          <a:xfrm>
            <a:off x="2868489" y="1549562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系统库框架层</a:t>
            </a:r>
            <a:r>
              <a:rPr lang="en-US" dirty="0"/>
              <a:t>(Navy libs)</a:t>
            </a:r>
            <a:endParaRPr dirty="0"/>
          </a:p>
        </p:txBody>
      </p:sp>
      <p:sp>
        <p:nvSpPr>
          <p:cNvPr id="971999399" name="系统内核">
            <a:extLst>
              <a:ext uri="{FF2B5EF4-FFF2-40B4-BE49-F238E27FC236}">
                <a16:creationId xmlns:a16="http://schemas.microsoft.com/office/drawing/2014/main" id="{C2122011-1255-49B6-D285-4502C7C1694B}"/>
              </a:ext>
            </a:extLst>
          </p:cNvPr>
          <p:cNvSpPr/>
          <p:nvPr/>
        </p:nvSpPr>
        <p:spPr bwMode="auto">
          <a:xfrm>
            <a:off x="2868489" y="1967950"/>
            <a:ext cx="3629855" cy="418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系统内核</a:t>
            </a:r>
            <a:r>
              <a:rPr lang="en-US" dirty="0"/>
              <a:t>(Nanos)</a:t>
            </a:r>
            <a:endParaRPr dirty="0"/>
          </a:p>
        </p:txBody>
      </p:sp>
      <p:sp>
        <p:nvSpPr>
          <p:cNvPr id="1567425429" name="裸机程序">
            <a:extLst>
              <a:ext uri="{FF2B5EF4-FFF2-40B4-BE49-F238E27FC236}">
                <a16:creationId xmlns:a16="http://schemas.microsoft.com/office/drawing/2014/main" id="{228B2786-5B68-8AD8-08F0-839381C1DC60}"/>
              </a:ext>
            </a:extLst>
          </p:cNvPr>
          <p:cNvSpPr/>
          <p:nvPr/>
        </p:nvSpPr>
        <p:spPr bwMode="auto">
          <a:xfrm>
            <a:off x="1201735" y="1967949"/>
            <a:ext cx="1666755" cy="418386"/>
          </a:xfrm>
          <a:prstGeom prst="rect">
            <a:avLst/>
          </a:prstGeom>
          <a:ln w="127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AM</a:t>
            </a:r>
            <a:r>
              <a:rPr lang="zh-CN" altLang="en-US" dirty="0"/>
              <a:t>程序</a:t>
            </a:r>
            <a:endParaRPr dirty="0"/>
          </a:p>
        </p:txBody>
      </p:sp>
      <p:sp>
        <p:nvSpPr>
          <p:cNvPr id="534821804" name="硬件抽象">
            <a:extLst>
              <a:ext uri="{FF2B5EF4-FFF2-40B4-BE49-F238E27FC236}">
                <a16:creationId xmlns:a16="http://schemas.microsoft.com/office/drawing/2014/main" id="{C7896C86-D868-0098-3662-ECD1774423C0}"/>
              </a:ext>
            </a:extLst>
          </p:cNvPr>
          <p:cNvSpPr/>
          <p:nvPr/>
        </p:nvSpPr>
        <p:spPr bwMode="auto">
          <a:xfrm>
            <a:off x="1201735" y="2386337"/>
            <a:ext cx="5296610" cy="4183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硬件抽象层</a:t>
            </a:r>
            <a:r>
              <a:rPr lang="en-US" dirty="0"/>
              <a:t>(AM)</a:t>
            </a:r>
            <a:endParaRPr dirty="0"/>
          </a:p>
        </p:txBody>
      </p:sp>
      <p:sp>
        <p:nvSpPr>
          <p:cNvPr id="40666242" name="NEMU虚拟机">
            <a:extLst>
              <a:ext uri="{FF2B5EF4-FFF2-40B4-BE49-F238E27FC236}">
                <a16:creationId xmlns:a16="http://schemas.microsoft.com/office/drawing/2014/main" id="{C920F113-1AA0-F235-E6FA-75048D1C4484}"/>
              </a:ext>
            </a:extLst>
          </p:cNvPr>
          <p:cNvSpPr/>
          <p:nvPr/>
        </p:nvSpPr>
        <p:spPr bwMode="auto">
          <a:xfrm>
            <a:off x="1092876" y="4021566"/>
            <a:ext cx="2675590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 err="1"/>
              <a:t>虚拟机</a:t>
            </a:r>
            <a:r>
              <a:rPr lang="en-US" dirty="0"/>
              <a:t>(NEMU)</a:t>
            </a:r>
            <a:endParaRPr dirty="0"/>
          </a:p>
        </p:txBody>
      </p:sp>
      <p:sp>
        <p:nvSpPr>
          <p:cNvPr id="743261972" name="NPC">
            <a:extLst>
              <a:ext uri="{FF2B5EF4-FFF2-40B4-BE49-F238E27FC236}">
                <a16:creationId xmlns:a16="http://schemas.microsoft.com/office/drawing/2014/main" id="{AE9F85B3-6771-B784-793C-5E4BAF8AB5C5}"/>
              </a:ext>
            </a:extLst>
          </p:cNvPr>
          <p:cNvSpPr/>
          <p:nvPr/>
        </p:nvSpPr>
        <p:spPr bwMode="auto">
          <a:xfrm>
            <a:off x="4062470" y="4021566"/>
            <a:ext cx="2621018" cy="4183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NPC</a:t>
            </a:r>
            <a:endParaRPr/>
          </a:p>
        </p:txBody>
      </p:sp>
      <p:sp>
        <p:nvSpPr>
          <p:cNvPr id="1311028271" name="矩形 1311028270">
            <a:extLst>
              <a:ext uri="{FF2B5EF4-FFF2-40B4-BE49-F238E27FC236}">
                <a16:creationId xmlns:a16="http://schemas.microsoft.com/office/drawing/2014/main" id="{4ADE7269-7FE3-B82E-A3DB-7723C6AAA89A}"/>
              </a:ext>
            </a:extLst>
          </p:cNvPr>
          <p:cNvSpPr/>
          <p:nvPr/>
        </p:nvSpPr>
        <p:spPr bwMode="auto">
          <a:xfrm>
            <a:off x="3768466" y="2838398"/>
            <a:ext cx="414984" cy="957309"/>
          </a:xfrm>
          <a:prstGeom prst="rect">
            <a:avLst/>
          </a:prstGeom>
          <a:solidFill>
            <a:schemeClr val="bg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600">
                <a:solidFill>
                  <a:schemeClr val="tx1"/>
                </a:solidFill>
              </a:rPr>
              <a:t>两种实现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328251" name="箭头: 下 2328250">
            <a:extLst>
              <a:ext uri="{FF2B5EF4-FFF2-40B4-BE49-F238E27FC236}">
                <a16:creationId xmlns:a16="http://schemas.microsoft.com/office/drawing/2014/main" id="{1B788F87-50FD-7989-7173-0B3597E87429}"/>
              </a:ext>
            </a:extLst>
          </p:cNvPr>
          <p:cNvSpPr/>
          <p:nvPr/>
        </p:nvSpPr>
        <p:spPr bwMode="auto">
          <a:xfrm>
            <a:off x="2378758" y="2804724"/>
            <a:ext cx="644620" cy="9909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sz="1200"/>
              <a:t>软件实现</a:t>
            </a:r>
          </a:p>
        </p:txBody>
      </p:sp>
      <p:sp>
        <p:nvSpPr>
          <p:cNvPr id="1699098867" name="箭头: 下 1699098866">
            <a:extLst>
              <a:ext uri="{FF2B5EF4-FFF2-40B4-BE49-F238E27FC236}">
                <a16:creationId xmlns:a16="http://schemas.microsoft.com/office/drawing/2014/main" id="{E53EAD88-8714-E421-756D-471FFFA88779}"/>
              </a:ext>
            </a:extLst>
          </p:cNvPr>
          <p:cNvSpPr/>
          <p:nvPr/>
        </p:nvSpPr>
        <p:spPr bwMode="auto">
          <a:xfrm>
            <a:off x="4728358" y="2816364"/>
            <a:ext cx="644620" cy="102946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1200"/>
              <a:t>RTL实现</a:t>
            </a:r>
            <a:endParaRPr sz="1200"/>
          </a:p>
        </p:txBody>
      </p:sp>
      <p:sp>
        <p:nvSpPr>
          <p:cNvPr id="16112946" name="电路综合">
            <a:extLst>
              <a:ext uri="{FF2B5EF4-FFF2-40B4-BE49-F238E27FC236}">
                <a16:creationId xmlns:a16="http://schemas.microsoft.com/office/drawing/2014/main" id="{1ED0289B-94E9-A865-47DC-C09CDC518794}"/>
              </a:ext>
            </a:extLst>
          </p:cNvPr>
          <p:cNvSpPr/>
          <p:nvPr/>
        </p:nvSpPr>
        <p:spPr bwMode="auto">
          <a:xfrm>
            <a:off x="4062470" y="4817104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电路综合(Yosys)</a:t>
            </a:r>
            <a:endParaRPr/>
          </a:p>
        </p:txBody>
      </p:sp>
      <p:sp>
        <p:nvSpPr>
          <p:cNvPr id="813212810" name="布局布线">
            <a:extLst>
              <a:ext uri="{FF2B5EF4-FFF2-40B4-BE49-F238E27FC236}">
                <a16:creationId xmlns:a16="http://schemas.microsoft.com/office/drawing/2014/main" id="{EDE63831-C38F-C2C2-D0AA-E5CD8BF1B38C}"/>
              </a:ext>
            </a:extLst>
          </p:cNvPr>
          <p:cNvSpPr/>
          <p:nvPr/>
        </p:nvSpPr>
        <p:spPr bwMode="auto">
          <a:xfrm>
            <a:off x="4062470" y="5218648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布局布线</a:t>
            </a:r>
            <a:r>
              <a:rPr lang="en-US" dirty="0"/>
              <a:t>(</a:t>
            </a:r>
            <a:r>
              <a:rPr lang="en-US" dirty="0" err="1"/>
              <a:t>iEDA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1835667885" name="嵌合分析">
            <a:extLst>
              <a:ext uri="{FF2B5EF4-FFF2-40B4-BE49-F238E27FC236}">
                <a16:creationId xmlns:a16="http://schemas.microsoft.com/office/drawing/2014/main" id="{07D83DDB-5D2E-EF3F-B1BD-E64C35CBC860}"/>
              </a:ext>
            </a:extLst>
          </p:cNvPr>
          <p:cNvSpPr/>
          <p:nvPr/>
        </p:nvSpPr>
        <p:spPr bwMode="auto">
          <a:xfrm>
            <a:off x="4062470" y="5637036"/>
            <a:ext cx="2738705" cy="41838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签核</a:t>
            </a:r>
            <a:r>
              <a:rPr lang="en-US"/>
              <a:t>分析</a:t>
            </a:r>
            <a:endParaRPr/>
          </a:p>
        </p:txBody>
      </p:sp>
      <p:sp>
        <p:nvSpPr>
          <p:cNvPr id="127215868" name="流片制造">
            <a:extLst>
              <a:ext uri="{FF2B5EF4-FFF2-40B4-BE49-F238E27FC236}">
                <a16:creationId xmlns:a16="http://schemas.microsoft.com/office/drawing/2014/main" id="{EB9EAA72-7151-2F59-A355-CEA28CFB7954}"/>
              </a:ext>
            </a:extLst>
          </p:cNvPr>
          <p:cNvSpPr/>
          <p:nvPr/>
        </p:nvSpPr>
        <p:spPr bwMode="auto">
          <a:xfrm>
            <a:off x="4062470" y="6055425"/>
            <a:ext cx="2738705" cy="41838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t>流片制造</a:t>
            </a:r>
          </a:p>
        </p:txBody>
      </p:sp>
      <p:sp>
        <p:nvSpPr>
          <p:cNvPr id="328657211" name="文本框 NavyLib" hidden="1">
            <a:extLst>
              <a:ext uri="{FF2B5EF4-FFF2-40B4-BE49-F238E27FC236}">
                <a16:creationId xmlns:a16="http://schemas.microsoft.com/office/drawing/2014/main" id="{19BED3BC-582D-9020-0E6D-C624777FF69C}"/>
              </a:ext>
            </a:extLst>
          </p:cNvPr>
          <p:cNvSpPr txBox="1"/>
          <p:nvPr/>
        </p:nvSpPr>
        <p:spPr bwMode="auto">
          <a:xfrm>
            <a:off x="7524362" y="3520663"/>
            <a:ext cx="3927777" cy="21163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dirty="0" err="1"/>
              <a:t>基于Nanos内核的程序库环境支持</a:t>
            </a:r>
            <a:r>
              <a:rPr lang="en-US" dirty="0"/>
              <a:t>/</a:t>
            </a:r>
            <a:r>
              <a:rPr lang="en-US" dirty="0" err="1"/>
              <a:t>适配，可编写</a:t>
            </a:r>
            <a:r>
              <a:rPr lang="en-US" dirty="0"/>
              <a:t>/</a:t>
            </a:r>
            <a:r>
              <a:rPr lang="en-US" dirty="0" err="1"/>
              <a:t>移植更强大丰富的应用程序</a:t>
            </a:r>
            <a:r>
              <a:rPr lang="en-US" dirty="0"/>
              <a:t>。</a:t>
            </a:r>
          </a:p>
          <a:p>
            <a:pPr marL="283878" indent="-283878">
              <a:buAutoNum type="arabicPeriod"/>
              <a:defRPr/>
            </a:pPr>
            <a:r>
              <a:rPr lang="en-US" dirty="0" err="1"/>
              <a:t>Nanos系统调用库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2.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运行环境库</a:t>
            </a:r>
            <a:endParaRPr lang="en-US" dirty="0"/>
          </a:p>
          <a:p>
            <a:pPr>
              <a:defRPr/>
            </a:pPr>
            <a:r>
              <a:rPr lang="en-US" sz="1800" b="0" i="0" u="none" strike="noStrike" cap="none" spc="0" dirty="0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3. </a:t>
            </a:r>
            <a:r>
              <a:rPr lang="en-US" sz="1800" b="0" i="0" u="none" strike="noStrike" cap="none" spc="0" dirty="0" err="1">
                <a:solidFill>
                  <a:schemeClr val="tx1"/>
                </a:solidFill>
                <a:latin typeface="Arial"/>
                <a:ea typeface="微软雅黑"/>
                <a:cs typeface="Arial"/>
              </a:rPr>
              <a:t>媒体硬件库</a:t>
            </a:r>
            <a:r>
              <a:rPr lang="en-US" dirty="0"/>
              <a:t>/</a:t>
            </a:r>
            <a:r>
              <a:rPr lang="en-US" dirty="0" err="1"/>
              <a:t>资源解析库</a:t>
            </a:r>
            <a:endParaRPr sz="1800" dirty="0"/>
          </a:p>
          <a:p>
            <a:pPr>
              <a:defRPr/>
            </a:pPr>
            <a:r>
              <a:rPr lang="en-US" dirty="0"/>
              <a:t>4. </a:t>
            </a:r>
            <a:r>
              <a:rPr lang="en-US" dirty="0" err="1"/>
              <a:t>应用镜像文件打包</a:t>
            </a:r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9AC6EC1-D018-B23F-C5B7-D2FEC0444A98}"/>
              </a:ext>
            </a:extLst>
          </p:cNvPr>
          <p:cNvSpPr/>
          <p:nvPr/>
        </p:nvSpPr>
        <p:spPr>
          <a:xfrm>
            <a:off x="1040265" y="5115660"/>
            <a:ext cx="270456" cy="248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DA8F8E-B1F1-72B9-2076-0B8A1F34891D}"/>
              </a:ext>
            </a:extLst>
          </p:cNvPr>
          <p:cNvSpPr txBox="1"/>
          <p:nvPr/>
        </p:nvSpPr>
        <p:spPr>
          <a:xfrm>
            <a:off x="1547495" y="5050824"/>
            <a:ext cx="940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软件层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84C3DB-4396-E1DD-A99D-78E71786C17E}"/>
              </a:ext>
            </a:extLst>
          </p:cNvPr>
          <p:cNvSpPr/>
          <p:nvPr/>
        </p:nvSpPr>
        <p:spPr>
          <a:xfrm>
            <a:off x="1046284" y="5508222"/>
            <a:ext cx="270456" cy="2489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FF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03CADB-8BE4-4455-50EA-2446C4C5687E}"/>
              </a:ext>
            </a:extLst>
          </p:cNvPr>
          <p:cNvSpPr txBox="1"/>
          <p:nvPr/>
        </p:nvSpPr>
        <p:spPr>
          <a:xfrm>
            <a:off x="1553514" y="5443386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硬件模拟层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2FE75F-A472-D097-A203-AA1D63EEAA0A}"/>
              </a:ext>
            </a:extLst>
          </p:cNvPr>
          <p:cNvSpPr/>
          <p:nvPr/>
        </p:nvSpPr>
        <p:spPr>
          <a:xfrm>
            <a:off x="1046284" y="5889925"/>
            <a:ext cx="270456" cy="248991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EE0EEAE-68CE-ACB0-BD57-71AE8D18FFD4}"/>
              </a:ext>
            </a:extLst>
          </p:cNvPr>
          <p:cNvSpPr txBox="1"/>
          <p:nvPr/>
        </p:nvSpPr>
        <p:spPr>
          <a:xfrm>
            <a:off x="1553514" y="5825089"/>
            <a:ext cx="1423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硬件实现层</a:t>
            </a: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0308B545-7F17-64D0-E979-7D7648DABB7A}"/>
              </a:ext>
            </a:extLst>
          </p:cNvPr>
          <p:cNvSpPr/>
          <p:nvPr/>
        </p:nvSpPr>
        <p:spPr>
          <a:xfrm>
            <a:off x="4728358" y="4439496"/>
            <a:ext cx="767204" cy="352379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EB9D2B3-5A02-A061-FB30-E2AB3024BC93}"/>
              </a:ext>
            </a:extLst>
          </p:cNvPr>
          <p:cNvSpPr txBox="1"/>
          <p:nvPr/>
        </p:nvSpPr>
        <p:spPr>
          <a:xfrm>
            <a:off x="5495562" y="4414267"/>
            <a:ext cx="1650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行为仿真通过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91D3EF-ABC9-64F7-6EC1-73A3DCD3AA43}"/>
              </a:ext>
            </a:extLst>
          </p:cNvPr>
          <p:cNvSpPr/>
          <p:nvPr/>
        </p:nvSpPr>
        <p:spPr>
          <a:xfrm>
            <a:off x="1040265" y="4687302"/>
            <a:ext cx="270456" cy="24899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F41537-95AA-69F5-95D2-DD75BE3E7E7E}"/>
              </a:ext>
            </a:extLst>
          </p:cNvPr>
          <p:cNvSpPr txBox="1"/>
          <p:nvPr/>
        </p:nvSpPr>
        <p:spPr>
          <a:xfrm>
            <a:off x="1547495" y="4622466"/>
            <a:ext cx="112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当前演示</a:t>
            </a:r>
          </a:p>
        </p:txBody>
      </p:sp>
      <p:sp>
        <p:nvSpPr>
          <p:cNvPr id="496486137" name="文本框 496486136">
            <a:extLst>
              <a:ext uri="{FF2B5EF4-FFF2-40B4-BE49-F238E27FC236}">
                <a16:creationId xmlns:a16="http://schemas.microsoft.com/office/drawing/2014/main" id="{EA47A06A-3C7D-6F2B-5182-2764DC8C62BA}"/>
              </a:ext>
            </a:extLst>
          </p:cNvPr>
          <p:cNvSpPr txBox="1"/>
          <p:nvPr/>
        </p:nvSpPr>
        <p:spPr bwMode="auto">
          <a:xfrm>
            <a:off x="7555150" y="1194947"/>
            <a:ext cx="4133337" cy="18114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zh-CN" altLang="en-US" dirty="0"/>
              <a:t>从后端版图文件提取各种物理信息进行物理仿真，并进行制造规则和电气检查，确保版图是符合晶圆厂生产标准的。</a:t>
            </a:r>
            <a:endParaRPr lang="en-US" altLang="zh-CN" dirty="0"/>
          </a:p>
          <a:p>
            <a:pPr>
              <a:defRPr/>
            </a:pPr>
            <a:endParaRPr lang="en-US" altLang="zh-CN" dirty="0"/>
          </a:p>
          <a:p>
            <a:pPr>
              <a:defRPr/>
            </a:pPr>
            <a:endParaRPr lang="en-US" altLang="zh-CN" dirty="0"/>
          </a:p>
        </p:txBody>
      </p:sp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B4D0CA8-5B3F-7A13-8161-2C8ED6862CC7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564F99B-9F27-7B5D-5919-2EE25A9C2849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1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29542CF-529D-EB07-436A-97C906E049D8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9A9A601-9C0C-A7D5-E2FF-403F171E38FC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961A340-D80C-DD38-13C2-3BE6C3813D5A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72655D8-4680-A1A4-1A2D-B15CB57CBAC8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18" name="图片 3">
            <a:extLst>
              <a:ext uri="{FF2B5EF4-FFF2-40B4-BE49-F238E27FC236}">
                <a16:creationId xmlns:a16="http://schemas.microsoft.com/office/drawing/2014/main" id="{65FE3C95-CE3F-35A4-7A89-0BCA107AEE5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1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77AADB2-0F92-2453-2026-957E95D33C10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B8A5CA4-CAFA-1FBF-9713-A4C1C8FF03EF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0A4F957-9E5E-E609-7ACD-9D96B3A3D6B4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r>
              <a:rPr lang="zh-CN" sz="28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讲解</a:t>
            </a:r>
            <a:endParaRPr lang="en-US" sz="28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BE75F14-BF7D-9528-EB3C-1DB156A807E0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8A98BC4-01FE-5AE9-F3D1-9E1DA0122AC2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29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059FADE-9B1F-CEF3-8FB1-9316DABE6986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5510379-F8D5-1C4A-2EBE-B6BAF742BBEE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CDE96DD-1A29-118E-91A1-C6F19ABA850B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C2C00C1-39C0-1A2D-5783-87C141061AF4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D20A968-6F11-0AAE-2578-1A6848C07B9C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C96B1BD-E30C-C68C-A276-D2AD3FBFEE18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8" name="图片 3">
            <a:extLst>
              <a:ext uri="{FF2B5EF4-FFF2-40B4-BE49-F238E27FC236}">
                <a16:creationId xmlns:a16="http://schemas.microsoft.com/office/drawing/2014/main" id="{AE91855A-8873-B0C7-3E8A-449B7DEA11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EA2862E-17C7-B6C1-D1B1-1F18C4630319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1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97C6AA8-E584-6B29-54D3-78D5C55C65F0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400" dirty="0" err="1">
                <a:solidFill>
                  <a:srgbClr val="00B050">
                    <a:alpha val="70000"/>
                  </a:srgbClr>
                </a:solidFill>
                <a:cs typeface="+mn-ea"/>
              </a:rPr>
              <a:t>Makefile</a:t>
            </a:r>
            <a:r>
              <a:rPr lang="zh-CN" altLang="en-US" sz="2400" dirty="0">
                <a:solidFill>
                  <a:srgbClr val="00B050">
                    <a:alpha val="70000"/>
                  </a:srgbClr>
                </a:solidFill>
                <a:cs typeface="+mn-ea"/>
              </a:rPr>
              <a:t>调用链</a:t>
            </a:r>
            <a:endParaRPr lang="en-US" sz="2400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sp>
        <p:nvSpPr>
          <p:cNvPr id="1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7B0C63C-1723-F584-BD21-D0832ED55867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53493F-F6D9-1036-A3C7-07D1F2B04F81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0C182E4-48CF-E103-3D53-04F6A337D37D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标题 2">
            <a:extLst>
              <a:ext uri="{FF2B5EF4-FFF2-40B4-BE49-F238E27FC236}">
                <a16:creationId xmlns:a16="http://schemas.microsoft.com/office/drawing/2014/main" id="{8E84BD05-FD2C-381F-BCE6-5EF80FF53B5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43230" y="873125"/>
            <a:ext cx="5554980" cy="403225"/>
          </a:xfrm>
        </p:spPr>
        <p:txBody>
          <a:bodyPr wrap="square"/>
          <a:lstStyle/>
          <a:p>
            <a:pPr>
              <a:defRPr/>
            </a:pPr>
            <a:r>
              <a:rPr lang="en-US" dirty="0"/>
              <a:t>AM </a:t>
            </a:r>
            <a:r>
              <a:rPr lang="en-US" dirty="0" err="1"/>
              <a:t>Makefile</a:t>
            </a:r>
            <a:r>
              <a:rPr lang="zh-CN" altLang="en-US" dirty="0"/>
              <a:t>调用链</a:t>
            </a:r>
            <a:endParaRPr dirty="0"/>
          </a:p>
        </p:txBody>
      </p:sp>
      <p:cxnSp>
        <p:nvCxn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F8F4EC6-EADF-E37F-2C3A-71CBE824D5DD}"/>
              </a:ext>
            </a:extLst>
          </p:cNvPr>
          <p:cNvCxnSpPr/>
          <p:nvPr/>
        </p:nvCxnSpPr>
        <p:spPr bwMode="auto">
          <a:xfrm>
            <a:off x="481890" y="1354204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B2EFE7BC-DEF6-0C61-6E48-D0331589E376}"/>
              </a:ext>
            </a:extLst>
          </p:cNvPr>
          <p:cNvSpPr/>
          <p:nvPr/>
        </p:nvSpPr>
        <p:spPr>
          <a:xfrm>
            <a:off x="852881" y="1812748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CD684AE-0893-84CC-0458-B84B319CDCFA}"/>
              </a:ext>
            </a:extLst>
          </p:cNvPr>
          <p:cNvSpPr txBox="1"/>
          <p:nvPr/>
        </p:nvSpPr>
        <p:spPr>
          <a:xfrm>
            <a:off x="1112939" y="1676317"/>
            <a:ext cx="2231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CC6600"/>
                </a:solidFill>
              </a:rPr>
              <a:t>scripts/isa/*.mk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D343F25-41E5-7B22-75F6-AAF4759F3AA8}"/>
              </a:ext>
            </a:extLst>
          </p:cNvPr>
          <p:cNvSpPr/>
          <p:nvPr/>
        </p:nvSpPr>
        <p:spPr>
          <a:xfrm>
            <a:off x="785225" y="2907389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89ECF3C-045B-7915-79CF-FBDE53FC858B}"/>
              </a:ext>
            </a:extLst>
          </p:cNvPr>
          <p:cNvSpPr txBox="1"/>
          <p:nvPr/>
        </p:nvSpPr>
        <p:spPr>
          <a:xfrm>
            <a:off x="1045283" y="2770958"/>
            <a:ext cx="2607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CC6600"/>
                </a:solidFill>
              </a:rPr>
              <a:t>scripts/platform/*.mk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A4A7190-A95B-F4D9-37B2-AABA650A0C7B}"/>
              </a:ext>
            </a:extLst>
          </p:cNvPr>
          <p:cNvSpPr/>
          <p:nvPr/>
        </p:nvSpPr>
        <p:spPr>
          <a:xfrm>
            <a:off x="785226" y="4088959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082881-57C7-E295-D840-9FA9645ADDDE}"/>
              </a:ext>
            </a:extLst>
          </p:cNvPr>
          <p:cNvSpPr txBox="1"/>
          <p:nvPr/>
        </p:nvSpPr>
        <p:spPr>
          <a:xfrm>
            <a:off x="1045283" y="3952528"/>
            <a:ext cx="2934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CC6600"/>
                </a:solidFill>
              </a:rPr>
              <a:t>scripts/isa-platform.mk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CC7BEAB-0F1D-C733-7ABC-6FFFF24C55FC}"/>
              </a:ext>
            </a:extLst>
          </p:cNvPr>
          <p:cNvSpPr txBox="1"/>
          <p:nvPr/>
        </p:nvSpPr>
        <p:spPr>
          <a:xfrm>
            <a:off x="1029606" y="2074868"/>
            <a:ext cx="4348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与硬件执行平台无关的架构交叉编译设置，如对齐、</a:t>
            </a:r>
            <a:r>
              <a:rPr lang="en-US" altLang="zh-CN" dirty="0"/>
              <a:t>ABI</a:t>
            </a:r>
            <a:r>
              <a:rPr lang="zh-CN" altLang="en-US" dirty="0"/>
              <a:t>格式、编译优化等级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C42B91A-E124-9BCD-E1EE-4F7DF2349805}"/>
              </a:ext>
            </a:extLst>
          </p:cNvPr>
          <p:cNvSpPr txBox="1"/>
          <p:nvPr/>
        </p:nvSpPr>
        <p:spPr>
          <a:xfrm>
            <a:off x="1008278" y="3247364"/>
            <a:ext cx="4348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与硬件资源相关的设置，如链接入口、剥除</a:t>
            </a:r>
            <a:r>
              <a:rPr lang="en-US" altLang="zh-CN" dirty="0"/>
              <a:t>ELF</a:t>
            </a:r>
            <a:r>
              <a:rPr lang="zh-CN" altLang="en-US" dirty="0"/>
              <a:t>为程序镜像、传参、加载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13E8B44-BD8F-E5CA-5662-0FF5DCB83E8D}"/>
              </a:ext>
            </a:extLst>
          </p:cNvPr>
          <p:cNvSpPr txBox="1"/>
          <p:nvPr/>
        </p:nvSpPr>
        <p:spPr>
          <a:xfrm>
            <a:off x="1008278" y="4387118"/>
            <a:ext cx="4348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包含前两者对应的</a:t>
            </a:r>
            <a:r>
              <a:rPr lang="en-US" altLang="zh-CN" dirty="0" err="1"/>
              <a:t>mk</a:t>
            </a:r>
            <a:r>
              <a:rPr lang="zh-CN" altLang="en-US" dirty="0"/>
              <a:t>文件，覆写和追加一些个性化设置</a:t>
            </a:r>
            <a:r>
              <a:rPr lang="en-US" altLang="zh-CN" dirty="0"/>
              <a:t>,</a:t>
            </a:r>
            <a:r>
              <a:rPr lang="zh-CN" altLang="en-US" dirty="0"/>
              <a:t>传一些编译宏参数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B1E893F-4909-0ED8-D28D-6B0927EA9E01}"/>
              </a:ext>
            </a:extLst>
          </p:cNvPr>
          <p:cNvSpPr/>
          <p:nvPr/>
        </p:nvSpPr>
        <p:spPr>
          <a:xfrm>
            <a:off x="748221" y="5358724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0DC3078-B658-20EE-201D-220198B28B8C}"/>
              </a:ext>
            </a:extLst>
          </p:cNvPr>
          <p:cNvSpPr txBox="1"/>
          <p:nvPr/>
        </p:nvSpPr>
        <p:spPr>
          <a:xfrm>
            <a:off x="1008278" y="5222293"/>
            <a:ext cx="2934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solidFill>
                  <a:srgbClr val="CC6600"/>
                </a:solidFill>
              </a:rPr>
              <a:t>klib</a:t>
            </a:r>
            <a:r>
              <a:rPr lang="en-US" altLang="zh-CN" dirty="0">
                <a:solidFill>
                  <a:srgbClr val="CC6600"/>
                </a:solidFill>
              </a:rPr>
              <a:t>/*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6657325-6CD8-EAF9-C3CF-68518F8CA21F}"/>
              </a:ext>
            </a:extLst>
          </p:cNvPr>
          <p:cNvSpPr txBox="1"/>
          <p:nvPr/>
        </p:nvSpPr>
        <p:spPr>
          <a:xfrm>
            <a:off x="1008278" y="5661709"/>
            <a:ext cx="4348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便于</a:t>
            </a:r>
            <a:r>
              <a:rPr lang="en-US" altLang="zh-CN" dirty="0"/>
              <a:t>C</a:t>
            </a:r>
            <a:r>
              <a:rPr lang="zh-CN" altLang="en-US" dirty="0"/>
              <a:t>程序移植的最小</a:t>
            </a:r>
            <a:r>
              <a:rPr lang="en-US" altLang="zh-CN" dirty="0" err="1"/>
              <a:t>libc</a:t>
            </a:r>
            <a:r>
              <a:rPr lang="zh-CN" altLang="en-US" dirty="0"/>
              <a:t>库函数支持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886074D-10D2-92DB-18A5-390325FC5E62}"/>
              </a:ext>
            </a:extLst>
          </p:cNvPr>
          <p:cNvSpPr txBox="1"/>
          <p:nvPr/>
        </p:nvSpPr>
        <p:spPr>
          <a:xfrm>
            <a:off x="7354314" y="1493073"/>
            <a:ext cx="3214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make ARCH=isa-platform run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6CCE3F2-0002-5ECC-BF63-432F6AFC6DAE}"/>
              </a:ext>
            </a:extLst>
          </p:cNvPr>
          <p:cNvCxnSpPr/>
          <p:nvPr/>
        </p:nvCxnSpPr>
        <p:spPr>
          <a:xfrm flipH="1">
            <a:off x="7401850" y="1877810"/>
            <a:ext cx="658536" cy="437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DD9122BE-1265-10A3-BBB1-2416E9E5C09D}"/>
              </a:ext>
            </a:extLst>
          </p:cNvPr>
          <p:cNvSpPr txBox="1"/>
          <p:nvPr/>
        </p:nvSpPr>
        <p:spPr>
          <a:xfrm>
            <a:off x="5733767" y="2312311"/>
            <a:ext cx="35509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环境变量</a:t>
            </a:r>
            <a:r>
              <a:rPr lang="en-US" altLang="zh-CN" sz="1400" dirty="0"/>
              <a:t>ARCH</a:t>
            </a:r>
            <a:r>
              <a:rPr lang="zh-CN" altLang="en-US" sz="1400" dirty="0"/>
              <a:t>确定目标平台编译链接参数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44480E5-72E7-ECA3-47FA-E739E7BD8B4B}"/>
              </a:ext>
            </a:extLst>
          </p:cNvPr>
          <p:cNvSpPr txBox="1"/>
          <p:nvPr/>
        </p:nvSpPr>
        <p:spPr>
          <a:xfrm>
            <a:off x="6070306" y="3069994"/>
            <a:ext cx="3214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打包构建出</a:t>
            </a:r>
            <a:r>
              <a:rPr lang="en-US" altLang="zh-CN" sz="1400" dirty="0"/>
              <a:t>am</a:t>
            </a:r>
            <a:r>
              <a:rPr lang="zh-CN" altLang="en-US" sz="1400" dirty="0"/>
              <a:t>静态库</a:t>
            </a:r>
            <a:r>
              <a:rPr lang="en-US" altLang="zh-CN" sz="1400" dirty="0"/>
              <a:t>.a</a:t>
            </a:r>
            <a:r>
              <a:rPr lang="zh-CN" altLang="en-US" sz="1400" dirty="0"/>
              <a:t>文件</a:t>
            </a: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B7656D54-7EF0-94B4-29DD-6A24BD0F5188}"/>
              </a:ext>
            </a:extLst>
          </p:cNvPr>
          <p:cNvCxnSpPr>
            <a:cxnSpLocks/>
          </p:cNvCxnSpPr>
          <p:nvPr/>
        </p:nvCxnSpPr>
        <p:spPr>
          <a:xfrm>
            <a:off x="9609411" y="1870006"/>
            <a:ext cx="606946" cy="437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8FFE1585-17BE-9E17-BA72-E53D08CB7B2C}"/>
              </a:ext>
            </a:extLst>
          </p:cNvPr>
          <p:cNvSpPr txBox="1"/>
          <p:nvPr/>
        </p:nvSpPr>
        <p:spPr>
          <a:xfrm>
            <a:off x="9450504" y="2307715"/>
            <a:ext cx="2654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程序</a:t>
            </a:r>
            <a:r>
              <a:rPr lang="en-US" altLang="zh-CN" sz="1400" dirty="0"/>
              <a:t>C</a:t>
            </a:r>
            <a:r>
              <a:rPr lang="zh-CN" altLang="en-US" sz="1400" dirty="0"/>
              <a:t>源码</a:t>
            </a:r>
            <a:r>
              <a:rPr lang="en-US" altLang="zh-CN" sz="1400" dirty="0"/>
              <a:t>SRC</a:t>
            </a:r>
            <a:r>
              <a:rPr lang="zh-CN" altLang="en-US" sz="1400" dirty="0"/>
              <a:t>编译目标文件</a:t>
            </a: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B6A8F53E-F7B3-9393-3931-B88771318EC8}"/>
              </a:ext>
            </a:extLst>
          </p:cNvPr>
          <p:cNvCxnSpPr>
            <a:cxnSpLocks/>
          </p:cNvCxnSpPr>
          <p:nvPr/>
        </p:nvCxnSpPr>
        <p:spPr>
          <a:xfrm>
            <a:off x="7018544" y="3438123"/>
            <a:ext cx="594221" cy="632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E5FB77F-E4CC-0A9E-7095-35F5FBEAEA23}"/>
              </a:ext>
            </a:extLst>
          </p:cNvPr>
          <p:cNvCxnSpPr>
            <a:cxnSpLocks/>
          </p:cNvCxnSpPr>
          <p:nvPr/>
        </p:nvCxnSpPr>
        <p:spPr>
          <a:xfrm flipH="1">
            <a:off x="8906771" y="2615492"/>
            <a:ext cx="1661925" cy="1487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A8E65E1C-716D-FD79-FFE5-B778F502D05B}"/>
              </a:ext>
            </a:extLst>
          </p:cNvPr>
          <p:cNvSpPr txBox="1"/>
          <p:nvPr/>
        </p:nvSpPr>
        <p:spPr>
          <a:xfrm>
            <a:off x="7488538" y="4152952"/>
            <a:ext cx="2388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链接为</a:t>
            </a:r>
            <a:r>
              <a:rPr lang="en-US" altLang="zh-CN" sz="1400" dirty="0"/>
              <a:t>ELF</a:t>
            </a:r>
            <a:r>
              <a:rPr lang="zh-CN" altLang="en-US" sz="1400" dirty="0"/>
              <a:t>可执行文件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051CF49-D269-367B-895E-9D3FA96F4602}"/>
              </a:ext>
            </a:extLst>
          </p:cNvPr>
          <p:cNvSpPr txBox="1"/>
          <p:nvPr/>
        </p:nvSpPr>
        <p:spPr>
          <a:xfrm>
            <a:off x="7401850" y="4928133"/>
            <a:ext cx="316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生成镜像文件，</a:t>
            </a:r>
            <a:r>
              <a:rPr lang="en-US" altLang="zh-CN" sz="1400" dirty="0"/>
              <a:t>run</a:t>
            </a:r>
            <a:r>
              <a:rPr lang="zh-CN" altLang="en-US" sz="1400" dirty="0"/>
              <a:t>命令平台加载镜像</a:t>
            </a: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C5333732-2982-A959-61D4-779574C0805B}"/>
              </a:ext>
            </a:extLst>
          </p:cNvPr>
          <p:cNvCxnSpPr>
            <a:cxnSpLocks/>
          </p:cNvCxnSpPr>
          <p:nvPr/>
        </p:nvCxnSpPr>
        <p:spPr>
          <a:xfrm>
            <a:off x="7488538" y="2656784"/>
            <a:ext cx="0" cy="437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938D9EAD-0FC8-75EC-00F3-C30382D999D1}"/>
              </a:ext>
            </a:extLst>
          </p:cNvPr>
          <p:cNvSpPr txBox="1"/>
          <p:nvPr/>
        </p:nvSpPr>
        <p:spPr>
          <a:xfrm>
            <a:off x="7655295" y="5660924"/>
            <a:ext cx="1795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程序开始运行至停机</a:t>
            </a: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99C16BA-6939-B153-1B03-6CC82814DFC7}"/>
              </a:ext>
            </a:extLst>
          </p:cNvPr>
          <p:cNvCxnSpPr>
            <a:cxnSpLocks/>
          </p:cNvCxnSpPr>
          <p:nvPr/>
        </p:nvCxnSpPr>
        <p:spPr>
          <a:xfrm>
            <a:off x="8411184" y="4406290"/>
            <a:ext cx="0" cy="551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D605FD6-07BD-4FC8-7459-4A05559C79EA}"/>
              </a:ext>
            </a:extLst>
          </p:cNvPr>
          <p:cNvCxnSpPr>
            <a:cxnSpLocks/>
          </p:cNvCxnSpPr>
          <p:nvPr/>
        </p:nvCxnSpPr>
        <p:spPr>
          <a:xfrm>
            <a:off x="8413803" y="5175535"/>
            <a:ext cx="0" cy="5331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957664E3-20B2-40CF-ED68-A9CC435F26B2}"/>
              </a:ext>
            </a:extLst>
          </p:cNvPr>
          <p:cNvSpPr txBox="1"/>
          <p:nvPr/>
        </p:nvSpPr>
        <p:spPr>
          <a:xfrm>
            <a:off x="8542607" y="4503119"/>
            <a:ext cx="1938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CC6600"/>
                </a:solidFill>
              </a:rPr>
              <a:t>scripts/platform/*.mk</a:t>
            </a:r>
            <a:endParaRPr lang="zh-CN" altLang="en-US" sz="1400" dirty="0">
              <a:solidFill>
                <a:srgbClr val="CC6600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66E9F24-1DA6-4594-D733-BF7A66375C19}"/>
              </a:ext>
            </a:extLst>
          </p:cNvPr>
          <p:cNvSpPr txBox="1"/>
          <p:nvPr/>
        </p:nvSpPr>
        <p:spPr>
          <a:xfrm>
            <a:off x="7442182" y="3608694"/>
            <a:ext cx="1938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CC6600"/>
                </a:solidFill>
              </a:rPr>
              <a:t>scripts/platform/*.mk</a:t>
            </a:r>
            <a:endParaRPr lang="zh-CN" altLang="en-US" sz="1400" dirty="0">
              <a:solidFill>
                <a:srgbClr val="CC660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82FDD32-37C8-EDCB-6884-0E3A944DD5E7}"/>
              </a:ext>
            </a:extLst>
          </p:cNvPr>
          <p:cNvSpPr txBox="1"/>
          <p:nvPr/>
        </p:nvSpPr>
        <p:spPr>
          <a:xfrm>
            <a:off x="10041712" y="1841934"/>
            <a:ext cx="8653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./</a:t>
            </a:r>
            <a:r>
              <a:rPr lang="en-US" altLang="zh-CN" sz="1200" dirty="0" err="1">
                <a:solidFill>
                  <a:srgbClr val="CC6600"/>
                </a:solidFill>
              </a:rPr>
              <a:t>Makefile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DC22E8C-D20A-8448-2FC6-17FEDA79DC0B}"/>
              </a:ext>
            </a:extLst>
          </p:cNvPr>
          <p:cNvSpPr txBox="1"/>
          <p:nvPr/>
        </p:nvSpPr>
        <p:spPr>
          <a:xfrm>
            <a:off x="6242627" y="1823978"/>
            <a:ext cx="1655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CC6600"/>
                </a:solidFill>
              </a:rPr>
              <a:t>scripts/isa/*.mk</a:t>
            </a:r>
            <a:endParaRPr lang="zh-CN" altLang="en-US" sz="1400" dirty="0">
              <a:solidFill>
                <a:srgbClr val="CC6600"/>
              </a:solidFill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43661A86-8B0D-E364-A0F2-7F03537EBD6C}"/>
              </a:ext>
            </a:extLst>
          </p:cNvPr>
          <p:cNvSpPr txBox="1"/>
          <p:nvPr/>
        </p:nvSpPr>
        <p:spPr>
          <a:xfrm>
            <a:off x="6585875" y="2656784"/>
            <a:ext cx="8653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./</a:t>
            </a:r>
            <a:r>
              <a:rPr lang="en-US" altLang="zh-CN" sz="1200" dirty="0" err="1">
                <a:solidFill>
                  <a:srgbClr val="CC6600"/>
                </a:solidFill>
              </a:rPr>
              <a:t>Makefile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49F9CBB-9B96-5ABD-38A7-96F3BA13AC5D}"/>
              </a:ext>
            </a:extLst>
          </p:cNvPr>
          <p:cNvSpPr txBox="1"/>
          <p:nvPr/>
        </p:nvSpPr>
        <p:spPr>
          <a:xfrm>
            <a:off x="10458878" y="2635846"/>
            <a:ext cx="8653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./</a:t>
            </a:r>
            <a:r>
              <a:rPr lang="en-US" altLang="zh-CN" sz="1200" dirty="0" err="1">
                <a:solidFill>
                  <a:srgbClr val="CC6600"/>
                </a:solidFill>
              </a:rPr>
              <a:t>Makefile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7EBE160B-9EA5-79B2-EE45-83556066E342}"/>
              </a:ext>
            </a:extLst>
          </p:cNvPr>
          <p:cNvSpPr txBox="1"/>
          <p:nvPr/>
        </p:nvSpPr>
        <p:spPr>
          <a:xfrm>
            <a:off x="7677497" y="2664921"/>
            <a:ext cx="8653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CC6600"/>
                </a:solidFill>
              </a:rPr>
              <a:t>klib</a:t>
            </a:r>
            <a:r>
              <a:rPr lang="en-US" altLang="zh-CN" sz="1200" dirty="0">
                <a:solidFill>
                  <a:srgbClr val="CC6600"/>
                </a:solidFill>
              </a:rPr>
              <a:t>/*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="" xmlns:m="http://schemas.openxmlformats.org/officeDocument/2006/math" xmlns:w="http://schemas.openxmlformats.org/wordprocessingml/2006/main"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3" grpId="0"/>
      <p:bldP spid="34" grpId="0"/>
      <p:bldP spid="38" grpId="0"/>
      <p:bldP spid="45" grpId="0"/>
      <p:bldP spid="46" grpId="0"/>
      <p:bldP spid="49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C3B91C9-0981-1018-F9A0-D55DCB687D6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EA9B05E-BB09-3915-E749-26DDCC01A9BE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C34FF75-8E64-AFE2-EFD4-56AAA65A91C3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14176AE-6A80-8FA6-245A-9C397294829C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73E4994-968D-140A-38A3-C07A43B9F499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5E42A3F-4D68-EED9-A9C5-4DF84ACBE2CE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5CC71FC-CE5A-831B-DEF2-CC2FE0AA4B62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8" name="图片 3">
            <a:extLst>
              <a:ext uri="{FF2B5EF4-FFF2-40B4-BE49-F238E27FC236}">
                <a16:creationId xmlns:a16="http://schemas.microsoft.com/office/drawing/2014/main" id="{FF2B5B55-B095-FC2C-82EC-4E6C07B90A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5FF624F-AC94-2207-0768-2A591B5ED094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1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17E17A7-1E6E-507F-48BD-AFBFE8CCA12F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400" dirty="0" err="1">
                <a:solidFill>
                  <a:srgbClr val="00B050">
                    <a:alpha val="70000"/>
                  </a:srgbClr>
                </a:solidFill>
                <a:cs typeface="+mn-ea"/>
              </a:rPr>
              <a:t>Makefile</a:t>
            </a:r>
            <a:r>
              <a:rPr lang="zh-CN" altLang="en-US" sz="2400" dirty="0">
                <a:solidFill>
                  <a:srgbClr val="00B050">
                    <a:alpha val="70000"/>
                  </a:srgbClr>
                </a:solidFill>
                <a:cs typeface="+mn-ea"/>
              </a:rPr>
              <a:t>调用链</a:t>
            </a:r>
            <a:endParaRPr lang="en-US" sz="2400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sp>
        <p:nvSpPr>
          <p:cNvPr id="1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9A6AC20-03D4-A759-B3FC-4CB065341349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2DA64AD-C1D5-1278-FB8B-C2B30AF030B1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1F50A065-1872-4EA3-534A-BA3D53827A07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标题 2">
            <a:extLst>
              <a:ext uri="{FF2B5EF4-FFF2-40B4-BE49-F238E27FC236}">
                <a16:creationId xmlns:a16="http://schemas.microsoft.com/office/drawing/2014/main" id="{F6C33B37-642F-EC65-FFF6-632968F2FCF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43230" y="873125"/>
            <a:ext cx="5554980" cy="403225"/>
          </a:xfrm>
        </p:spPr>
        <p:txBody>
          <a:bodyPr wrap="square"/>
          <a:lstStyle/>
          <a:p>
            <a:pPr>
              <a:defRPr/>
            </a:pPr>
            <a:r>
              <a:rPr lang="en-US" altLang="zh-CN" dirty="0"/>
              <a:t>NEMU</a:t>
            </a:r>
            <a:r>
              <a:rPr lang="en-US" dirty="0"/>
              <a:t> </a:t>
            </a:r>
            <a:r>
              <a:rPr lang="en-US" dirty="0" err="1"/>
              <a:t>Makefile</a:t>
            </a:r>
            <a:r>
              <a:rPr lang="zh-CN" altLang="en-US" dirty="0"/>
              <a:t>调用链</a:t>
            </a:r>
            <a:endParaRPr dirty="0"/>
          </a:p>
        </p:txBody>
      </p:sp>
      <p:cxnSp>
        <p:nvCxn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407F5A7-49E3-FFCF-339C-C7E03D4CC819}"/>
              </a:ext>
            </a:extLst>
          </p:cNvPr>
          <p:cNvCxnSpPr/>
          <p:nvPr/>
        </p:nvCxnSpPr>
        <p:spPr bwMode="auto">
          <a:xfrm>
            <a:off x="481890" y="1354204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B73E7857-A0D1-DC75-D295-47AC95EC8D2C}"/>
              </a:ext>
            </a:extLst>
          </p:cNvPr>
          <p:cNvSpPr/>
          <p:nvPr/>
        </p:nvSpPr>
        <p:spPr>
          <a:xfrm>
            <a:off x="852881" y="1812748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CC137446-978B-55D2-BBAE-BB34C5DDE4EC}"/>
              </a:ext>
            </a:extLst>
          </p:cNvPr>
          <p:cNvSpPr txBox="1"/>
          <p:nvPr/>
        </p:nvSpPr>
        <p:spPr>
          <a:xfrm>
            <a:off x="1112939" y="1676317"/>
            <a:ext cx="2231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CC6600"/>
                </a:solidFill>
              </a:rPr>
              <a:t>scripts/config.mk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E7D5CF3A-ED0B-431A-E34A-EEEEF3E49B6C}"/>
              </a:ext>
            </a:extLst>
          </p:cNvPr>
          <p:cNvSpPr/>
          <p:nvPr/>
        </p:nvSpPr>
        <p:spPr>
          <a:xfrm>
            <a:off x="785225" y="2907389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8BA2CD9-9C9E-309C-5565-9C08285C2781}"/>
              </a:ext>
            </a:extLst>
          </p:cNvPr>
          <p:cNvSpPr txBox="1"/>
          <p:nvPr/>
        </p:nvSpPr>
        <p:spPr>
          <a:xfrm>
            <a:off x="1045283" y="2770958"/>
            <a:ext cx="2607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CC6600"/>
                </a:solidFill>
              </a:rPr>
              <a:t>scripts/build.mk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320EA83D-B1CB-328C-6C99-41C66BBFA598}"/>
              </a:ext>
            </a:extLst>
          </p:cNvPr>
          <p:cNvSpPr/>
          <p:nvPr/>
        </p:nvSpPr>
        <p:spPr>
          <a:xfrm>
            <a:off x="768212" y="3889546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9FD8C4D-456D-B606-943F-D4AB662713FA}"/>
              </a:ext>
            </a:extLst>
          </p:cNvPr>
          <p:cNvSpPr txBox="1"/>
          <p:nvPr/>
        </p:nvSpPr>
        <p:spPr>
          <a:xfrm>
            <a:off x="1028269" y="3753115"/>
            <a:ext cx="2934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CC6600"/>
                </a:solidFill>
              </a:rPr>
              <a:t>scripts/native.mk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B6DCACD-AF64-2420-E5CF-57F898546941}"/>
              </a:ext>
            </a:extLst>
          </p:cNvPr>
          <p:cNvSpPr txBox="1"/>
          <p:nvPr/>
        </p:nvSpPr>
        <p:spPr>
          <a:xfrm>
            <a:off x="1029606" y="2074868"/>
            <a:ext cx="4348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虚拟机硬件参数配置、指定虚拟机</a:t>
            </a:r>
            <a:r>
              <a:rPr lang="en-US" altLang="zh-CN" dirty="0"/>
              <a:t>ISA</a:t>
            </a:r>
            <a:r>
              <a:rPr lang="zh-CN" altLang="en-US" dirty="0"/>
              <a:t>、编译链接选项、</a:t>
            </a:r>
            <a:r>
              <a:rPr lang="en-US" altLang="zh-CN" dirty="0"/>
              <a:t>Monitor</a:t>
            </a:r>
            <a:r>
              <a:rPr lang="zh-CN" altLang="en-US" dirty="0"/>
              <a:t>设置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4AE6977-A3C3-9465-9D40-506AC811F65F}"/>
              </a:ext>
            </a:extLst>
          </p:cNvPr>
          <p:cNvSpPr txBox="1"/>
          <p:nvPr/>
        </p:nvSpPr>
        <p:spPr>
          <a:xfrm>
            <a:off x="1008278" y="3247364"/>
            <a:ext cx="4348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通用编译模板，编译链接出虚拟机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0940502-73A4-1B89-B4B5-9FAAF2F4B2FB}"/>
              </a:ext>
            </a:extLst>
          </p:cNvPr>
          <p:cNvSpPr txBox="1"/>
          <p:nvPr/>
        </p:nvSpPr>
        <p:spPr>
          <a:xfrm>
            <a:off x="991264" y="4187705"/>
            <a:ext cx="4348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虚拟机程序传参，指定程序镜像、</a:t>
            </a:r>
            <a:r>
              <a:rPr lang="en-US" altLang="zh-CN" dirty="0"/>
              <a:t>Monitor</a:t>
            </a:r>
            <a:r>
              <a:rPr lang="zh-CN" altLang="en-US" dirty="0"/>
              <a:t>参数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49526D49-F2A6-46AA-8392-AD9DAC9FCDE2}"/>
              </a:ext>
            </a:extLst>
          </p:cNvPr>
          <p:cNvSpPr/>
          <p:nvPr/>
        </p:nvSpPr>
        <p:spPr>
          <a:xfrm>
            <a:off x="731207" y="5159311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197E5FF-77AE-D57B-12FB-8805D53EDE2C}"/>
              </a:ext>
            </a:extLst>
          </p:cNvPr>
          <p:cNvSpPr txBox="1"/>
          <p:nvPr/>
        </p:nvSpPr>
        <p:spPr>
          <a:xfrm>
            <a:off x="991264" y="5022880"/>
            <a:ext cx="2934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CC6600"/>
                </a:solidFill>
              </a:rPr>
              <a:t>src/**/filelist.mk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03F5CBF-C998-AFB5-E091-A8E4D2105D69}"/>
              </a:ext>
            </a:extLst>
          </p:cNvPr>
          <p:cNvSpPr txBox="1"/>
          <p:nvPr/>
        </p:nvSpPr>
        <p:spPr>
          <a:xfrm>
            <a:off x="991264" y="5462296"/>
            <a:ext cx="4348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编译虚拟机的源文件黑白名单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1693156-51D0-E709-5537-43E4E23E98CE}"/>
              </a:ext>
            </a:extLst>
          </p:cNvPr>
          <p:cNvSpPr txBox="1"/>
          <p:nvPr/>
        </p:nvSpPr>
        <p:spPr>
          <a:xfrm>
            <a:off x="7379222" y="1276350"/>
            <a:ext cx="3580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make ARCH=isa </a:t>
            </a:r>
            <a:r>
              <a:rPr lang="en-US" altLang="zh-CN" dirty="0" err="1"/>
              <a:t>menuconfig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893EF4F-C899-A82F-A22F-FA00AB2A5D70}"/>
              </a:ext>
            </a:extLst>
          </p:cNvPr>
          <p:cNvSpPr txBox="1"/>
          <p:nvPr/>
        </p:nvSpPr>
        <p:spPr>
          <a:xfrm>
            <a:off x="6700913" y="2147999"/>
            <a:ext cx="48573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配置虚拟机硬件参数、设置</a:t>
            </a:r>
            <a:r>
              <a:rPr lang="en-US" altLang="zh-CN" sz="1400" dirty="0"/>
              <a:t>Monitor</a:t>
            </a:r>
            <a:r>
              <a:rPr lang="zh-CN" altLang="en-US" sz="1400" dirty="0"/>
              <a:t>、编译链接参数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DA4CE1B-AB47-D541-2FF5-1589EEFD4FA3}"/>
              </a:ext>
            </a:extLst>
          </p:cNvPr>
          <p:cNvSpPr txBox="1"/>
          <p:nvPr/>
        </p:nvSpPr>
        <p:spPr>
          <a:xfrm>
            <a:off x="7614825" y="3109558"/>
            <a:ext cx="2654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选择性编译虚拟机所需源文件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C35DE75-7835-4996-3332-4D695B39EA35}"/>
              </a:ext>
            </a:extLst>
          </p:cNvPr>
          <p:cNvSpPr txBox="1"/>
          <p:nvPr/>
        </p:nvSpPr>
        <p:spPr>
          <a:xfrm>
            <a:off x="7684152" y="4033868"/>
            <a:ext cx="2388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链接为宿主机可执行文件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CE0B749-9424-4F82-C003-A38BA6404AA9}"/>
              </a:ext>
            </a:extLst>
          </p:cNvPr>
          <p:cNvSpPr txBox="1"/>
          <p:nvPr/>
        </p:nvSpPr>
        <p:spPr>
          <a:xfrm>
            <a:off x="7516138" y="5017125"/>
            <a:ext cx="25862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run</a:t>
            </a:r>
            <a:r>
              <a:rPr lang="zh-CN" altLang="en-US" sz="1400" dirty="0"/>
              <a:t>命令运行在宿主机平台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45F114-F452-196C-FD85-9AAA7BCE3FD5}"/>
              </a:ext>
            </a:extLst>
          </p:cNvPr>
          <p:cNvSpPr txBox="1"/>
          <p:nvPr/>
        </p:nvSpPr>
        <p:spPr>
          <a:xfrm>
            <a:off x="7525985" y="5780636"/>
            <a:ext cx="25764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虚拟机运行，</a:t>
            </a:r>
            <a:r>
              <a:rPr lang="en-US" altLang="zh-CN" sz="1400" dirty="0"/>
              <a:t>Monitor</a:t>
            </a:r>
            <a:r>
              <a:rPr lang="zh-CN" altLang="en-US" sz="1400" dirty="0"/>
              <a:t>交互</a:t>
            </a: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B669D9E0-BDDA-234B-27E5-75AB98C7FB99}"/>
              </a:ext>
            </a:extLst>
          </p:cNvPr>
          <p:cNvCxnSpPr>
            <a:cxnSpLocks/>
          </p:cNvCxnSpPr>
          <p:nvPr/>
        </p:nvCxnSpPr>
        <p:spPr>
          <a:xfrm>
            <a:off x="8444624" y="2557954"/>
            <a:ext cx="0" cy="551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E30E251-C6CB-05AD-EF38-749386290250}"/>
              </a:ext>
            </a:extLst>
          </p:cNvPr>
          <p:cNvCxnSpPr>
            <a:cxnSpLocks/>
          </p:cNvCxnSpPr>
          <p:nvPr/>
        </p:nvCxnSpPr>
        <p:spPr>
          <a:xfrm>
            <a:off x="8422895" y="1583189"/>
            <a:ext cx="0" cy="5331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0C96715-3533-CB8D-8FA4-8A36BE734BA0}"/>
              </a:ext>
            </a:extLst>
          </p:cNvPr>
          <p:cNvSpPr txBox="1"/>
          <p:nvPr/>
        </p:nvSpPr>
        <p:spPr>
          <a:xfrm>
            <a:off x="8476631" y="2666338"/>
            <a:ext cx="1595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CC6600"/>
                </a:solidFill>
              </a:rPr>
              <a:t>src/**/filelist.mk</a:t>
            </a:r>
            <a:endParaRPr lang="zh-CN" altLang="en-US" sz="1400" dirty="0">
              <a:solidFill>
                <a:srgbClr val="CC660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A29C4150-13D9-F1BF-37E5-8E9A10F3DAC4}"/>
              </a:ext>
            </a:extLst>
          </p:cNvPr>
          <p:cNvSpPr txBox="1"/>
          <p:nvPr/>
        </p:nvSpPr>
        <p:spPr>
          <a:xfrm>
            <a:off x="7379222" y="1654029"/>
            <a:ext cx="8653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./</a:t>
            </a:r>
            <a:r>
              <a:rPr lang="en-US" altLang="zh-CN" sz="1200" dirty="0" err="1">
                <a:solidFill>
                  <a:srgbClr val="CC6600"/>
                </a:solidFill>
              </a:rPr>
              <a:t>Makefile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5C69606-7485-9D19-DCB8-14DCFDBAAC7E}"/>
              </a:ext>
            </a:extLst>
          </p:cNvPr>
          <p:cNvSpPr txBox="1"/>
          <p:nvPr/>
        </p:nvSpPr>
        <p:spPr>
          <a:xfrm>
            <a:off x="8507154" y="1628184"/>
            <a:ext cx="1655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CC6600"/>
                </a:solidFill>
              </a:rPr>
              <a:t>scripts/config.mk</a:t>
            </a:r>
            <a:endParaRPr lang="zh-CN" altLang="en-US" sz="1400" dirty="0">
              <a:solidFill>
                <a:srgbClr val="CC6600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3B22839-9131-2591-041D-5F1AAC84F13B}"/>
              </a:ext>
            </a:extLst>
          </p:cNvPr>
          <p:cNvSpPr txBox="1"/>
          <p:nvPr/>
        </p:nvSpPr>
        <p:spPr>
          <a:xfrm>
            <a:off x="8578848" y="3538201"/>
            <a:ext cx="1557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CC6600"/>
                </a:solidFill>
              </a:rPr>
              <a:t>scripts/build.mk</a:t>
            </a:r>
            <a:endParaRPr lang="zh-CN" altLang="en-US" sz="1400" dirty="0">
              <a:solidFill>
                <a:srgbClr val="CC6600"/>
              </a:solidFill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B610BB46-5FFB-B908-9092-33AD07722C06}"/>
              </a:ext>
            </a:extLst>
          </p:cNvPr>
          <p:cNvCxnSpPr>
            <a:cxnSpLocks/>
          </p:cNvCxnSpPr>
          <p:nvPr/>
        </p:nvCxnSpPr>
        <p:spPr>
          <a:xfrm>
            <a:off x="8476631" y="3465570"/>
            <a:ext cx="0" cy="551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74192D1E-F30B-9C67-F8B1-3ED3AE36CE59}"/>
              </a:ext>
            </a:extLst>
          </p:cNvPr>
          <p:cNvSpPr txBox="1"/>
          <p:nvPr/>
        </p:nvSpPr>
        <p:spPr>
          <a:xfrm>
            <a:off x="8557469" y="4510871"/>
            <a:ext cx="16561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CC6600"/>
                </a:solidFill>
              </a:rPr>
              <a:t>scripts/native.mk</a:t>
            </a:r>
            <a:endParaRPr lang="zh-CN" altLang="en-US" sz="1400" dirty="0">
              <a:solidFill>
                <a:srgbClr val="CC6600"/>
              </a:solidFill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7CAC5FC5-211D-4221-AF6E-BD7BD6733360}"/>
              </a:ext>
            </a:extLst>
          </p:cNvPr>
          <p:cNvCxnSpPr>
            <a:cxnSpLocks/>
          </p:cNvCxnSpPr>
          <p:nvPr/>
        </p:nvCxnSpPr>
        <p:spPr>
          <a:xfrm>
            <a:off x="8476631" y="4345460"/>
            <a:ext cx="0" cy="551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725229ED-D870-0AB1-E326-67004C05DF44}"/>
              </a:ext>
            </a:extLst>
          </p:cNvPr>
          <p:cNvCxnSpPr>
            <a:cxnSpLocks/>
          </p:cNvCxnSpPr>
          <p:nvPr/>
        </p:nvCxnSpPr>
        <p:spPr>
          <a:xfrm>
            <a:off x="8597554" y="5341709"/>
            <a:ext cx="0" cy="551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71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3" grpId="0"/>
      <p:bldP spid="38" grpId="0"/>
      <p:bldP spid="45" grpId="0"/>
      <p:bldP spid="46" grpId="0"/>
      <p:bldP spid="49" grpId="0"/>
      <p:bldP spid="54" grpId="0"/>
      <p:bldP spid="56" grpId="0"/>
      <p:bldP spid="57" grpId="0"/>
      <p:bldP spid="18" grpId="0"/>
      <p:bldP spid="3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60B08BB-5DCB-AA2D-5B95-6C72479895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1526331-8F2A-8F5B-AF8E-D761D84D4322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7140B93-B9A6-7B44-A010-141C7CE8EF9A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EC349BD-E43F-18A9-5726-C40C8971E573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54E807B-CA1E-8590-350C-12C61674D35F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C41DF3D-9E29-B307-70D4-32181E5B3EDF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CAA6786-6AC9-7738-A5AD-821EA6F61582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8" name="图片 3">
            <a:extLst>
              <a:ext uri="{FF2B5EF4-FFF2-40B4-BE49-F238E27FC236}">
                <a16:creationId xmlns:a16="http://schemas.microsoft.com/office/drawing/2014/main" id="{ADD0284A-F79F-6BBE-9EE2-1E8FB70BF2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F32206F-AAD5-1816-744D-93AC20D384B4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1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6DB78F7-8B9D-045F-0681-C7489B98B1E4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400" dirty="0" err="1">
                <a:solidFill>
                  <a:srgbClr val="00B050">
                    <a:alpha val="70000"/>
                  </a:srgbClr>
                </a:solidFill>
                <a:cs typeface="+mn-ea"/>
              </a:rPr>
              <a:t>Makefile</a:t>
            </a:r>
            <a:r>
              <a:rPr lang="zh-CN" altLang="en-US" sz="2400" dirty="0">
                <a:solidFill>
                  <a:srgbClr val="00B050">
                    <a:alpha val="70000"/>
                  </a:srgbClr>
                </a:solidFill>
                <a:cs typeface="+mn-ea"/>
              </a:rPr>
              <a:t>调用链</a:t>
            </a:r>
            <a:endParaRPr lang="en-US" sz="2400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sp>
        <p:nvSpPr>
          <p:cNvPr id="1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A6CEBAA-F498-75A1-0A97-F3721E8468A2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80F77CE-EAC6-B55F-82B1-04220EFE603A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034468C-3BB3-4B99-A277-D97A4BBAC988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标题 2">
            <a:extLst>
              <a:ext uri="{FF2B5EF4-FFF2-40B4-BE49-F238E27FC236}">
                <a16:creationId xmlns:a16="http://schemas.microsoft.com/office/drawing/2014/main" id="{8A21670C-E2A7-0BC6-FE3C-7172C1E415D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43230" y="873125"/>
            <a:ext cx="5554980" cy="403225"/>
          </a:xfrm>
        </p:spPr>
        <p:txBody>
          <a:bodyPr wrap="square"/>
          <a:lstStyle/>
          <a:p>
            <a:pPr>
              <a:defRPr/>
            </a:pPr>
            <a:r>
              <a:rPr lang="en-US" altLang="zh-CN" dirty="0"/>
              <a:t>Navy</a:t>
            </a:r>
            <a:r>
              <a:rPr lang="en-US" dirty="0"/>
              <a:t> </a:t>
            </a:r>
            <a:r>
              <a:rPr lang="en-US" dirty="0" err="1"/>
              <a:t>Makefile</a:t>
            </a:r>
            <a:r>
              <a:rPr lang="zh-CN" altLang="en-US" dirty="0"/>
              <a:t>调用链</a:t>
            </a:r>
            <a:endParaRPr dirty="0"/>
          </a:p>
        </p:txBody>
      </p:sp>
      <p:cxnSp>
        <p:nvCxn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751513A-FDDE-7BD7-84D6-0641A591DACF}"/>
              </a:ext>
            </a:extLst>
          </p:cNvPr>
          <p:cNvCxnSpPr/>
          <p:nvPr/>
        </p:nvCxnSpPr>
        <p:spPr bwMode="auto">
          <a:xfrm>
            <a:off x="481890" y="1354204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82ADE411-6923-77DA-9393-A241973AD4A3}"/>
              </a:ext>
            </a:extLst>
          </p:cNvPr>
          <p:cNvSpPr/>
          <p:nvPr/>
        </p:nvSpPr>
        <p:spPr>
          <a:xfrm>
            <a:off x="555457" y="3754540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60FC33C-1E99-F1DD-1764-459B07EA963D}"/>
              </a:ext>
            </a:extLst>
          </p:cNvPr>
          <p:cNvSpPr txBox="1"/>
          <p:nvPr/>
        </p:nvSpPr>
        <p:spPr>
          <a:xfrm>
            <a:off x="815515" y="3618109"/>
            <a:ext cx="2607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CC6600"/>
                </a:solidFill>
              </a:rPr>
              <a:t>install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BDA16B-524D-F80E-22D9-F00038577A4E}"/>
              </a:ext>
            </a:extLst>
          </p:cNvPr>
          <p:cNvSpPr/>
          <p:nvPr/>
        </p:nvSpPr>
        <p:spPr>
          <a:xfrm>
            <a:off x="551821" y="4448493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E6D2AD6-E746-80CE-F781-C712287AC3D2}"/>
              </a:ext>
            </a:extLst>
          </p:cNvPr>
          <p:cNvSpPr txBox="1"/>
          <p:nvPr/>
        </p:nvSpPr>
        <p:spPr>
          <a:xfrm>
            <a:off x="811878" y="4312062"/>
            <a:ext cx="2934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solidFill>
                  <a:srgbClr val="CC6600"/>
                </a:solidFill>
              </a:rPr>
              <a:t>fsimg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112C5FD-163A-84DA-CDC4-09449F1BC321}"/>
              </a:ext>
            </a:extLst>
          </p:cNvPr>
          <p:cNvSpPr txBox="1"/>
          <p:nvPr/>
        </p:nvSpPr>
        <p:spPr>
          <a:xfrm>
            <a:off x="778510" y="1409335"/>
            <a:ext cx="479235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dirty="0"/>
              <a:t>Navy</a:t>
            </a:r>
            <a:r>
              <a:rPr lang="zh-CN" altLang="en-US" dirty="0"/>
              <a:t>应用程序需指定</a:t>
            </a:r>
            <a:r>
              <a:rPr lang="en-US" altLang="zh-CN" dirty="0"/>
              <a:t>:</a:t>
            </a:r>
          </a:p>
          <a:p>
            <a:pPr marL="342900" indent="-342900">
              <a:lnSpc>
                <a:spcPct val="120000"/>
              </a:lnSpc>
              <a:buAutoNum type="arabicPeriod"/>
            </a:pPr>
            <a:r>
              <a:rPr lang="zh-CN" altLang="en-US" dirty="0"/>
              <a:t>程序源码</a:t>
            </a:r>
            <a:r>
              <a:rPr lang="en-US" altLang="zh-CN" dirty="0"/>
              <a:t>SRC</a:t>
            </a:r>
          </a:p>
          <a:p>
            <a:pPr marL="342900" indent="-342900">
              <a:lnSpc>
                <a:spcPct val="120000"/>
              </a:lnSpc>
              <a:buAutoNum type="arabicPeriod"/>
            </a:pPr>
            <a:r>
              <a:rPr lang="zh-CN" altLang="en-US" dirty="0"/>
              <a:t>源码所需的系统库</a:t>
            </a:r>
            <a:r>
              <a:rPr lang="en-US" altLang="zh-CN" dirty="0"/>
              <a:t>LIBS</a:t>
            </a:r>
          </a:p>
          <a:p>
            <a:pPr marL="342900" indent="-342900">
              <a:lnSpc>
                <a:spcPct val="120000"/>
              </a:lnSpc>
              <a:buAutoNum type="arabicPeriod"/>
            </a:pPr>
            <a:r>
              <a:rPr lang="zh-CN" altLang="en-US" dirty="0"/>
              <a:t>源码编译的</a:t>
            </a:r>
            <a:r>
              <a:rPr lang="en-US" altLang="zh-CN" dirty="0"/>
              <a:t>ISA</a:t>
            </a:r>
          </a:p>
          <a:p>
            <a:pPr>
              <a:lnSpc>
                <a:spcPct val="120000"/>
              </a:lnSpc>
            </a:pPr>
            <a:r>
              <a:rPr lang="en-US" altLang="zh-CN" dirty="0" err="1"/>
              <a:t>Makefile</a:t>
            </a:r>
            <a:r>
              <a:rPr lang="zh-CN" altLang="en-US" dirty="0"/>
              <a:t>即可将程序链接为</a:t>
            </a:r>
            <a:r>
              <a:rPr lang="en-US" altLang="zh-CN" dirty="0"/>
              <a:t>Nanos</a:t>
            </a:r>
            <a:r>
              <a:rPr lang="zh-CN" altLang="en-US" dirty="0"/>
              <a:t>可执行文件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7514462-772B-2AA4-ADE9-81B3F85C213C}"/>
              </a:ext>
            </a:extLst>
          </p:cNvPr>
          <p:cNvSpPr txBox="1"/>
          <p:nvPr/>
        </p:nvSpPr>
        <p:spPr>
          <a:xfrm>
            <a:off x="778510" y="3971740"/>
            <a:ext cx="4348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复制程序镜像到</a:t>
            </a:r>
            <a:r>
              <a:rPr lang="en-US" altLang="zh-CN" dirty="0"/>
              <a:t>navy/</a:t>
            </a:r>
            <a:r>
              <a:rPr lang="en-US" altLang="zh-CN" dirty="0" err="1"/>
              <a:t>fsimg</a:t>
            </a:r>
            <a:r>
              <a:rPr lang="zh-CN" altLang="en-US" dirty="0"/>
              <a:t>文件夹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494A15-855A-B26F-FADF-F7318F79630E}"/>
              </a:ext>
            </a:extLst>
          </p:cNvPr>
          <p:cNvSpPr txBox="1"/>
          <p:nvPr/>
        </p:nvSpPr>
        <p:spPr>
          <a:xfrm>
            <a:off x="774873" y="4746652"/>
            <a:ext cx="4348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安装全部</a:t>
            </a:r>
            <a:r>
              <a:rPr lang="en-US" altLang="zh-CN" dirty="0"/>
              <a:t>test</a:t>
            </a:r>
            <a:r>
              <a:rPr lang="zh-CN" altLang="en-US" dirty="0"/>
              <a:t>程序镜像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9DBC4428-D8EE-B911-E688-7B0FCCFA1A13}"/>
              </a:ext>
            </a:extLst>
          </p:cNvPr>
          <p:cNvSpPr/>
          <p:nvPr/>
        </p:nvSpPr>
        <p:spPr>
          <a:xfrm>
            <a:off x="481890" y="5298092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7EB0C8E-8625-330B-D88E-93777432819C}"/>
              </a:ext>
            </a:extLst>
          </p:cNvPr>
          <p:cNvSpPr txBox="1"/>
          <p:nvPr/>
        </p:nvSpPr>
        <p:spPr>
          <a:xfrm>
            <a:off x="741947" y="5161661"/>
            <a:ext cx="2934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solidFill>
                  <a:srgbClr val="CC6600"/>
                </a:solidFill>
              </a:rPr>
              <a:t>ramdisk</a:t>
            </a:r>
            <a:endParaRPr lang="zh-CN" altLang="en-US" dirty="0">
              <a:solidFill>
                <a:srgbClr val="CC6600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6DBCD1C-3DBA-C224-5ADD-BAD86203C505}"/>
              </a:ext>
            </a:extLst>
          </p:cNvPr>
          <p:cNvSpPr txBox="1"/>
          <p:nvPr/>
        </p:nvSpPr>
        <p:spPr>
          <a:xfrm>
            <a:off x="741947" y="5601077"/>
            <a:ext cx="4348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制作系统文件镜像，主要是</a:t>
            </a:r>
            <a:r>
              <a:rPr lang="en-US" altLang="zh-CN" dirty="0" err="1"/>
              <a:t>fsimg</a:t>
            </a:r>
            <a:r>
              <a:rPr lang="zh-CN" altLang="en-US" dirty="0"/>
              <a:t>内容格式化为</a:t>
            </a:r>
            <a:r>
              <a:rPr lang="en-US" altLang="zh-CN" dirty="0"/>
              <a:t>Nanos</a:t>
            </a:r>
            <a:r>
              <a:rPr lang="zh-CN" altLang="en-US" dirty="0"/>
              <a:t>文件系统能辨识的结构体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A7B46CB-15E7-9203-F534-5DDD2A3D8A26}"/>
              </a:ext>
            </a:extLst>
          </p:cNvPr>
          <p:cNvSpPr txBox="1"/>
          <p:nvPr/>
        </p:nvSpPr>
        <p:spPr>
          <a:xfrm>
            <a:off x="7655295" y="921836"/>
            <a:ext cx="2985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make ISA=isa install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875E28D-D316-C63D-9E98-5C6D0B4DEEE1}"/>
              </a:ext>
            </a:extLst>
          </p:cNvPr>
          <p:cNvSpPr txBox="1"/>
          <p:nvPr/>
        </p:nvSpPr>
        <p:spPr>
          <a:xfrm>
            <a:off x="6570805" y="2234366"/>
            <a:ext cx="2846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应用程序</a:t>
            </a:r>
            <a:r>
              <a:rPr lang="en-US" altLang="zh-CN" sz="1400" dirty="0"/>
              <a:t>SRC</a:t>
            </a:r>
            <a:r>
              <a:rPr lang="zh-CN" altLang="en-US" sz="1400" dirty="0"/>
              <a:t>编译为目标文件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DD42071-AD48-D812-0F12-A5D88A934C35}"/>
              </a:ext>
            </a:extLst>
          </p:cNvPr>
          <p:cNvSpPr txBox="1"/>
          <p:nvPr/>
        </p:nvSpPr>
        <p:spPr>
          <a:xfrm>
            <a:off x="7731207" y="3023493"/>
            <a:ext cx="23880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链接为目标</a:t>
            </a:r>
            <a:r>
              <a:rPr lang="en-US" altLang="zh-CN" sz="1400" dirty="0"/>
              <a:t>ISA</a:t>
            </a:r>
            <a:r>
              <a:rPr lang="zh-CN" altLang="en-US" sz="1400" dirty="0"/>
              <a:t>可执行文件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A6CEDF9-AE51-1F03-285A-77B734335C9E}"/>
              </a:ext>
            </a:extLst>
          </p:cNvPr>
          <p:cNvSpPr txBox="1"/>
          <p:nvPr/>
        </p:nvSpPr>
        <p:spPr>
          <a:xfrm>
            <a:off x="7723081" y="3797627"/>
            <a:ext cx="2388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可执行镜像复制到</a:t>
            </a:r>
            <a:r>
              <a:rPr lang="en-US" altLang="zh-CN" sz="1400" dirty="0" err="1"/>
              <a:t>fsimg</a:t>
            </a:r>
            <a:r>
              <a:rPr lang="zh-CN" altLang="en-US" sz="1400" dirty="0"/>
              <a:t>路径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C7A9A7C-DEB3-A539-348A-1AD9153D9B93}"/>
              </a:ext>
            </a:extLst>
          </p:cNvPr>
          <p:cNvSpPr txBox="1"/>
          <p:nvPr/>
        </p:nvSpPr>
        <p:spPr>
          <a:xfrm>
            <a:off x="7521242" y="4571669"/>
            <a:ext cx="27917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基于</a:t>
            </a:r>
            <a:r>
              <a:rPr lang="en-US" altLang="zh-CN" sz="1400" dirty="0" err="1"/>
              <a:t>fsimg</a:t>
            </a:r>
            <a:r>
              <a:rPr lang="zh-CN" altLang="en-US" sz="1400" dirty="0"/>
              <a:t>内容制作系统镜像文件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FC00346-EE56-6B3E-4AFC-3388896B2041}"/>
              </a:ext>
            </a:extLst>
          </p:cNvPr>
          <p:cNvSpPr txBox="1"/>
          <p:nvPr/>
        </p:nvSpPr>
        <p:spPr>
          <a:xfrm>
            <a:off x="7273590" y="5390232"/>
            <a:ext cx="38249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创建并更新</a:t>
            </a:r>
            <a:r>
              <a:rPr lang="en-US" altLang="zh-CN" sz="1400" dirty="0"/>
              <a:t>navy</a:t>
            </a:r>
            <a:r>
              <a:rPr lang="zh-CN" altLang="en-US" sz="1400" dirty="0"/>
              <a:t>系统调用、系统镜像的软链接</a:t>
            </a: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A5490238-9FD2-53F7-A74A-32C51A67B3F6}"/>
              </a:ext>
            </a:extLst>
          </p:cNvPr>
          <p:cNvCxnSpPr>
            <a:cxnSpLocks/>
          </p:cNvCxnSpPr>
          <p:nvPr/>
        </p:nvCxnSpPr>
        <p:spPr>
          <a:xfrm>
            <a:off x="8677931" y="1925357"/>
            <a:ext cx="0" cy="3090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9330537B-21E1-A794-A2C0-2061252FB5B1}"/>
              </a:ext>
            </a:extLst>
          </p:cNvPr>
          <p:cNvSpPr txBox="1"/>
          <p:nvPr/>
        </p:nvSpPr>
        <p:spPr>
          <a:xfrm>
            <a:off x="8905875" y="3452547"/>
            <a:ext cx="9567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Install</a:t>
            </a:r>
            <a:r>
              <a:rPr lang="zh-CN" altLang="en-US" sz="1200" dirty="0">
                <a:solidFill>
                  <a:srgbClr val="CC6600"/>
                </a:solidFill>
              </a:rPr>
              <a:t>命令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7372365-AAC8-8504-50B1-EC113BFC90A0}"/>
              </a:ext>
            </a:extLst>
          </p:cNvPr>
          <p:cNvSpPr txBox="1"/>
          <p:nvPr/>
        </p:nvSpPr>
        <p:spPr>
          <a:xfrm>
            <a:off x="9384266" y="1925357"/>
            <a:ext cx="8653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./</a:t>
            </a:r>
            <a:r>
              <a:rPr lang="en-US" altLang="zh-CN" sz="1200" dirty="0" err="1">
                <a:solidFill>
                  <a:srgbClr val="CC6600"/>
                </a:solidFill>
              </a:rPr>
              <a:t>Makefile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8DD0886-3026-162D-46F7-EB3A21EBC3E0}"/>
              </a:ext>
            </a:extLst>
          </p:cNvPr>
          <p:cNvCxnSpPr>
            <a:cxnSpLocks/>
          </p:cNvCxnSpPr>
          <p:nvPr/>
        </p:nvCxnSpPr>
        <p:spPr>
          <a:xfrm>
            <a:off x="8677931" y="3331270"/>
            <a:ext cx="0" cy="4680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705A3F5F-4960-BCD0-F383-B80355DF730D}"/>
              </a:ext>
            </a:extLst>
          </p:cNvPr>
          <p:cNvCxnSpPr>
            <a:cxnSpLocks/>
          </p:cNvCxnSpPr>
          <p:nvPr/>
        </p:nvCxnSpPr>
        <p:spPr>
          <a:xfrm>
            <a:off x="8636483" y="4105404"/>
            <a:ext cx="0" cy="446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AEE09D59-AE0B-912E-B2F5-BCFC7A798051}"/>
              </a:ext>
            </a:extLst>
          </p:cNvPr>
          <p:cNvCxnSpPr>
            <a:cxnSpLocks/>
          </p:cNvCxnSpPr>
          <p:nvPr/>
        </p:nvCxnSpPr>
        <p:spPr>
          <a:xfrm>
            <a:off x="8617726" y="4929866"/>
            <a:ext cx="0" cy="4389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F7C9A2B9-7F16-4A91-C5C7-8260CD87D2A1}"/>
              </a:ext>
            </a:extLst>
          </p:cNvPr>
          <p:cNvSpPr/>
          <p:nvPr/>
        </p:nvSpPr>
        <p:spPr>
          <a:xfrm>
            <a:off x="580287" y="1549211"/>
            <a:ext cx="109056" cy="964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C68F358-AEF8-7766-A9A1-E77295435803}"/>
              </a:ext>
            </a:extLst>
          </p:cNvPr>
          <p:cNvSpPr txBox="1"/>
          <p:nvPr/>
        </p:nvSpPr>
        <p:spPr>
          <a:xfrm>
            <a:off x="6850852" y="1580977"/>
            <a:ext cx="48573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根据应用程序所在的</a:t>
            </a:r>
            <a:r>
              <a:rPr lang="en-US" altLang="zh-CN" sz="1400" dirty="0" err="1"/>
              <a:t>Makefile</a:t>
            </a:r>
            <a:r>
              <a:rPr lang="zh-CN" altLang="en-US" sz="1400" dirty="0"/>
              <a:t>，确定</a:t>
            </a:r>
            <a:r>
              <a:rPr lang="en-US" altLang="zh-CN" sz="1400" dirty="0"/>
              <a:t>SRC</a:t>
            </a:r>
            <a:r>
              <a:rPr lang="zh-CN" altLang="en-US" sz="1400" dirty="0"/>
              <a:t>、</a:t>
            </a:r>
            <a:r>
              <a:rPr lang="en-US" altLang="zh-CN" sz="1400" dirty="0"/>
              <a:t>LIBS</a:t>
            </a:r>
            <a:r>
              <a:rPr lang="zh-CN" altLang="en-US" sz="1400" dirty="0"/>
              <a:t>、</a:t>
            </a:r>
            <a:r>
              <a:rPr lang="en-US" altLang="zh-CN" sz="1400" dirty="0"/>
              <a:t>ISA</a:t>
            </a:r>
            <a:endParaRPr lang="zh-CN" altLang="en-US" sz="1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FDABD98-F03B-B93F-239B-AB394AF15304}"/>
              </a:ext>
            </a:extLst>
          </p:cNvPr>
          <p:cNvSpPr txBox="1"/>
          <p:nvPr/>
        </p:nvSpPr>
        <p:spPr>
          <a:xfrm>
            <a:off x="10178997" y="2251760"/>
            <a:ext cx="179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LIBS</a:t>
            </a:r>
            <a:r>
              <a:rPr lang="zh-CN" altLang="en-US" sz="1400" dirty="0"/>
              <a:t>静态库文件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C58FA46E-F925-E199-E9E4-AA43CBDAFFAD}"/>
              </a:ext>
            </a:extLst>
          </p:cNvPr>
          <p:cNvSpPr txBox="1"/>
          <p:nvPr/>
        </p:nvSpPr>
        <p:spPr>
          <a:xfrm>
            <a:off x="7350489" y="6187356"/>
            <a:ext cx="38249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Nanos</a:t>
            </a:r>
            <a:r>
              <a:rPr lang="zh-CN" altLang="en-US" sz="1400" dirty="0"/>
              <a:t>系统内核载入并运行用户程序</a:t>
            </a: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5F5E2CAC-3F93-6942-C483-2F05179E7857}"/>
              </a:ext>
            </a:extLst>
          </p:cNvPr>
          <p:cNvCxnSpPr>
            <a:cxnSpLocks/>
          </p:cNvCxnSpPr>
          <p:nvPr/>
        </p:nvCxnSpPr>
        <p:spPr>
          <a:xfrm>
            <a:off x="10477849" y="1869018"/>
            <a:ext cx="0" cy="365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9D134EF0-6F7A-B4C7-7D78-3A479373D17A}"/>
              </a:ext>
            </a:extLst>
          </p:cNvPr>
          <p:cNvCxnSpPr>
            <a:cxnSpLocks/>
          </p:cNvCxnSpPr>
          <p:nvPr/>
        </p:nvCxnSpPr>
        <p:spPr>
          <a:xfrm>
            <a:off x="8253944" y="2575633"/>
            <a:ext cx="0" cy="4478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0606CC28-F1EF-A580-BDB5-241CCE5D3557}"/>
              </a:ext>
            </a:extLst>
          </p:cNvPr>
          <p:cNvCxnSpPr>
            <a:cxnSpLocks/>
          </p:cNvCxnSpPr>
          <p:nvPr/>
        </p:nvCxnSpPr>
        <p:spPr>
          <a:xfrm flipH="1">
            <a:off x="9836092" y="2589051"/>
            <a:ext cx="899146" cy="393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0DF7F99-E8E2-C108-04A3-B7966093D8D5}"/>
              </a:ext>
            </a:extLst>
          </p:cNvPr>
          <p:cNvSpPr txBox="1"/>
          <p:nvPr/>
        </p:nvSpPr>
        <p:spPr>
          <a:xfrm>
            <a:off x="8715313" y="2625217"/>
            <a:ext cx="8653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./</a:t>
            </a:r>
            <a:r>
              <a:rPr lang="en-US" altLang="zh-CN" sz="1200" dirty="0" err="1">
                <a:solidFill>
                  <a:srgbClr val="CC6600"/>
                </a:solidFill>
              </a:rPr>
              <a:t>Makefile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9A40C54-49DF-E3D1-7018-11BEB7E1ACF4}"/>
              </a:ext>
            </a:extLst>
          </p:cNvPr>
          <p:cNvSpPr txBox="1"/>
          <p:nvPr/>
        </p:nvSpPr>
        <p:spPr>
          <a:xfrm>
            <a:off x="8878583" y="4156406"/>
            <a:ext cx="10818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CC6600"/>
                </a:solidFill>
              </a:rPr>
              <a:t>ramdisk</a:t>
            </a:r>
            <a:r>
              <a:rPr lang="zh-CN" altLang="en-US" sz="1200" dirty="0">
                <a:solidFill>
                  <a:srgbClr val="CC6600"/>
                </a:solidFill>
              </a:rPr>
              <a:t>命令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D699EFCC-7DB6-F7C6-687B-B7D8AC906E53}"/>
              </a:ext>
            </a:extLst>
          </p:cNvPr>
          <p:cNvSpPr txBox="1"/>
          <p:nvPr/>
        </p:nvSpPr>
        <p:spPr>
          <a:xfrm>
            <a:off x="8712881" y="5010831"/>
            <a:ext cx="3130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nanos$ make ARCH=isa-platform update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2269C667-679A-3E53-0F0C-1205ADD61C11}"/>
              </a:ext>
            </a:extLst>
          </p:cNvPr>
          <p:cNvSpPr txBox="1"/>
          <p:nvPr/>
        </p:nvSpPr>
        <p:spPr>
          <a:xfrm>
            <a:off x="8715313" y="5841828"/>
            <a:ext cx="3130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CC6600"/>
                </a:solidFill>
              </a:rPr>
              <a:t>nanos$ make ARCH=isa-platform run</a:t>
            </a:r>
            <a:endParaRPr lang="zh-CN" altLang="en-US" sz="1200" dirty="0">
              <a:solidFill>
                <a:srgbClr val="CC6600"/>
              </a:solidFill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08E1EC36-9668-F264-821B-8ED30B54A787}"/>
              </a:ext>
            </a:extLst>
          </p:cNvPr>
          <p:cNvCxnSpPr>
            <a:cxnSpLocks/>
          </p:cNvCxnSpPr>
          <p:nvPr/>
        </p:nvCxnSpPr>
        <p:spPr>
          <a:xfrm>
            <a:off x="8617726" y="5698009"/>
            <a:ext cx="0" cy="4389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CD3040DC-F625-F33E-1A75-FB02C47F96AB}"/>
              </a:ext>
            </a:extLst>
          </p:cNvPr>
          <p:cNvCxnSpPr>
            <a:cxnSpLocks/>
          </p:cNvCxnSpPr>
          <p:nvPr/>
        </p:nvCxnSpPr>
        <p:spPr>
          <a:xfrm>
            <a:off x="8677931" y="1226388"/>
            <a:ext cx="0" cy="371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BB545C-AB0D-D215-6841-5CAE496F0928}"/>
              </a:ext>
            </a:extLst>
          </p:cNvPr>
          <p:cNvSpPr txBox="1"/>
          <p:nvPr/>
        </p:nvSpPr>
        <p:spPr>
          <a:xfrm>
            <a:off x="389255" y="3167597"/>
            <a:ext cx="60966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navy/</a:t>
            </a:r>
            <a:r>
              <a:rPr lang="en-US" altLang="zh-CN" dirty="0" err="1"/>
              <a:t>Makefile</a:t>
            </a:r>
            <a:r>
              <a:rPr lang="zh-CN" altLang="en-US" dirty="0"/>
              <a:t>有以下关键命令</a:t>
            </a:r>
            <a:r>
              <a:rPr lang="en-US" altLang="zh-CN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786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3" grpId="0"/>
      <p:bldP spid="38" grpId="0"/>
      <p:bldP spid="45" grpId="0"/>
      <p:bldP spid="46" grpId="0"/>
      <p:bldP spid="49" grpId="0"/>
      <p:bldP spid="54" grpId="0"/>
      <p:bldP spid="56" grpId="0"/>
      <p:bldP spid="43" grpId="0"/>
      <p:bldP spid="44" grpId="0"/>
      <p:bldP spid="48" grpId="0"/>
      <p:bldP spid="65" grpId="0"/>
      <p:bldP spid="66" grpId="0"/>
      <p:bldP spid="67" grpId="0"/>
      <p:bldP spid="6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E9BBF55-558C-B2B2-D37A-25AFDCCCCC0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E408062-CE01-086E-4F96-96F8E0B14001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4A0A541-5B37-CB36-D578-991780091A28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3B0429C-03D0-4212-DF8F-9996DF4879C7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考核题目讲解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A93F234-C3A9-929F-FC95-F298ABEA06FE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8ED270A-F75B-FB9B-9B17-60E8A0AB4558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91DF605-96FB-D237-85CF-C21976DCC004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8" name="图片 3">
            <a:extLst>
              <a:ext uri="{FF2B5EF4-FFF2-40B4-BE49-F238E27FC236}">
                <a16:creationId xmlns:a16="http://schemas.microsoft.com/office/drawing/2014/main" id="{3CDEC1AA-0E0C-C9BA-6CA7-07D156B555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B2B8F27-B789-E275-6FC3-D20EA1B5D1A3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4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NPC</a:t>
            </a:r>
            <a:r>
              <a:rPr lang="zh-CN" altLang="en-US" sz="24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架构</a:t>
            </a:r>
            <a:endParaRPr lang="en-US" sz="24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sp>
        <p:nvSpPr>
          <p:cNvPr id="1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0087E65-FC01-9251-BCA5-1FD3ACDCCFB5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1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241B849-AD35-E232-9EE2-9972D971AF83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2E16805-079D-10D8-855B-E1893E1BD0E7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2C08D4B-1B72-0625-8460-2CF49257A9F9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标题 2">
            <a:extLst>
              <a:ext uri="{FF2B5EF4-FFF2-40B4-BE49-F238E27FC236}">
                <a16:creationId xmlns:a16="http://schemas.microsoft.com/office/drawing/2014/main" id="{B79699C3-B188-B712-67DC-B5DDD20A5175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43230" y="873125"/>
            <a:ext cx="5554980" cy="403225"/>
          </a:xfrm>
        </p:spPr>
        <p:txBody>
          <a:bodyPr wrap="square"/>
          <a:lstStyle/>
          <a:p>
            <a:pPr>
              <a:defRPr/>
            </a:pPr>
            <a:r>
              <a:rPr lang="en-US" altLang="zh-CN" dirty="0"/>
              <a:t>NPC</a:t>
            </a:r>
            <a:r>
              <a:rPr lang="zh-CN" altLang="en-US" dirty="0"/>
              <a:t>结构图</a:t>
            </a:r>
            <a:endParaRPr dirty="0"/>
          </a:p>
        </p:txBody>
      </p:sp>
      <p:cxnSp>
        <p:nvCxnSpPr>
          <p:cNvPr id="1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7EC0B5D-F233-181E-1586-E74132CA5083}"/>
              </a:ext>
            </a:extLst>
          </p:cNvPr>
          <p:cNvCxnSpPr/>
          <p:nvPr/>
        </p:nvCxnSpPr>
        <p:spPr bwMode="auto">
          <a:xfrm>
            <a:off x="481890" y="1354204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>
            <a:extLst>
              <a:ext uri="{FF2B5EF4-FFF2-40B4-BE49-F238E27FC236}">
                <a16:creationId xmlns:a16="http://schemas.microsoft.com/office/drawing/2014/main" id="{9C82EE64-E103-FC2F-47C7-2BD638D81A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624" y="1583866"/>
            <a:ext cx="6275134" cy="4853424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4723FB05-3E66-C059-BA7B-26ED0D194774}"/>
              </a:ext>
            </a:extLst>
          </p:cNvPr>
          <p:cNvSpPr txBox="1"/>
          <p:nvPr/>
        </p:nvSpPr>
        <p:spPr>
          <a:xfrm>
            <a:off x="8000151" y="2052034"/>
            <a:ext cx="3460124" cy="1704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基于该架构图的微调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1. </a:t>
            </a:r>
            <a:r>
              <a:rPr lang="zh-CN" altLang="en-US" dirty="0"/>
              <a:t>支持</a:t>
            </a:r>
            <a:r>
              <a:rPr lang="en-US" altLang="zh-CN" dirty="0"/>
              <a:t>CSR</a:t>
            </a:r>
            <a:r>
              <a:rPr lang="zh-CN" altLang="en-US" dirty="0"/>
              <a:t>寄存器堆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2. </a:t>
            </a:r>
            <a:r>
              <a:rPr lang="zh-CN" altLang="en-US" dirty="0"/>
              <a:t>更多的</a:t>
            </a:r>
            <a:r>
              <a:rPr lang="en-US" altLang="zh-CN" dirty="0"/>
              <a:t>PC</a:t>
            </a:r>
            <a:r>
              <a:rPr lang="zh-CN" altLang="en-US" dirty="0"/>
              <a:t>数据来源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3. </a:t>
            </a:r>
            <a:r>
              <a:rPr lang="zh-CN" altLang="en-US" dirty="0"/>
              <a:t>跳转地址的计算复用了</a:t>
            </a:r>
            <a:r>
              <a:rPr lang="en-US" altLang="zh-CN" dirty="0"/>
              <a:t>ALU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5ADF8AF-FBEF-2327-C351-470D7A025610}"/>
              </a:ext>
            </a:extLst>
          </p:cNvPr>
          <p:cNvSpPr txBox="1"/>
          <p:nvPr/>
        </p:nvSpPr>
        <p:spPr>
          <a:xfrm>
            <a:off x="7955593" y="4153219"/>
            <a:ext cx="3460124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架构解决两个关键问题：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1. </a:t>
            </a:r>
            <a:r>
              <a:rPr lang="zh-CN" altLang="en-US" dirty="0"/>
              <a:t>数据流向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2. </a:t>
            </a:r>
            <a:r>
              <a:rPr lang="zh-CN" altLang="en-US" dirty="0"/>
              <a:t>控制效果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7166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5EBDEBE-E52A-8EB6-26EB-3238DC4481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35BA6EF-2BDE-2E9C-6BC4-172A40AEE19D}"/>
              </a:ext>
            </a:extLst>
          </p:cNvPr>
          <p:cNvSpPr/>
          <p:nvPr/>
        </p:nvSpPr>
        <p:spPr bwMode="auto"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>
              <a:buClrTx/>
              <a:buSzTx/>
              <a:buFontTx/>
              <a:defRPr/>
            </a:pPr>
            <a:r>
              <a:rPr 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       </a:t>
            </a:r>
            <a:r>
              <a:rPr lang="en-US" altLang="zh-CN" sz="2400" b="1" dirty="0">
                <a:ln>
                  <a:noFill/>
                </a:ln>
                <a:solidFill>
                  <a:schemeClr val="bg1"/>
                </a:solidFill>
                <a:cs typeface="+mn-ea"/>
              </a:rPr>
              <a:t>	</a:t>
            </a:r>
            <a:endParaRPr lang="zh-CN" sz="2400" b="1" dirty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FB38824-4190-2A1F-5C74-D6C95A2AD729}"/>
              </a:ext>
            </a:extLst>
          </p:cNvPr>
          <p:cNvSpPr txBox="1"/>
          <p:nvPr/>
        </p:nvSpPr>
        <p:spPr bwMode="auto"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endParaRPr lang="en-US" sz="2400" b="1" i="0" u="none" strike="noStrike" cap="none" spc="0">
              <a:ln>
                <a:noFill/>
              </a:ln>
              <a:solidFill>
                <a:schemeClr val="bg1"/>
              </a:solidFill>
              <a:cs typeface="+mn-ea"/>
            </a:endParaRPr>
          </a:p>
        </p:txBody>
      </p:sp>
      <p:sp>
        <p:nvSpPr>
          <p:cNvPr id="4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FA74423-BA7D-649E-486F-3A8CFAFD5F06}"/>
              </a:ext>
            </a:extLst>
          </p:cNvPr>
          <p:cNvSpPr txBox="1"/>
          <p:nvPr/>
        </p:nvSpPr>
        <p:spPr bwMode="auto"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sz="2400" b="1" i="0" u="none" strike="noStrike" cap="none" spc="0" dirty="0">
                <a:ln>
                  <a:noFill/>
                </a:ln>
                <a:solidFill>
                  <a:srgbClr val="00B050">
                    <a:alpha val="70000"/>
                  </a:srgbClr>
                </a:solidFill>
                <a:cs typeface="+mn-ea"/>
              </a:rPr>
              <a:t>考核题目讲解</a:t>
            </a:r>
            <a:endParaRPr lang="en-US" sz="2400" b="1" i="0" u="none" strike="noStrike" cap="none" spc="0" dirty="0">
              <a:ln>
                <a:noFill/>
              </a:ln>
              <a:solidFill>
                <a:srgbClr val="00B050">
                  <a:alpha val="70000"/>
                </a:srgbClr>
              </a:solidFill>
              <a:cs typeface="+mn-ea"/>
            </a:endParaRPr>
          </a:p>
        </p:txBody>
      </p:sp>
      <p:cxnSp>
        <p:nvCxnSpPr>
          <p:cNvPr id="5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E29821C-167D-9D81-4A4E-8E393D4DA3CA}"/>
              </a:ext>
            </a:extLst>
          </p:cNvPr>
          <p:cNvCxnSpPr/>
          <p:nvPr/>
        </p:nvCxnSpPr>
        <p:spPr bwMode="auto"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ED0B0E9-FBDC-E718-8247-8804A962E270}"/>
              </a:ext>
            </a:extLst>
          </p:cNvPr>
          <p:cNvCxnSpPr/>
          <p:nvPr/>
        </p:nvCxnSpPr>
        <p:spPr bwMode="auto"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30802C1-DA5E-6741-CCCA-DE6AFEFD6BEA}"/>
              </a:ext>
            </a:extLst>
          </p:cNvPr>
          <p:cNvSpPr txBox="1"/>
          <p:nvPr/>
        </p:nvSpPr>
        <p:spPr bwMode="auto"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  <a:defRPr/>
            </a:pPr>
            <a:r>
              <a:rPr lang="zh-CN" altLang="en-US" sz="200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后记总结</a:t>
            </a:r>
            <a:endParaRPr lang="zh-CN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pic>
        <p:nvPicPr>
          <p:cNvPr id="8" name="图片 3">
            <a:extLst>
              <a:ext uri="{FF2B5EF4-FFF2-40B4-BE49-F238E27FC236}">
                <a16:creationId xmlns:a16="http://schemas.microsoft.com/office/drawing/2014/main" id="{12976FFA-E243-7064-26F8-033D27EFCF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020947F-569D-90A7-D97E-DE95149D2DBD}"/>
              </a:ext>
            </a:extLst>
          </p:cNvPr>
          <p:cNvSpPr txBox="1"/>
          <p:nvPr/>
        </p:nvSpPr>
        <p:spPr bwMode="auto">
          <a:xfrm>
            <a:off x="5226415" y="4277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NPC</a:t>
            </a: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1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561B430-B253-25B9-B3A6-6451EDF103A0}"/>
              </a:ext>
            </a:extLst>
          </p:cNvPr>
          <p:cNvSpPr txBox="1"/>
          <p:nvPr/>
        </p:nvSpPr>
        <p:spPr bwMode="auto">
          <a:xfrm>
            <a:off x="2949020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sz="2000" dirty="0" err="1">
                <a:solidFill>
                  <a:schemeClr val="bg1">
                    <a:alpha val="70000"/>
                  </a:schemeClr>
                </a:solidFill>
                <a:cs typeface="+mn-ea"/>
              </a:rPr>
              <a:t>Makefile</a:t>
            </a:r>
            <a:r>
              <a:rPr lang="zh-CN" altLang="en-US" sz="2000" dirty="0">
                <a:solidFill>
                  <a:schemeClr val="bg1">
                    <a:alpha val="70000"/>
                  </a:schemeClr>
                </a:solidFill>
                <a:cs typeface="+mn-ea"/>
              </a:rPr>
              <a:t>调用链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sp>
        <p:nvSpPr>
          <p:cNvPr id="1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EA44028-2D95-56F3-ED23-D4486200090D}"/>
              </a:ext>
            </a:extLst>
          </p:cNvPr>
          <p:cNvSpPr txBox="1"/>
          <p:nvPr/>
        </p:nvSpPr>
        <p:spPr bwMode="auto">
          <a:xfrm>
            <a:off x="671624" y="30016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zh-CN" altLang="en-US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架构</a:t>
            </a:r>
            <a:r>
              <a:rPr lang="zh-CN" sz="2000" i="0" u="none" strike="noStrike" cap="none" spc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cs typeface="+mn-ea"/>
              </a:rPr>
              <a:t>讲解</a:t>
            </a:r>
            <a:endParaRPr lang="en-US" sz="2000" i="0" u="none" strike="noStrike" cap="none" spc="0" dirty="0">
              <a:ln>
                <a:noFill/>
              </a:ln>
              <a:solidFill>
                <a:schemeClr val="bg1">
                  <a:alpha val="70000"/>
                </a:schemeClr>
              </a:solidFill>
              <a:cs typeface="+mn-ea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31F59F1-4ACD-9660-B00F-3594A16C76B9}"/>
              </a:ext>
            </a:extLst>
          </p:cNvPr>
          <p:cNvCxnSpPr>
            <a:cxnSpLocks/>
          </p:cNvCxnSpPr>
          <p:nvPr/>
        </p:nvCxnSpPr>
        <p:spPr bwMode="auto">
          <a:xfrm>
            <a:off x="5522084" y="135519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6486376-2ECC-2D9C-9C11-90E01E28A437}"/>
              </a:ext>
            </a:extLst>
          </p:cNvPr>
          <p:cNvCxnSpPr>
            <a:cxnSpLocks/>
          </p:cNvCxnSpPr>
          <p:nvPr/>
        </p:nvCxnSpPr>
        <p:spPr bwMode="auto">
          <a:xfrm>
            <a:off x="3033875" y="122300"/>
            <a:ext cx="0" cy="448593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7463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574894" name="powerpoint template design by DAJU_PPT正版来源小红书大橘PPT微信DAJU_PPT请勿抄袭搬运！盗版必究！"/>
          <p:cNvSpPr txBox="1"/>
          <p:nvPr/>
        </p:nvSpPr>
        <p:spPr bwMode="auto">
          <a:xfrm>
            <a:off x="2407920" y="6249873"/>
            <a:ext cx="737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400">
                <a:solidFill>
                  <a:schemeClr val="bg1"/>
                </a:solidFill>
                <a:cs typeface="+mn-ea"/>
              </a:rPr>
              <a:t>——</a:t>
            </a:r>
            <a:r>
              <a:rPr lang="en-US" sz="1400" spc="300">
                <a:solidFill>
                  <a:schemeClr val="bg1"/>
                </a:solidFill>
                <a:cs typeface="+mn-ea"/>
              </a:rPr>
              <a:t> </a:t>
            </a:r>
            <a:r>
              <a:rPr lang="zh-CN" sz="1400" spc="300">
                <a:solidFill>
                  <a:schemeClr val="bg1"/>
                </a:solidFill>
                <a:cs typeface="+mn-ea"/>
              </a:rPr>
              <a:t>艰苦朴素 </a:t>
            </a:r>
            <a:r>
              <a:rPr lang="en-US" sz="1400" spc="300">
                <a:solidFill>
                  <a:schemeClr val="bg1"/>
                </a:solidFill>
                <a:cs typeface="+mn-ea"/>
              </a:rPr>
              <a:t>· </a:t>
            </a:r>
            <a:r>
              <a:rPr lang="zh-CN" sz="1400" spc="300">
                <a:solidFill>
                  <a:schemeClr val="bg1"/>
                </a:solidFill>
                <a:cs typeface="+mn-ea"/>
              </a:rPr>
              <a:t>实事求是 </a:t>
            </a:r>
            <a:r>
              <a:rPr lang="en-US" sz="1400" spc="300">
                <a:solidFill>
                  <a:schemeClr val="bg1"/>
                </a:solidFill>
                <a:cs typeface="+mn-ea"/>
              </a:rPr>
              <a:t>· </a:t>
            </a:r>
            <a:r>
              <a:rPr lang="zh-CN" sz="1400" spc="300">
                <a:solidFill>
                  <a:schemeClr val="bg1"/>
                </a:solidFill>
                <a:cs typeface="+mn-ea"/>
              </a:rPr>
              <a:t>严格要求 </a:t>
            </a:r>
            <a:r>
              <a:rPr lang="en-US" sz="1400" spc="300">
                <a:solidFill>
                  <a:schemeClr val="bg1"/>
                </a:solidFill>
                <a:cs typeface="+mn-ea"/>
              </a:rPr>
              <a:t>· </a:t>
            </a:r>
            <a:r>
              <a:rPr lang="zh-CN" sz="1400" spc="300">
                <a:solidFill>
                  <a:schemeClr val="bg1"/>
                </a:solidFill>
                <a:cs typeface="+mn-ea"/>
              </a:rPr>
              <a:t>勇于探索 </a:t>
            </a:r>
            <a:r>
              <a:rPr lang="en-US" sz="1400" spc="-150">
                <a:solidFill>
                  <a:schemeClr val="bg1"/>
                </a:solidFill>
                <a:cs typeface="+mn-ea"/>
              </a:rPr>
              <a:t>——</a:t>
            </a:r>
          </a:p>
        </p:txBody>
      </p:sp>
      <p:sp>
        <p:nvSpPr>
          <p:cNvPr id="1282037202" name="powerpoint template design by DAJU_PPT正版来源小红书大橘PPT微信DAJU_PPT请勿抄袭搬运！盗版必究！"/>
          <p:cNvSpPr/>
          <p:nvPr/>
        </p:nvSpPr>
        <p:spPr bwMode="auto">
          <a:xfrm>
            <a:off x="351099" y="312517"/>
            <a:ext cx="11489802" cy="6302416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1233587041" name="powerpoint template design by DAJU_PPT正版来源小红书大橘PPT微信DAJU_PPT请勿抄袭搬运！盗版必究！"/>
          <p:cNvSpPr/>
          <p:nvPr/>
        </p:nvSpPr>
        <p:spPr bwMode="auto">
          <a:xfrm>
            <a:off x="-41910" y="5842000"/>
            <a:ext cx="12192000" cy="1016000"/>
          </a:xfrm>
          <a:custGeom>
            <a:avLst/>
            <a:gdLst>
              <a:gd name="connsiteX0" fmla="*/ 6096000 w 12192000"/>
              <a:gd name="connsiteY0" fmla="*/ 0 h 1016000"/>
              <a:gd name="connsiteX1" fmla="*/ 11872101 w 12192000"/>
              <a:gd name="connsiteY1" fmla="*/ 363047 h 1016000"/>
              <a:gd name="connsiteX2" fmla="*/ 12192000 w 12192000"/>
              <a:gd name="connsiteY2" fmla="*/ 416457 h 1016000"/>
              <a:gd name="connsiteX3" fmla="*/ 12192000 w 12192000"/>
              <a:gd name="connsiteY3" fmla="*/ 1016000 h 1016000"/>
              <a:gd name="connsiteX4" fmla="*/ 0 w 12192000"/>
              <a:gd name="connsiteY4" fmla="*/ 1016000 h 1016000"/>
              <a:gd name="connsiteX5" fmla="*/ 0 w 12192000"/>
              <a:gd name="connsiteY5" fmla="*/ 416457 h 1016000"/>
              <a:gd name="connsiteX6" fmla="*/ 319900 w 12192000"/>
              <a:gd name="connsiteY6" fmla="*/ 363047 h 1016000"/>
              <a:gd name="connsiteX7" fmla="*/ 6096000 w 12192000"/>
              <a:gd name="connsiteY7" fmla="*/ 0 h 10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016000" extrusionOk="0">
                <a:moveTo>
                  <a:pt x="6096000" y="0"/>
                </a:moveTo>
                <a:cubicBezTo>
                  <a:pt x="8351708" y="0"/>
                  <a:pt x="10393868" y="138738"/>
                  <a:pt x="11872101" y="363047"/>
                </a:cubicBezTo>
                <a:lnTo>
                  <a:pt x="12192000" y="416457"/>
                </a:lnTo>
                <a:lnTo>
                  <a:pt x="12192000" y="1016000"/>
                </a:lnTo>
                <a:lnTo>
                  <a:pt x="0" y="1016000"/>
                </a:lnTo>
                <a:lnTo>
                  <a:pt x="0" y="416457"/>
                </a:lnTo>
                <a:lnTo>
                  <a:pt x="319900" y="363047"/>
                </a:lnTo>
                <a:cubicBezTo>
                  <a:pt x="1798133" y="138738"/>
                  <a:pt x="3840293" y="0"/>
                  <a:pt x="6096000" y="0"/>
                </a:cubicBez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860809371" name="文本框 5"/>
          <p:cNvSpPr txBox="1"/>
          <p:nvPr/>
        </p:nvSpPr>
        <p:spPr bwMode="auto">
          <a:xfrm>
            <a:off x="2656839" y="2985134"/>
            <a:ext cx="6279588" cy="701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zh-CN" sz="4000" b="1">
                <a:latin typeface="华文中宋"/>
                <a:ea typeface="华文中宋"/>
              </a:rPr>
              <a:t>请各位助教老师批评指正！</a:t>
            </a:r>
          </a:p>
        </p:txBody>
      </p:sp>
      <p:pic>
        <p:nvPicPr>
          <p:cNvPr id="205213128" name="图片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51155" y="312420"/>
            <a:ext cx="2211705" cy="2042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:fade/>
      </p:transition>
    </mc:Choice>
    <mc:Fallback xmlns="" xmlns:m="http://schemas.openxmlformats.org/officeDocument/2006/math" xmlns:w="http://schemas.openxmlformats.org/wordprocessingml/2006/main">
      <p:transition spd="fast" advClick="1">
        <p:fade thruBlk="0"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0A38D99343DA5F769C2679E8F851931509C4489D9F4EB0211B040F7754FAED5E" val="[{&quot;GradientColorId&quot;:&quot;&quot;,&quot;IsFree&quot;:true,&quot;IsGradient&quot;:false,&quot;ImagePath&quot;:&quot;&quot;,&quot;GradientColor&quot;:null,&quot;SimpleColor&quot;:&quot;#FFFF00&quot;}]"/>
</p:tagLst>
</file>

<file path=ppt/theme/theme1.xml><?xml version="1.0" encoding="utf-8"?>
<a:theme xmlns:a="http://schemas.openxmlformats.org/drawingml/2006/main" name="Office Theme">
  <a:themeElements>
    <a:clrScheme name="00深蓝+金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22E66"/>
      </a:accent1>
      <a:accent2>
        <a:srgbClr val="D0B296"/>
      </a:accent2>
      <a:accent3>
        <a:srgbClr val="122E66"/>
      </a:accent3>
      <a:accent4>
        <a:srgbClr val="D0B296"/>
      </a:accent4>
      <a:accent5>
        <a:srgbClr val="122E66"/>
      </a:accent5>
      <a:accent6>
        <a:srgbClr val="D0B296"/>
      </a:accent6>
      <a:hlink>
        <a:srgbClr val="DF213B"/>
      </a:hlink>
      <a:folHlink>
        <a:srgbClr val="954F72"/>
      </a:folHlink>
    </a:clrScheme>
    <a:fontScheme name="mmhun255">
      <a:majorFont>
        <a:latin typeface="Arial"/>
        <a:ea typeface="微软雅黑"/>
        <a:cs typeface="Arial"/>
      </a:majorFont>
      <a:minorFont>
        <a:latin typeface="Arial"/>
        <a:ea typeface="微软雅黑"/>
        <a:cs typeface="Arial"/>
      </a:minorFont>
    </a:fontScheme>
    <a:fmtScheme name="Office 主题​​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00B050"/>
        </a:solidFill>
      </a:spPr>
      <a:bodyPr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2858</TotalTime>
  <Words>2039</Words>
  <Application>Microsoft Office PowerPoint</Application>
  <PresentationFormat>宽屏</PresentationFormat>
  <Paragraphs>508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2" baseType="lpstr">
      <vt:lpstr>华文中宋</vt:lpstr>
      <vt:lpstr>微软雅黑</vt:lpstr>
      <vt:lpstr>Arial</vt:lpstr>
      <vt:lpstr>Office Theme</vt:lpstr>
      <vt:lpstr>PowerPoint 演示文稿</vt:lpstr>
      <vt:lpstr>1. ysyx软硬件架构总览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AM Makefile调用链</vt:lpstr>
      <vt:lpstr>NEMU Makefile调用链</vt:lpstr>
      <vt:lpstr>Navy Makefile调用链</vt:lpstr>
      <vt:lpstr>NPC结构图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2314981968@qq.com</dc:creator>
  <cp:lastModifiedBy>wenjie Lee</cp:lastModifiedBy>
  <cp:revision>9</cp:revision>
  <dcterms:created xsi:type="dcterms:W3CDTF">2024-07-21T02:26:42Z</dcterms:created>
  <dcterms:modified xsi:type="dcterms:W3CDTF">2026-05-08T06:48:24Z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